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Montserrat Bold" charset="1" panose="00000800000000000000"/>
      <p:regular r:id="rId21"/>
    </p:embeddedFont>
    <p:embeddedFont>
      <p:font typeface="Montserrat" charset="1" panose="00000500000000000000"/>
      <p:regular r:id="rId22"/>
    </p:embeddedFont>
    <p:embeddedFont>
      <p:font typeface="Public Sans" charset="1" panose="0000000000000000000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notesMasters/notesMaster1.xml" Type="http://schemas.openxmlformats.org/officeDocument/2006/relationships/notesMaster"/><Relationship Id="rId24" Target="theme/theme2.xml" Type="http://schemas.openxmlformats.org/officeDocument/2006/relationships/theme"/><Relationship Id="rId25" Target="notesSlides/notesSlide1.xml" Type="http://schemas.openxmlformats.org/officeDocument/2006/relationships/notesSlide"/><Relationship Id="rId26" Target="notesSlides/notesSlide2.xml" Type="http://schemas.openxmlformats.org/officeDocument/2006/relationships/notesSlide"/><Relationship Id="rId27" Target="notesSlides/notesSlide3.xml" Type="http://schemas.openxmlformats.org/officeDocument/2006/relationships/notesSlide"/><Relationship Id="rId28" Target="notesSlides/notesSlide4.xml" Type="http://schemas.openxmlformats.org/officeDocument/2006/relationships/notesSlide"/><Relationship Id="rId29" Target="notesSlides/notesSlide5.xml" Type="http://schemas.openxmlformats.org/officeDocument/2006/relationships/notesSlide"/><Relationship Id="rId3" Target="viewProps.xml" Type="http://schemas.openxmlformats.org/officeDocument/2006/relationships/viewProps"/><Relationship Id="rId30" Target="notesSlides/notesSlide6.xml" Type="http://schemas.openxmlformats.org/officeDocument/2006/relationships/notesSlide"/><Relationship Id="rId31" Target="fonts/font31.fntdata" Type="http://schemas.openxmlformats.org/officeDocument/2006/relationships/font"/><Relationship Id="rId32" Target="notesSlides/notesSlide7.xml" Type="http://schemas.openxmlformats.org/officeDocument/2006/relationships/notesSlide"/><Relationship Id="rId33" Target="notesSlides/notesSlide8.xml" Type="http://schemas.openxmlformats.org/officeDocument/2006/relationships/notesSlide"/><Relationship Id="rId34" Target="notesSlides/notesSlide9.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first project I worked on is titled Vic Extinct. I was supervised by Damien in collaboration with our external collaborator Lynette. This collaboration aims to model extinction and decline in Victoria’s marine biodiversity under human pressures. </a:t>
            </a:r>
          </a:p>
          <a:p>
            <a:r>
              <a:rPr lang="en-US"/>
              <a:t/>
            </a:r>
          </a:p>
          <a:p>
            <a:r>
              <a:rPr lang="en-US"/>
              <a:t>The context of the project is that marine biodiversity is known to be changing rapidly, but there is no integrated dataset to indicate which species occurs and their location along the coast. This makes it hard to quantify species change, anticipate future declines, and prioritise conservation efforts. </a:t>
            </a:r>
          </a:p>
          <a:p>
            <a:r>
              <a:rPr lang="en-US"/>
              <a:t/>
            </a:r>
          </a:p>
          <a:p>
            <a:r>
              <a:rPr lang="en-US"/>
              <a:t>The challenge is that biodiversity records are scattered across many repositories with different formats and detail, making them technically difficult to extract and combine at scale. This fragmentation creates a critical bottleneck, preventing the creation of an accessible, standardised dataset needed for extinction modelling. </a:t>
            </a:r>
          </a:p>
          <a:p>
            <a:r>
              <a:rPr lang="en-US"/>
              <a:t/>
            </a:r>
          </a:p>
          <a:p>
            <a:r>
              <a:rPr lang="en-US"/>
              <a:t>The project aims to model marine species extinctions along Victoria’s coasts, identifying what has been lost, which species are most at risk, and where to prioritise conservation efforts. MDAP’s role is to consolidate relevant records into a unified dataset suitable for extinction modelling. </a:t>
            </a:r>
          </a:p>
          <a:p>
            <a:r>
              <a:rPr lang="en-US"/>
              <a:t/>
            </a:r>
          </a:p>
          <a:p>
            <a:r>
              <a:rPr lang="en-US"/>
              <a:t>The solution was to build an automated and reproducible workflow to extract, standardise, clean, and integrate occurrence records into analysis-ready dataset for extinction modelling.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this is a snippet of what the final output of the solution workflow produces. It is an occurrence matrix of different species over time. Each square in the matrix represents if a particular species was observed in that year, with blue representing it was observed and white representing a lack of an observation. This information can then help to inform which species to be further investigated for extinction.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now taking a closer look into the workflow steps. The whole workflow was built with Snakemake which is workflow manager tool. It works based on what are called snake files which specifies rules defined by aspects such as a step’s inputs, outputs and command to run. Snakemake then automatically figures out the order of execution and runs the workflow. </a:t>
            </a:r>
          </a:p>
          <a:p>
            <a:r>
              <a:rPr lang="en-US"/>
              <a:t/>
            </a:r>
          </a:p>
          <a:p>
            <a:r>
              <a:rPr lang="en-US"/>
              <a:t>Now focussing on the figure on the left, the workflow starts from data acquisition from various biodiversity repositories such as Atlas of Living Australia (ALA). The extracted data is then prepped into a standardised table with a common column set of interest which include species, latitude, longitude and year. </a:t>
            </a:r>
          </a:p>
          <a:p>
            <a:r>
              <a:rPr lang="en-US"/>
              <a:t/>
            </a:r>
          </a:p>
          <a:p>
            <a:r>
              <a:rPr lang="en-US"/>
              <a:t>After the data is prepped, it goes through a series of common downstream steps including normalising taxonomic names, filtering for coastal distance.  </a:t>
            </a:r>
          </a:p>
          <a:p>
            <a:r>
              <a:rPr lang="en-US"/>
              <a:t/>
            </a:r>
          </a:p>
          <a:p>
            <a:r>
              <a:rPr lang="en-US"/>
              <a:t>The data from each source is then transformed into a source matrix before they are aggregated into an occurrence matrix.  </a:t>
            </a:r>
          </a:p>
          <a:p>
            <a:r>
              <a:rPr lang="en-US"/>
              <a:t/>
            </a:r>
          </a:p>
          <a:p>
            <a:r>
              <a:rPr lang="en-US"/>
              <a:t>My scope revolved around incorporating data from two sources OBIS and GBIF as shown in the green box.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One of the sources I worked on acquiring data from is the Ocean Biogeographic Information System (OBIS) which is a marine-focused database that may capture additional marine survey data not included in the other sources. </a:t>
            </a:r>
          </a:p>
          <a:p>
            <a:r>
              <a:rPr lang="en-US"/>
              <a:t/>
            </a:r>
          </a:p>
          <a:p>
            <a:r>
              <a:rPr lang="en-US"/>
              <a:t>OBIS acquire queries the for marine occurrence records within our Victorian study region, filtered by scientific name, and saves the raw results as CSV.  </a:t>
            </a:r>
          </a:p>
          <a:p>
            <a:r>
              <a:rPr lang="en-US"/>
              <a:t/>
            </a:r>
          </a:p>
          <a:p>
            <a:r>
              <a:rPr lang="en-US"/>
              <a:t>OBIS prep cleans that table from the acquire step by dropping records missing a year or species, removes birds, isolates columns of interest of species, latitude, longitude, year.  </a:t>
            </a:r>
          </a:p>
          <a:p>
            <a:r>
              <a:rPr lang="en-US"/>
              <a:t/>
            </a:r>
          </a:p>
          <a:p>
            <a:r>
              <a:rPr lang="en-US"/>
              <a:t>The cleaned data is then fed into the same downstream path as the other sources.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context of the project is that viruses are constantly evolving and escaping existing population immunity which reduces vaccine effectiveness. Global surveillance can only experimentally test a small fraction of circulating strains so computational models such as machine learning models are increasingly used to predict this immunity escape. </a:t>
            </a:r>
          </a:p>
          <a:p>
            <a:r>
              <a:rPr lang="en-US"/>
              <a:t/>
            </a:r>
          </a:p>
          <a:p>
            <a:r>
              <a:rPr lang="en-US"/>
              <a:t>The challenge is that although existing models work well on trained data, they perform inadequately in predicting the immune escape for a small critical set of new genetic changes </a:t>
            </a:r>
          </a:p>
          <a:p>
            <a:r>
              <a:rPr lang="en-US"/>
              <a:t/>
            </a:r>
          </a:p>
          <a:p>
            <a:r>
              <a:rPr lang="en-US"/>
              <a:t>One of the sub-aims of the project is to develop and validate modelling approaches that incorporate sequence-structure representations to improve detection of effects cause by genetic mutations. </a:t>
            </a:r>
          </a:p>
          <a:p>
            <a:r>
              <a:rPr lang="en-US"/>
              <a:t/>
            </a:r>
          </a:p>
          <a:p>
            <a:r>
              <a:rPr lang="en-US"/>
              <a:t>My scope specifically focussed on visualising the differences in ESM-based encodings of different labelled groups of viral protein sequences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datasets that we used had a total of 11 unique viral groups present, and they were arranged into consecutive datasets that incrementally introduced new viral groups based on the year that it was first described.  </a:t>
            </a:r>
          </a:p>
          <a:p>
            <a:r>
              <a:rPr lang="en-US"/>
              <a:t/>
            </a:r>
          </a:p>
          <a:p>
            <a:r>
              <a:rPr lang="en-US"/>
              <a:t>For example, WU95 represents a cluster of viruses first identified in Wuhan in 1995 and they were introduced in a dataset before SY97 which stands for Syndey 1997. </a:t>
            </a:r>
          </a:p>
          <a:p>
            <a:r>
              <a:rPr lang="en-US"/>
              <a:t/>
            </a:r>
          </a:p>
          <a:p>
            <a:r>
              <a:rPr lang="en-US"/>
              <a:t>Before we move on, just wanted to point out that these viral protein sequences were used to generate vector embeddings which in this case with the model ESM2, it produces a summary of what the protein looks like according to the model’s learned biology.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one of the initial exploratory visualisations I did was a PCA plot to explore the dimensionality captured by ESM embeddings.  </a:t>
            </a:r>
          </a:p>
          <a:p>
            <a:r>
              <a:rPr lang="en-US"/>
              <a:t/>
            </a:r>
          </a:p>
          <a:p>
            <a:r>
              <a:rPr lang="en-US"/>
              <a:t>The PCA plot on the left shows that the clusters are loosely clustered and, in most cases, overlapping. This suggests that the first two principal components do not capture enough of the variance.  </a:t>
            </a:r>
          </a:p>
          <a:p>
            <a:r>
              <a:rPr lang="en-US"/>
              <a:t/>
            </a:r>
          </a:p>
          <a:p>
            <a:r>
              <a:rPr lang="en-US"/>
              <a:t>This is confirmed with a scree plot on the right that indicates PC1 and PC2 together only captures almost 50% of the variation. In fact, 80% of the variation is only captured at component 47 which suggests that the embeddings have rich representations which might be visualised through other non-linear means such as UMAP.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Next, I did a UMAP projection of the ESM embeddings, where I incrementally added viral groups to see how each new group positions itself relative to the groups already present. The idea is that if the embeddings capture meaningful biological variation, newly added groups should occupy coherent regions in the plot. In the first panel, we start with the baseline groups already distributed across the UMAP space.  </a:t>
            </a:r>
          </a:p>
          <a:p>
            <a:r>
              <a:rPr lang="en-US"/>
              <a:t/>
            </a:r>
          </a:p>
          <a:p>
            <a:r>
              <a:rPr lang="en-US"/>
              <a:t>In the next panel, after adding WU95, shown in dark green, those points largely formed their own localised region, notably within the light purple cluster. </a:t>
            </a:r>
          </a:p>
          <a:p>
            <a:r>
              <a:rPr lang="en-US"/>
              <a:t/>
            </a:r>
          </a:p>
          <a:p>
            <a:r>
              <a:rPr lang="en-US"/>
              <a:t>And in the final panel, after adding SY97 in light blue, that group also occupies a tight region that is also within the green WU95 cluster.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how do these visulisations comapre to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697" y="-12697"/>
            <a:ext cx="10684371" cy="10312403"/>
            <a:chOff x="0" y="0"/>
            <a:chExt cx="14245828" cy="13749871"/>
          </a:xfrm>
        </p:grpSpPr>
        <p:sp>
          <p:nvSpPr>
            <p:cNvPr name="Freeform 3" id="3"/>
            <p:cNvSpPr/>
            <p:nvPr/>
          </p:nvSpPr>
          <p:spPr>
            <a:xfrm flipH="false" flipV="false" rot="0">
              <a:off x="0" y="0"/>
              <a:ext cx="14245865" cy="13749910"/>
            </a:xfrm>
            <a:custGeom>
              <a:avLst/>
              <a:gdLst/>
              <a:ahLst/>
              <a:cxnLst/>
              <a:rect r="r" b="b" t="t" l="l"/>
              <a:pathLst>
                <a:path h="13749910" w="14245865">
                  <a:moveTo>
                    <a:pt x="0" y="0"/>
                  </a:moveTo>
                  <a:lnTo>
                    <a:pt x="14245865" y="0"/>
                  </a:lnTo>
                  <a:lnTo>
                    <a:pt x="14245865" y="13749910"/>
                  </a:lnTo>
                  <a:lnTo>
                    <a:pt x="0" y="13749910"/>
                  </a:lnTo>
                  <a:close/>
                </a:path>
              </a:pathLst>
            </a:custGeom>
            <a:solidFill>
              <a:srgbClr val="3B2F24"/>
            </a:solidFill>
            <a:ln w="25400" cap="sq">
              <a:solidFill>
                <a:srgbClr val="3B2F24"/>
              </a:solidFill>
              <a:prstDash val="solid"/>
              <a:miter/>
            </a:ln>
          </p:spPr>
        </p:sp>
      </p:grpSp>
      <p:grpSp>
        <p:nvGrpSpPr>
          <p:cNvPr name="Group 4" id="4"/>
          <p:cNvGrpSpPr/>
          <p:nvPr/>
        </p:nvGrpSpPr>
        <p:grpSpPr>
          <a:xfrm rot="0">
            <a:off x="10671674" y="-12697"/>
            <a:ext cx="7629032" cy="10312403"/>
            <a:chOff x="0" y="0"/>
            <a:chExt cx="10172043" cy="13749871"/>
          </a:xfrm>
        </p:grpSpPr>
        <p:sp>
          <p:nvSpPr>
            <p:cNvPr name="Freeform 5" id="5"/>
            <p:cNvSpPr/>
            <p:nvPr/>
          </p:nvSpPr>
          <p:spPr>
            <a:xfrm flipH="false" flipV="false" rot="0">
              <a:off x="0" y="0"/>
              <a:ext cx="10172082" cy="13749910"/>
            </a:xfrm>
            <a:custGeom>
              <a:avLst/>
              <a:gdLst/>
              <a:ahLst/>
              <a:cxnLst/>
              <a:rect r="r" b="b" t="t" l="l"/>
              <a:pathLst>
                <a:path h="13749910" w="10172082">
                  <a:moveTo>
                    <a:pt x="0" y="0"/>
                  </a:moveTo>
                  <a:lnTo>
                    <a:pt x="10172082" y="0"/>
                  </a:lnTo>
                  <a:lnTo>
                    <a:pt x="10172082" y="13749910"/>
                  </a:lnTo>
                  <a:lnTo>
                    <a:pt x="0" y="13749910"/>
                  </a:lnTo>
                  <a:close/>
                </a:path>
              </a:pathLst>
            </a:custGeom>
            <a:solidFill>
              <a:srgbClr val="F5F0E8"/>
            </a:solidFill>
            <a:ln w="25400" cap="sq">
              <a:solidFill>
                <a:srgbClr val="F5F0E8"/>
              </a:solidFill>
              <a:prstDash val="solid"/>
              <a:miter/>
            </a:ln>
          </p:spPr>
        </p:sp>
      </p:grpSp>
      <p:grpSp>
        <p:nvGrpSpPr>
          <p:cNvPr name="Group 6" id="6"/>
          <p:cNvGrpSpPr/>
          <p:nvPr/>
        </p:nvGrpSpPr>
        <p:grpSpPr>
          <a:xfrm rot="0">
            <a:off x="1982601" y="6142785"/>
            <a:ext cx="4048763" cy="98555"/>
            <a:chOff x="0" y="0"/>
            <a:chExt cx="5398351" cy="131407"/>
          </a:xfrm>
        </p:grpSpPr>
        <p:sp>
          <p:nvSpPr>
            <p:cNvPr name="Freeform 7" id="7"/>
            <p:cNvSpPr/>
            <p:nvPr/>
          </p:nvSpPr>
          <p:spPr>
            <a:xfrm flipH="false" flipV="false" rot="0">
              <a:off x="0" y="0"/>
              <a:ext cx="5398389" cy="131445"/>
            </a:xfrm>
            <a:custGeom>
              <a:avLst/>
              <a:gdLst/>
              <a:ahLst/>
              <a:cxnLst/>
              <a:rect r="r" b="b" t="t" l="l"/>
              <a:pathLst>
                <a:path h="131445" w="5398389">
                  <a:moveTo>
                    <a:pt x="0" y="0"/>
                  </a:moveTo>
                  <a:lnTo>
                    <a:pt x="5398389" y="0"/>
                  </a:lnTo>
                  <a:lnTo>
                    <a:pt x="5398389" y="131445"/>
                  </a:lnTo>
                  <a:lnTo>
                    <a:pt x="0" y="131445"/>
                  </a:lnTo>
                  <a:close/>
                </a:path>
              </a:pathLst>
            </a:custGeom>
            <a:solidFill>
              <a:srgbClr val="C0714F"/>
            </a:solidFill>
            <a:ln cap="sq">
              <a:noFill/>
              <a:prstDash val="lgDash"/>
              <a:miter/>
            </a:ln>
          </p:spPr>
        </p:sp>
      </p:grpSp>
      <p:sp>
        <p:nvSpPr>
          <p:cNvPr name="TextBox 8" id="8"/>
          <p:cNvSpPr txBox="true"/>
          <p:nvPr/>
        </p:nvSpPr>
        <p:spPr>
          <a:xfrm rot="0">
            <a:off x="1982601" y="1934992"/>
            <a:ext cx="7666640" cy="2307083"/>
          </a:xfrm>
          <a:prstGeom prst="rect">
            <a:avLst/>
          </a:prstGeom>
        </p:spPr>
        <p:txBody>
          <a:bodyPr anchor="t" rtlCol="false" tIns="0" lIns="0" bIns="0" rIns="0">
            <a:spAutoFit/>
          </a:bodyPr>
          <a:lstStyle/>
          <a:p>
            <a:pPr algn="l">
              <a:lnSpc>
                <a:spcPts val="8924"/>
              </a:lnSpc>
            </a:pPr>
            <a:r>
              <a:rPr lang="en-US" sz="9200" b="true">
                <a:solidFill>
                  <a:srgbClr val="F5F0E8"/>
                </a:solidFill>
                <a:latin typeface="Montserrat Bold"/>
                <a:ea typeface="Montserrat Bold"/>
                <a:cs typeface="Montserrat Bold"/>
                <a:sym typeface="Montserrat Bold"/>
              </a:rPr>
              <a:t>MDAP INTERNSHIP</a:t>
            </a:r>
          </a:p>
        </p:txBody>
      </p:sp>
      <p:sp>
        <p:nvSpPr>
          <p:cNvPr name="TextBox 9" id="9"/>
          <p:cNvSpPr txBox="true"/>
          <p:nvPr/>
        </p:nvSpPr>
        <p:spPr>
          <a:xfrm rot="0">
            <a:off x="1982601" y="5278395"/>
            <a:ext cx="5124532" cy="763270"/>
          </a:xfrm>
          <a:prstGeom prst="rect">
            <a:avLst/>
          </a:prstGeom>
        </p:spPr>
        <p:txBody>
          <a:bodyPr anchor="t" rtlCol="false" tIns="0" lIns="0" bIns="0" rIns="0">
            <a:spAutoFit/>
          </a:bodyPr>
          <a:lstStyle/>
          <a:p>
            <a:pPr algn="l">
              <a:lnSpc>
                <a:spcPts val="3079"/>
              </a:lnSpc>
            </a:pPr>
            <a:r>
              <a:rPr lang="en-US" sz="2199" spc="1227">
                <a:solidFill>
                  <a:srgbClr val="F5F0E8"/>
                </a:solidFill>
                <a:latin typeface="Montserrat"/>
                <a:ea typeface="Montserrat"/>
                <a:cs typeface="Montserrat"/>
                <a:sym typeface="Montserrat"/>
              </a:rPr>
              <a:t>INTERNAL PRESENTATION</a:t>
            </a:r>
          </a:p>
        </p:txBody>
      </p:sp>
      <p:sp>
        <p:nvSpPr>
          <p:cNvPr name="TextBox 10" id="10"/>
          <p:cNvSpPr txBox="true"/>
          <p:nvPr/>
        </p:nvSpPr>
        <p:spPr>
          <a:xfrm rot="0">
            <a:off x="1982601" y="6451558"/>
            <a:ext cx="5124532" cy="514350"/>
          </a:xfrm>
          <a:prstGeom prst="rect">
            <a:avLst/>
          </a:prstGeom>
        </p:spPr>
        <p:txBody>
          <a:bodyPr anchor="t" rtlCol="false" tIns="0" lIns="0" bIns="0" rIns="0">
            <a:spAutoFit/>
          </a:bodyPr>
          <a:lstStyle/>
          <a:p>
            <a:pPr algn="l">
              <a:lnSpc>
                <a:spcPts val="4200"/>
              </a:lnSpc>
            </a:pPr>
            <a:r>
              <a:rPr lang="en-US" sz="3000" b="true">
                <a:solidFill>
                  <a:srgbClr val="F5F0E8"/>
                </a:solidFill>
                <a:latin typeface="Montserrat Bold"/>
                <a:ea typeface="Montserrat Bold"/>
                <a:cs typeface="Montserrat Bold"/>
                <a:sym typeface="Montserrat Bold"/>
              </a:rPr>
              <a:t>Hao Yang Lim</a:t>
            </a:r>
          </a:p>
        </p:txBody>
      </p:sp>
      <p:sp>
        <p:nvSpPr>
          <p:cNvPr name="TextBox 11" id="11"/>
          <p:cNvSpPr txBox="true"/>
          <p:nvPr/>
        </p:nvSpPr>
        <p:spPr>
          <a:xfrm rot="0">
            <a:off x="12168753" y="4318275"/>
            <a:ext cx="5090547" cy="2072640"/>
          </a:xfrm>
          <a:prstGeom prst="rect">
            <a:avLst/>
          </a:prstGeom>
        </p:spPr>
        <p:txBody>
          <a:bodyPr anchor="t" rtlCol="false" tIns="0" lIns="0" bIns="0" rIns="0">
            <a:spAutoFit/>
          </a:bodyPr>
          <a:lstStyle/>
          <a:p>
            <a:pPr algn="l">
              <a:lnSpc>
                <a:spcPts val="4079"/>
              </a:lnSpc>
            </a:pPr>
            <a:r>
              <a:rPr lang="en-US" sz="3999" spc="-191" b="true">
                <a:solidFill>
                  <a:srgbClr val="6B4F3A"/>
                </a:solidFill>
                <a:latin typeface="Montserrat Bold"/>
                <a:ea typeface="Montserrat Bold"/>
                <a:cs typeface="Montserrat Bold"/>
                <a:sym typeface="Montserrat Bold"/>
              </a:rPr>
              <a:t>"Tell me and I forget, teach me and I may remember, involve me and I learn."</a:t>
            </a:r>
          </a:p>
        </p:txBody>
      </p:sp>
      <p:sp>
        <p:nvSpPr>
          <p:cNvPr name="TextBox 12" id="12"/>
          <p:cNvSpPr txBox="true"/>
          <p:nvPr/>
        </p:nvSpPr>
        <p:spPr>
          <a:xfrm rot="0">
            <a:off x="13783810" y="6510612"/>
            <a:ext cx="3475490" cy="455295"/>
          </a:xfrm>
          <a:prstGeom prst="rect">
            <a:avLst/>
          </a:prstGeom>
        </p:spPr>
        <p:txBody>
          <a:bodyPr anchor="t" rtlCol="false" tIns="0" lIns="0" bIns="0" rIns="0">
            <a:spAutoFit/>
          </a:bodyPr>
          <a:lstStyle/>
          <a:p>
            <a:pPr algn="l">
              <a:lnSpc>
                <a:spcPts val="3779"/>
              </a:lnSpc>
            </a:pPr>
            <a:r>
              <a:rPr lang="en-US" sz="2699">
                <a:solidFill>
                  <a:srgbClr val="6B4F3A"/>
                </a:solidFill>
                <a:latin typeface="Montserrat"/>
                <a:ea typeface="Montserrat"/>
                <a:cs typeface="Montserrat"/>
                <a:sym typeface="Montserrat"/>
              </a:rPr>
              <a:t>- Benjamin Franklin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0E8"/>
        </a:solidFill>
      </p:bgPr>
    </p:bg>
    <p:spTree>
      <p:nvGrpSpPr>
        <p:cNvPr id="1" name=""/>
        <p:cNvGrpSpPr/>
        <p:nvPr/>
      </p:nvGrpSpPr>
      <p:grpSpPr>
        <a:xfrm>
          <a:off x="0" y="0"/>
          <a:ext cx="0" cy="0"/>
          <a:chOff x="0" y="0"/>
          <a:chExt cx="0" cy="0"/>
        </a:xfrm>
      </p:grpSpPr>
      <p:grpSp>
        <p:nvGrpSpPr>
          <p:cNvPr name="Group 2" id="2"/>
          <p:cNvGrpSpPr/>
          <p:nvPr/>
        </p:nvGrpSpPr>
        <p:grpSpPr>
          <a:xfrm rot="0">
            <a:off x="1097280" y="822960"/>
            <a:ext cx="11329777" cy="1280160"/>
            <a:chOff x="0" y="0"/>
            <a:chExt cx="15106369" cy="1706880"/>
          </a:xfrm>
        </p:grpSpPr>
        <p:sp>
          <p:nvSpPr>
            <p:cNvPr name="Freeform 3" id="3"/>
            <p:cNvSpPr/>
            <p:nvPr/>
          </p:nvSpPr>
          <p:spPr>
            <a:xfrm flipH="false" flipV="false" rot="0">
              <a:off x="0" y="0"/>
              <a:ext cx="15106369" cy="1706880"/>
            </a:xfrm>
            <a:custGeom>
              <a:avLst/>
              <a:gdLst/>
              <a:ahLst/>
              <a:cxnLst/>
              <a:rect r="r" b="b" t="t" l="l"/>
              <a:pathLst>
                <a:path h="1706880" w="15106369">
                  <a:moveTo>
                    <a:pt x="0" y="0"/>
                  </a:moveTo>
                  <a:lnTo>
                    <a:pt x="15106369" y="0"/>
                  </a:lnTo>
                  <a:lnTo>
                    <a:pt x="15106369" y="1706880"/>
                  </a:lnTo>
                  <a:lnTo>
                    <a:pt x="0" y="1706880"/>
                  </a:lnTo>
                  <a:close/>
                </a:path>
              </a:pathLst>
            </a:custGeom>
            <a:blipFill>
              <a:blip r:embed="rId2">
                <a:alphaModFix amt="0"/>
              </a:blip>
              <a:stretch>
                <a:fillRect l="0" t="-172686" r="-29132" b="-172686"/>
              </a:stretch>
            </a:blipFill>
          </p:spPr>
        </p:sp>
        <p:sp>
          <p:nvSpPr>
            <p:cNvPr name="TextBox 4" id="4"/>
            <p:cNvSpPr txBox="true"/>
            <p:nvPr/>
          </p:nvSpPr>
          <p:spPr>
            <a:xfrm>
              <a:off x="0" y="0"/>
              <a:ext cx="15106369" cy="1706880"/>
            </a:xfrm>
            <a:prstGeom prst="rect">
              <a:avLst/>
            </a:prstGeom>
          </p:spPr>
          <p:txBody>
            <a:bodyPr anchor="ctr" rtlCol="false" tIns="0" lIns="0" bIns="0" rIns="0"/>
            <a:lstStyle/>
            <a:p>
              <a:pPr algn="l">
                <a:lnSpc>
                  <a:spcPts val="7680"/>
                </a:lnSpc>
              </a:pPr>
              <a:r>
                <a:rPr lang="en-US" sz="6400" b="true">
                  <a:solidFill>
                    <a:srgbClr val="6B4F3A"/>
                  </a:solidFill>
                  <a:latin typeface="Montserrat Bold"/>
                  <a:ea typeface="Montserrat Bold"/>
                  <a:cs typeface="Montserrat Bold"/>
                  <a:sym typeface="Montserrat Bold"/>
                </a:rPr>
                <a:t>What We'll Cover</a:t>
              </a:r>
            </a:p>
          </p:txBody>
        </p:sp>
      </p:grpSp>
      <p:grpSp>
        <p:nvGrpSpPr>
          <p:cNvPr name="Group 5" id="5"/>
          <p:cNvGrpSpPr/>
          <p:nvPr/>
        </p:nvGrpSpPr>
        <p:grpSpPr>
          <a:xfrm rot="0">
            <a:off x="993143" y="3004823"/>
            <a:ext cx="8072123" cy="2037083"/>
            <a:chOff x="0" y="0"/>
            <a:chExt cx="10762831" cy="2716111"/>
          </a:xfrm>
        </p:grpSpPr>
        <p:sp>
          <p:nvSpPr>
            <p:cNvPr name="Freeform 6" id="6"/>
            <p:cNvSpPr/>
            <p:nvPr/>
          </p:nvSpPr>
          <p:spPr>
            <a:xfrm flipH="false" flipV="false" rot="0">
              <a:off x="0" y="0"/>
              <a:ext cx="10762869" cy="2716149"/>
            </a:xfrm>
            <a:custGeom>
              <a:avLst/>
              <a:gdLst/>
              <a:ahLst/>
              <a:cxnLst/>
              <a:rect r="r" b="b" t="t" l="l"/>
              <a:pathLst>
                <a:path h="2716149" w="10762869">
                  <a:moveTo>
                    <a:pt x="571500" y="0"/>
                  </a:moveTo>
                  <a:lnTo>
                    <a:pt x="10191369" y="0"/>
                  </a:lnTo>
                  <a:cubicBezTo>
                    <a:pt x="10507000" y="0"/>
                    <a:pt x="10762869" y="255869"/>
                    <a:pt x="10762869" y="571500"/>
                  </a:cubicBezTo>
                  <a:lnTo>
                    <a:pt x="10762869" y="2144649"/>
                  </a:lnTo>
                  <a:cubicBezTo>
                    <a:pt x="10762869" y="2296220"/>
                    <a:pt x="10702658" y="2441584"/>
                    <a:pt x="10595480" y="2548761"/>
                  </a:cubicBezTo>
                  <a:cubicBezTo>
                    <a:pt x="10488303" y="2655937"/>
                    <a:pt x="10342940" y="2716149"/>
                    <a:pt x="10191369" y="2716149"/>
                  </a:cubicBezTo>
                  <a:lnTo>
                    <a:pt x="571500" y="2716149"/>
                  </a:lnTo>
                  <a:cubicBezTo>
                    <a:pt x="255869" y="2716149"/>
                    <a:pt x="0" y="2460280"/>
                    <a:pt x="0" y="2144649"/>
                  </a:cubicBezTo>
                  <a:lnTo>
                    <a:pt x="0" y="571500"/>
                  </a:lnTo>
                  <a:cubicBezTo>
                    <a:pt x="0" y="255869"/>
                    <a:pt x="255869" y="0"/>
                    <a:pt x="571500" y="0"/>
                  </a:cubicBezTo>
                  <a:close/>
                </a:path>
              </a:pathLst>
            </a:custGeom>
            <a:solidFill>
              <a:srgbClr val="FDFAF5"/>
            </a:solidFill>
            <a:ln w="25400" cap="rnd">
              <a:solidFill>
                <a:srgbClr val="D9CEBA"/>
              </a:solidFill>
              <a:prstDash val="solid"/>
              <a:round/>
            </a:ln>
          </p:spPr>
        </p:sp>
      </p:grpSp>
      <p:grpSp>
        <p:nvGrpSpPr>
          <p:cNvPr name="Group 7" id="7"/>
          <p:cNvGrpSpPr/>
          <p:nvPr/>
        </p:nvGrpSpPr>
        <p:grpSpPr>
          <a:xfrm rot="0">
            <a:off x="993143" y="3004823"/>
            <a:ext cx="1031243" cy="2037083"/>
            <a:chOff x="0" y="0"/>
            <a:chExt cx="1374991" cy="2716111"/>
          </a:xfrm>
        </p:grpSpPr>
        <p:sp>
          <p:nvSpPr>
            <p:cNvPr name="Freeform 8" id="8"/>
            <p:cNvSpPr/>
            <p:nvPr/>
          </p:nvSpPr>
          <p:spPr>
            <a:xfrm flipH="false" flipV="false" rot="0">
              <a:off x="0" y="0"/>
              <a:ext cx="1375029" cy="2716149"/>
            </a:xfrm>
            <a:custGeom>
              <a:avLst/>
              <a:gdLst/>
              <a:ahLst/>
              <a:cxnLst/>
              <a:rect r="r" b="b" t="t" l="l"/>
              <a:pathLst>
                <a:path h="2716149" w="1375029">
                  <a:moveTo>
                    <a:pt x="0" y="0"/>
                  </a:moveTo>
                  <a:lnTo>
                    <a:pt x="1375029" y="0"/>
                  </a:lnTo>
                  <a:lnTo>
                    <a:pt x="1375029" y="2716149"/>
                  </a:lnTo>
                  <a:lnTo>
                    <a:pt x="0" y="2716149"/>
                  </a:lnTo>
                  <a:close/>
                </a:path>
              </a:pathLst>
            </a:custGeom>
            <a:solidFill>
              <a:srgbClr val="C0714F"/>
            </a:solidFill>
            <a:ln w="25400" cap="sq">
              <a:solidFill>
                <a:srgbClr val="C0714F"/>
              </a:solidFill>
              <a:prstDash val="solid"/>
              <a:miter/>
            </a:ln>
          </p:spPr>
        </p:sp>
      </p:grpSp>
      <p:grpSp>
        <p:nvGrpSpPr>
          <p:cNvPr name="Group 9" id="9"/>
          <p:cNvGrpSpPr/>
          <p:nvPr/>
        </p:nvGrpSpPr>
        <p:grpSpPr>
          <a:xfrm rot="0">
            <a:off x="1005840" y="3549806"/>
            <a:ext cx="1005840" cy="947108"/>
            <a:chOff x="0" y="0"/>
            <a:chExt cx="1341120" cy="1262811"/>
          </a:xfrm>
        </p:grpSpPr>
        <p:sp>
          <p:nvSpPr>
            <p:cNvPr name="Freeform 10" id="10"/>
            <p:cNvSpPr/>
            <p:nvPr/>
          </p:nvSpPr>
          <p:spPr>
            <a:xfrm flipH="false" flipV="false" rot="0">
              <a:off x="0" y="0"/>
              <a:ext cx="1341120" cy="1262811"/>
            </a:xfrm>
            <a:custGeom>
              <a:avLst/>
              <a:gdLst/>
              <a:ahLst/>
              <a:cxnLst/>
              <a:rect r="r" b="b" t="t" l="l"/>
              <a:pathLst>
                <a:path h="1262811" w="1341120">
                  <a:moveTo>
                    <a:pt x="0" y="0"/>
                  </a:moveTo>
                  <a:lnTo>
                    <a:pt x="1341120" y="0"/>
                  </a:lnTo>
                  <a:lnTo>
                    <a:pt x="1341120" y="1262811"/>
                  </a:lnTo>
                  <a:lnTo>
                    <a:pt x="0" y="1262811"/>
                  </a:lnTo>
                  <a:close/>
                </a:path>
              </a:pathLst>
            </a:custGeom>
            <a:blipFill>
              <a:blip r:embed="rId2">
                <a:alphaModFix amt="0"/>
              </a:blip>
              <a:stretch>
                <a:fillRect l="-206607" t="0" r="-206607" b="-112402"/>
              </a:stretch>
            </a:blipFill>
          </p:spPr>
        </p:sp>
        <p:sp>
          <p:nvSpPr>
            <p:cNvPr name="TextBox 11" id="11"/>
            <p:cNvSpPr txBox="true"/>
            <p:nvPr/>
          </p:nvSpPr>
          <p:spPr>
            <a:xfrm>
              <a:off x="0" y="0"/>
              <a:ext cx="1341120" cy="1262811"/>
            </a:xfrm>
            <a:prstGeom prst="rect">
              <a:avLst/>
            </a:prstGeom>
          </p:spPr>
          <p:txBody>
            <a:bodyPr anchor="ctr" rtlCol="false" tIns="0" lIns="0" bIns="0" rIns="0"/>
            <a:lstStyle/>
            <a:p>
              <a:pPr algn="ctr">
                <a:lnSpc>
                  <a:spcPts val="3120"/>
                </a:lnSpc>
              </a:pPr>
              <a:r>
                <a:rPr lang="en-US" sz="2600" b="true">
                  <a:solidFill>
                    <a:srgbClr val="FDFAF5"/>
                  </a:solidFill>
                  <a:latin typeface="Montserrat Bold"/>
                  <a:ea typeface="Montserrat Bold"/>
                  <a:cs typeface="Montserrat Bold"/>
                  <a:sym typeface="Montserrat Bold"/>
                </a:rPr>
                <a:t>01</a:t>
              </a:r>
            </a:p>
          </p:txBody>
        </p:sp>
      </p:grpSp>
      <p:grpSp>
        <p:nvGrpSpPr>
          <p:cNvPr name="Group 12" id="12"/>
          <p:cNvGrpSpPr/>
          <p:nvPr/>
        </p:nvGrpSpPr>
        <p:grpSpPr>
          <a:xfrm rot="0">
            <a:off x="2426899" y="3393531"/>
            <a:ext cx="6400800" cy="768096"/>
            <a:chOff x="0" y="0"/>
            <a:chExt cx="8534400" cy="1024128"/>
          </a:xfrm>
        </p:grpSpPr>
        <p:sp>
          <p:nvSpPr>
            <p:cNvPr name="Freeform 13" id="13"/>
            <p:cNvSpPr/>
            <p:nvPr/>
          </p:nvSpPr>
          <p:spPr>
            <a:xfrm flipH="false" flipV="false" rot="0">
              <a:off x="0" y="0"/>
              <a:ext cx="8534400" cy="1024128"/>
            </a:xfrm>
            <a:custGeom>
              <a:avLst/>
              <a:gdLst/>
              <a:ahLst/>
              <a:cxnLst/>
              <a:rect r="r" b="b" t="t" l="l"/>
              <a:pathLst>
                <a:path h="1024128" w="8534400">
                  <a:moveTo>
                    <a:pt x="0" y="0"/>
                  </a:moveTo>
                  <a:lnTo>
                    <a:pt x="8534400" y="0"/>
                  </a:lnTo>
                  <a:lnTo>
                    <a:pt x="8534400" y="1024128"/>
                  </a:lnTo>
                  <a:lnTo>
                    <a:pt x="0" y="1024128"/>
                  </a:lnTo>
                  <a:close/>
                </a:path>
              </a:pathLst>
            </a:custGeom>
            <a:blipFill>
              <a:blip r:embed="rId2">
                <a:alphaModFix amt="0"/>
              </a:blip>
              <a:stretch>
                <a:fillRect l="0" t="-112375" r="0" b="-112375"/>
              </a:stretch>
            </a:blipFill>
          </p:spPr>
        </p:sp>
        <p:sp>
          <p:nvSpPr>
            <p:cNvPr name="TextBox 14" id="14"/>
            <p:cNvSpPr txBox="true"/>
            <p:nvPr/>
          </p:nvSpPr>
          <p:spPr>
            <a:xfrm>
              <a:off x="0" y="0"/>
              <a:ext cx="8534400" cy="1024128"/>
            </a:xfrm>
            <a:prstGeom prst="rect">
              <a:avLst/>
            </a:prstGeom>
          </p:spPr>
          <p:txBody>
            <a:bodyPr anchor="ctr" rtlCol="false" tIns="0" lIns="0" bIns="0" rIns="0"/>
            <a:lstStyle/>
            <a:p>
              <a:pPr algn="l">
                <a:lnSpc>
                  <a:spcPts val="3120"/>
                </a:lnSpc>
              </a:pPr>
              <a:r>
                <a:rPr lang="en-US" sz="2600" b="true">
                  <a:solidFill>
                    <a:srgbClr val="6B4F3A"/>
                  </a:solidFill>
                  <a:latin typeface="Montserrat Bold"/>
                  <a:ea typeface="Montserrat Bold"/>
                  <a:cs typeface="Montserrat Bold"/>
                  <a:sym typeface="Montserrat Bold"/>
                </a:rPr>
                <a:t>Project VicExtinct</a:t>
              </a:r>
            </a:p>
          </p:txBody>
        </p:sp>
      </p:grpSp>
      <p:grpSp>
        <p:nvGrpSpPr>
          <p:cNvPr name="Group 15" id="15"/>
          <p:cNvGrpSpPr/>
          <p:nvPr/>
        </p:nvGrpSpPr>
        <p:grpSpPr>
          <a:xfrm rot="0">
            <a:off x="2426899" y="4030099"/>
            <a:ext cx="6400800" cy="694944"/>
            <a:chOff x="0" y="0"/>
            <a:chExt cx="8534400" cy="926592"/>
          </a:xfrm>
        </p:grpSpPr>
        <p:sp>
          <p:nvSpPr>
            <p:cNvPr name="Freeform 16" id="16"/>
            <p:cNvSpPr/>
            <p:nvPr/>
          </p:nvSpPr>
          <p:spPr>
            <a:xfrm flipH="false" flipV="false" rot="0">
              <a:off x="0" y="0"/>
              <a:ext cx="8534400" cy="926592"/>
            </a:xfrm>
            <a:custGeom>
              <a:avLst/>
              <a:gdLst/>
              <a:ahLst/>
              <a:cxnLst/>
              <a:rect r="r" b="b" t="t" l="l"/>
              <a:pathLst>
                <a:path h="926592" w="8534400">
                  <a:moveTo>
                    <a:pt x="0" y="0"/>
                  </a:moveTo>
                  <a:lnTo>
                    <a:pt x="8534400" y="0"/>
                  </a:lnTo>
                  <a:lnTo>
                    <a:pt x="8534400" y="926592"/>
                  </a:lnTo>
                  <a:lnTo>
                    <a:pt x="0" y="926592"/>
                  </a:lnTo>
                  <a:close/>
                </a:path>
              </a:pathLst>
            </a:custGeom>
            <a:blipFill>
              <a:blip r:embed="rId2">
                <a:alphaModFix amt="0"/>
              </a:blip>
              <a:stretch>
                <a:fillRect l="0" t="-129467" r="0" b="-129467"/>
              </a:stretch>
            </a:blipFill>
          </p:spPr>
        </p:sp>
        <p:sp>
          <p:nvSpPr>
            <p:cNvPr name="TextBox 17" id="17"/>
            <p:cNvSpPr txBox="true"/>
            <p:nvPr/>
          </p:nvSpPr>
          <p:spPr>
            <a:xfrm>
              <a:off x="0" y="0"/>
              <a:ext cx="8534400" cy="926592"/>
            </a:xfrm>
            <a:prstGeom prst="rect">
              <a:avLst/>
            </a:prstGeom>
          </p:spPr>
          <p:txBody>
            <a:bodyPr anchor="ctr" rtlCol="false" tIns="0" lIns="0" bIns="0" rIns="0"/>
            <a:lstStyle/>
            <a:p>
              <a:pPr algn="l">
                <a:lnSpc>
                  <a:spcPts val="2400"/>
                </a:lnSpc>
              </a:pPr>
              <a:r>
                <a:rPr lang="en-US" sz="2000">
                  <a:solidFill>
                    <a:srgbClr val="9C7B5E"/>
                  </a:solidFill>
                  <a:latin typeface="Montserrat"/>
                  <a:ea typeface="Montserrat"/>
                  <a:cs typeface="Montserrat"/>
                  <a:sym typeface="Montserrat"/>
                </a:rPr>
                <a:t>“</a:t>
              </a:r>
              <a:r>
                <a:rPr lang="en-US" sz="2000">
                  <a:solidFill>
                    <a:srgbClr val="9C7B5E"/>
                  </a:solidFill>
                  <a:latin typeface="Montserrat"/>
                  <a:ea typeface="Montserrat"/>
                  <a:cs typeface="Montserrat"/>
                  <a:sym typeface="Montserrat"/>
                </a:rPr>
                <a:t>Workflows for marine biodiversity data to model species extinctions in Victoria”</a:t>
              </a:r>
            </a:p>
          </p:txBody>
        </p:sp>
      </p:grpSp>
      <p:grpSp>
        <p:nvGrpSpPr>
          <p:cNvPr name="Group 18" id="18"/>
          <p:cNvGrpSpPr/>
          <p:nvPr/>
        </p:nvGrpSpPr>
        <p:grpSpPr>
          <a:xfrm rot="0">
            <a:off x="9588503" y="3004823"/>
            <a:ext cx="8072123" cy="2037083"/>
            <a:chOff x="0" y="0"/>
            <a:chExt cx="10762831" cy="2716111"/>
          </a:xfrm>
        </p:grpSpPr>
        <p:sp>
          <p:nvSpPr>
            <p:cNvPr name="Freeform 19" id="19"/>
            <p:cNvSpPr/>
            <p:nvPr/>
          </p:nvSpPr>
          <p:spPr>
            <a:xfrm flipH="false" flipV="false" rot="0">
              <a:off x="0" y="0"/>
              <a:ext cx="10762869" cy="2716149"/>
            </a:xfrm>
            <a:custGeom>
              <a:avLst/>
              <a:gdLst/>
              <a:ahLst/>
              <a:cxnLst/>
              <a:rect r="r" b="b" t="t" l="l"/>
              <a:pathLst>
                <a:path h="2716149" w="10762869">
                  <a:moveTo>
                    <a:pt x="571500" y="0"/>
                  </a:moveTo>
                  <a:lnTo>
                    <a:pt x="10191369" y="0"/>
                  </a:lnTo>
                  <a:cubicBezTo>
                    <a:pt x="10507000" y="0"/>
                    <a:pt x="10762869" y="255869"/>
                    <a:pt x="10762869" y="571500"/>
                  </a:cubicBezTo>
                  <a:lnTo>
                    <a:pt x="10762869" y="2144649"/>
                  </a:lnTo>
                  <a:cubicBezTo>
                    <a:pt x="10762869" y="2296220"/>
                    <a:pt x="10702658" y="2441584"/>
                    <a:pt x="10595480" y="2548761"/>
                  </a:cubicBezTo>
                  <a:cubicBezTo>
                    <a:pt x="10488303" y="2655937"/>
                    <a:pt x="10342940" y="2716149"/>
                    <a:pt x="10191369" y="2716149"/>
                  </a:cubicBezTo>
                  <a:lnTo>
                    <a:pt x="571500" y="2716149"/>
                  </a:lnTo>
                  <a:cubicBezTo>
                    <a:pt x="255869" y="2716149"/>
                    <a:pt x="0" y="2460280"/>
                    <a:pt x="0" y="2144649"/>
                  </a:cubicBezTo>
                  <a:lnTo>
                    <a:pt x="0" y="571500"/>
                  </a:lnTo>
                  <a:cubicBezTo>
                    <a:pt x="0" y="255869"/>
                    <a:pt x="255869" y="0"/>
                    <a:pt x="571500" y="0"/>
                  </a:cubicBezTo>
                  <a:close/>
                </a:path>
              </a:pathLst>
            </a:custGeom>
            <a:solidFill>
              <a:srgbClr val="FDFAF5"/>
            </a:solidFill>
            <a:ln w="25400" cap="rnd">
              <a:solidFill>
                <a:srgbClr val="D9CEBA"/>
              </a:solidFill>
              <a:prstDash val="solid"/>
              <a:round/>
            </a:ln>
          </p:spPr>
        </p:sp>
      </p:grpSp>
      <p:grpSp>
        <p:nvGrpSpPr>
          <p:cNvPr name="Group 20" id="20"/>
          <p:cNvGrpSpPr/>
          <p:nvPr/>
        </p:nvGrpSpPr>
        <p:grpSpPr>
          <a:xfrm rot="0">
            <a:off x="9588503" y="3004823"/>
            <a:ext cx="1031243" cy="2037083"/>
            <a:chOff x="0" y="0"/>
            <a:chExt cx="1374991" cy="2716111"/>
          </a:xfrm>
        </p:grpSpPr>
        <p:sp>
          <p:nvSpPr>
            <p:cNvPr name="Freeform 21" id="21"/>
            <p:cNvSpPr/>
            <p:nvPr/>
          </p:nvSpPr>
          <p:spPr>
            <a:xfrm flipH="false" flipV="false" rot="0">
              <a:off x="0" y="0"/>
              <a:ext cx="1375029" cy="2716149"/>
            </a:xfrm>
            <a:custGeom>
              <a:avLst/>
              <a:gdLst/>
              <a:ahLst/>
              <a:cxnLst/>
              <a:rect r="r" b="b" t="t" l="l"/>
              <a:pathLst>
                <a:path h="2716149" w="1375029">
                  <a:moveTo>
                    <a:pt x="0" y="0"/>
                  </a:moveTo>
                  <a:lnTo>
                    <a:pt x="1375029" y="0"/>
                  </a:lnTo>
                  <a:lnTo>
                    <a:pt x="1375029" y="2716149"/>
                  </a:lnTo>
                  <a:lnTo>
                    <a:pt x="0" y="2716149"/>
                  </a:lnTo>
                  <a:close/>
                </a:path>
              </a:pathLst>
            </a:custGeom>
            <a:solidFill>
              <a:srgbClr val="C0714F"/>
            </a:solidFill>
            <a:ln w="25400" cap="sq">
              <a:solidFill>
                <a:srgbClr val="C0714F"/>
              </a:solidFill>
              <a:prstDash val="solid"/>
              <a:miter/>
            </a:ln>
          </p:spPr>
        </p:sp>
      </p:grpSp>
      <p:grpSp>
        <p:nvGrpSpPr>
          <p:cNvPr name="Group 22" id="22"/>
          <p:cNvGrpSpPr/>
          <p:nvPr/>
        </p:nvGrpSpPr>
        <p:grpSpPr>
          <a:xfrm rot="0">
            <a:off x="9601200" y="3549806"/>
            <a:ext cx="1005840" cy="947108"/>
            <a:chOff x="0" y="0"/>
            <a:chExt cx="1341120" cy="1262811"/>
          </a:xfrm>
        </p:grpSpPr>
        <p:sp>
          <p:nvSpPr>
            <p:cNvPr name="Freeform 23" id="23"/>
            <p:cNvSpPr/>
            <p:nvPr/>
          </p:nvSpPr>
          <p:spPr>
            <a:xfrm flipH="false" flipV="false" rot="0">
              <a:off x="0" y="0"/>
              <a:ext cx="1341120" cy="1262811"/>
            </a:xfrm>
            <a:custGeom>
              <a:avLst/>
              <a:gdLst/>
              <a:ahLst/>
              <a:cxnLst/>
              <a:rect r="r" b="b" t="t" l="l"/>
              <a:pathLst>
                <a:path h="1262811" w="1341120">
                  <a:moveTo>
                    <a:pt x="0" y="0"/>
                  </a:moveTo>
                  <a:lnTo>
                    <a:pt x="1341120" y="0"/>
                  </a:lnTo>
                  <a:lnTo>
                    <a:pt x="1341120" y="1262811"/>
                  </a:lnTo>
                  <a:lnTo>
                    <a:pt x="0" y="1262811"/>
                  </a:lnTo>
                  <a:close/>
                </a:path>
              </a:pathLst>
            </a:custGeom>
            <a:blipFill>
              <a:blip r:embed="rId2">
                <a:alphaModFix amt="0"/>
              </a:blip>
              <a:stretch>
                <a:fillRect l="-206607" t="0" r="-206607" b="-112402"/>
              </a:stretch>
            </a:blipFill>
          </p:spPr>
        </p:sp>
        <p:sp>
          <p:nvSpPr>
            <p:cNvPr name="TextBox 24" id="24"/>
            <p:cNvSpPr txBox="true"/>
            <p:nvPr/>
          </p:nvSpPr>
          <p:spPr>
            <a:xfrm>
              <a:off x="0" y="0"/>
              <a:ext cx="1341120" cy="1262811"/>
            </a:xfrm>
            <a:prstGeom prst="rect">
              <a:avLst/>
            </a:prstGeom>
          </p:spPr>
          <p:txBody>
            <a:bodyPr anchor="ctr" rtlCol="false" tIns="0" lIns="0" bIns="0" rIns="0"/>
            <a:lstStyle/>
            <a:p>
              <a:pPr algn="ctr">
                <a:lnSpc>
                  <a:spcPts val="3120"/>
                </a:lnSpc>
              </a:pPr>
              <a:r>
                <a:rPr lang="en-US" sz="2600" b="true">
                  <a:solidFill>
                    <a:srgbClr val="FDFAF5"/>
                  </a:solidFill>
                  <a:latin typeface="Montserrat Bold"/>
                  <a:ea typeface="Montserrat Bold"/>
                  <a:cs typeface="Montserrat Bold"/>
                  <a:sym typeface="Montserrat Bold"/>
                </a:rPr>
                <a:t>02</a:t>
              </a:r>
            </a:p>
          </p:txBody>
        </p:sp>
      </p:grpSp>
      <p:grpSp>
        <p:nvGrpSpPr>
          <p:cNvPr name="Group 25" id="25"/>
          <p:cNvGrpSpPr/>
          <p:nvPr/>
        </p:nvGrpSpPr>
        <p:grpSpPr>
          <a:xfrm rot="0">
            <a:off x="11022259" y="3393531"/>
            <a:ext cx="6400800" cy="768096"/>
            <a:chOff x="0" y="0"/>
            <a:chExt cx="8534400" cy="1024128"/>
          </a:xfrm>
        </p:grpSpPr>
        <p:sp>
          <p:nvSpPr>
            <p:cNvPr name="Freeform 26" id="26"/>
            <p:cNvSpPr/>
            <p:nvPr/>
          </p:nvSpPr>
          <p:spPr>
            <a:xfrm flipH="false" flipV="false" rot="0">
              <a:off x="0" y="0"/>
              <a:ext cx="8534400" cy="1024128"/>
            </a:xfrm>
            <a:custGeom>
              <a:avLst/>
              <a:gdLst/>
              <a:ahLst/>
              <a:cxnLst/>
              <a:rect r="r" b="b" t="t" l="l"/>
              <a:pathLst>
                <a:path h="1024128" w="8534400">
                  <a:moveTo>
                    <a:pt x="0" y="0"/>
                  </a:moveTo>
                  <a:lnTo>
                    <a:pt x="8534400" y="0"/>
                  </a:lnTo>
                  <a:lnTo>
                    <a:pt x="8534400" y="1024128"/>
                  </a:lnTo>
                  <a:lnTo>
                    <a:pt x="0" y="1024128"/>
                  </a:lnTo>
                  <a:close/>
                </a:path>
              </a:pathLst>
            </a:custGeom>
            <a:blipFill>
              <a:blip r:embed="rId2">
                <a:alphaModFix amt="0"/>
              </a:blip>
              <a:stretch>
                <a:fillRect l="0" t="-112375" r="0" b="-112375"/>
              </a:stretch>
            </a:blipFill>
          </p:spPr>
        </p:sp>
        <p:sp>
          <p:nvSpPr>
            <p:cNvPr name="TextBox 27" id="27"/>
            <p:cNvSpPr txBox="true"/>
            <p:nvPr/>
          </p:nvSpPr>
          <p:spPr>
            <a:xfrm>
              <a:off x="0" y="0"/>
              <a:ext cx="8534400" cy="1024128"/>
            </a:xfrm>
            <a:prstGeom prst="rect">
              <a:avLst/>
            </a:prstGeom>
          </p:spPr>
          <p:txBody>
            <a:bodyPr anchor="ctr" rtlCol="false" tIns="0" lIns="0" bIns="0" rIns="0"/>
            <a:lstStyle/>
            <a:p>
              <a:pPr algn="l">
                <a:lnSpc>
                  <a:spcPts val="3120"/>
                </a:lnSpc>
              </a:pPr>
              <a:r>
                <a:rPr lang="en-US" sz="2600" b="true">
                  <a:solidFill>
                    <a:srgbClr val="6B4F3A"/>
                  </a:solidFill>
                  <a:latin typeface="Montserrat Bold"/>
                  <a:ea typeface="Montserrat Bold"/>
                  <a:cs typeface="Montserrat Bold"/>
                  <a:sym typeface="Montserrat Bold"/>
                </a:rPr>
                <a:t>Project Escape</a:t>
              </a:r>
            </a:p>
          </p:txBody>
        </p:sp>
      </p:grpSp>
      <p:grpSp>
        <p:nvGrpSpPr>
          <p:cNvPr name="Group 28" id="28"/>
          <p:cNvGrpSpPr/>
          <p:nvPr/>
        </p:nvGrpSpPr>
        <p:grpSpPr>
          <a:xfrm rot="0">
            <a:off x="11022259" y="4023365"/>
            <a:ext cx="6400800" cy="694944"/>
            <a:chOff x="0" y="0"/>
            <a:chExt cx="8534400" cy="926592"/>
          </a:xfrm>
        </p:grpSpPr>
        <p:sp>
          <p:nvSpPr>
            <p:cNvPr name="Freeform 29" id="29"/>
            <p:cNvSpPr/>
            <p:nvPr/>
          </p:nvSpPr>
          <p:spPr>
            <a:xfrm flipH="false" flipV="false" rot="0">
              <a:off x="0" y="0"/>
              <a:ext cx="8534400" cy="926592"/>
            </a:xfrm>
            <a:custGeom>
              <a:avLst/>
              <a:gdLst/>
              <a:ahLst/>
              <a:cxnLst/>
              <a:rect r="r" b="b" t="t" l="l"/>
              <a:pathLst>
                <a:path h="926592" w="8534400">
                  <a:moveTo>
                    <a:pt x="0" y="0"/>
                  </a:moveTo>
                  <a:lnTo>
                    <a:pt x="8534400" y="0"/>
                  </a:lnTo>
                  <a:lnTo>
                    <a:pt x="8534400" y="926592"/>
                  </a:lnTo>
                  <a:lnTo>
                    <a:pt x="0" y="926592"/>
                  </a:lnTo>
                  <a:close/>
                </a:path>
              </a:pathLst>
            </a:custGeom>
            <a:blipFill>
              <a:blip r:embed="rId2">
                <a:alphaModFix amt="0"/>
              </a:blip>
              <a:stretch>
                <a:fillRect l="0" t="-129467" r="0" b="-129467"/>
              </a:stretch>
            </a:blipFill>
          </p:spPr>
        </p:sp>
        <p:sp>
          <p:nvSpPr>
            <p:cNvPr name="TextBox 30" id="30"/>
            <p:cNvSpPr txBox="true"/>
            <p:nvPr/>
          </p:nvSpPr>
          <p:spPr>
            <a:xfrm>
              <a:off x="0" y="0"/>
              <a:ext cx="8534400" cy="926592"/>
            </a:xfrm>
            <a:prstGeom prst="rect">
              <a:avLst/>
            </a:prstGeom>
          </p:spPr>
          <p:txBody>
            <a:bodyPr anchor="ctr" rtlCol="false" tIns="0" lIns="0" bIns="0" rIns="0"/>
            <a:lstStyle/>
            <a:p>
              <a:pPr algn="l">
                <a:lnSpc>
                  <a:spcPts val="2400"/>
                </a:lnSpc>
              </a:pPr>
              <a:r>
                <a:rPr lang="en-US" sz="2000">
                  <a:solidFill>
                    <a:srgbClr val="9C7B5E"/>
                  </a:solidFill>
                  <a:latin typeface="Montserrat"/>
                  <a:ea typeface="Montserrat"/>
                  <a:cs typeface="Montserrat"/>
                  <a:sym typeface="Montserrat"/>
                </a:rPr>
                <a:t>“Lever</a:t>
              </a:r>
              <a:r>
                <a:rPr lang="en-US" sz="2000">
                  <a:solidFill>
                    <a:srgbClr val="9C7B5E"/>
                  </a:solidFill>
                  <a:latin typeface="Montserrat"/>
                  <a:ea typeface="Montserrat"/>
                  <a:cs typeface="Montserrat"/>
                  <a:sym typeface="Montserrat"/>
                </a:rPr>
                <a:t>aging AI inference to inform viral surveillance and vaccine selection”</a:t>
              </a:r>
            </a:p>
          </p:txBody>
        </p:sp>
      </p:grpSp>
      <p:grpSp>
        <p:nvGrpSpPr>
          <p:cNvPr name="Group 31" id="31"/>
          <p:cNvGrpSpPr/>
          <p:nvPr/>
        </p:nvGrpSpPr>
        <p:grpSpPr>
          <a:xfrm rot="0">
            <a:off x="993143" y="5382263"/>
            <a:ext cx="8072123" cy="2037083"/>
            <a:chOff x="0" y="0"/>
            <a:chExt cx="10762831" cy="2716111"/>
          </a:xfrm>
        </p:grpSpPr>
        <p:sp>
          <p:nvSpPr>
            <p:cNvPr name="Freeform 32" id="32"/>
            <p:cNvSpPr/>
            <p:nvPr/>
          </p:nvSpPr>
          <p:spPr>
            <a:xfrm flipH="false" flipV="false" rot="0">
              <a:off x="0" y="0"/>
              <a:ext cx="10762869" cy="2716149"/>
            </a:xfrm>
            <a:custGeom>
              <a:avLst/>
              <a:gdLst/>
              <a:ahLst/>
              <a:cxnLst/>
              <a:rect r="r" b="b" t="t" l="l"/>
              <a:pathLst>
                <a:path h="2716149" w="10762869">
                  <a:moveTo>
                    <a:pt x="571500" y="0"/>
                  </a:moveTo>
                  <a:lnTo>
                    <a:pt x="10191369" y="0"/>
                  </a:lnTo>
                  <a:cubicBezTo>
                    <a:pt x="10507000" y="0"/>
                    <a:pt x="10762869" y="255869"/>
                    <a:pt x="10762869" y="571500"/>
                  </a:cubicBezTo>
                  <a:lnTo>
                    <a:pt x="10762869" y="2144649"/>
                  </a:lnTo>
                  <a:cubicBezTo>
                    <a:pt x="10762869" y="2296220"/>
                    <a:pt x="10702658" y="2441584"/>
                    <a:pt x="10595480" y="2548761"/>
                  </a:cubicBezTo>
                  <a:cubicBezTo>
                    <a:pt x="10488303" y="2655937"/>
                    <a:pt x="10342940" y="2716149"/>
                    <a:pt x="10191369" y="2716149"/>
                  </a:cubicBezTo>
                  <a:lnTo>
                    <a:pt x="571500" y="2716149"/>
                  </a:lnTo>
                  <a:cubicBezTo>
                    <a:pt x="255869" y="2716149"/>
                    <a:pt x="0" y="2460280"/>
                    <a:pt x="0" y="2144649"/>
                  </a:cubicBezTo>
                  <a:lnTo>
                    <a:pt x="0" y="571500"/>
                  </a:lnTo>
                  <a:cubicBezTo>
                    <a:pt x="0" y="255869"/>
                    <a:pt x="255869" y="0"/>
                    <a:pt x="571500" y="0"/>
                  </a:cubicBezTo>
                  <a:close/>
                </a:path>
              </a:pathLst>
            </a:custGeom>
            <a:solidFill>
              <a:srgbClr val="FDFAF5"/>
            </a:solidFill>
            <a:ln w="25400" cap="rnd">
              <a:solidFill>
                <a:srgbClr val="D9CEBA"/>
              </a:solidFill>
              <a:prstDash val="solid"/>
              <a:round/>
            </a:ln>
          </p:spPr>
        </p:sp>
      </p:grpSp>
      <p:grpSp>
        <p:nvGrpSpPr>
          <p:cNvPr name="Group 33" id="33"/>
          <p:cNvGrpSpPr/>
          <p:nvPr/>
        </p:nvGrpSpPr>
        <p:grpSpPr>
          <a:xfrm rot="0">
            <a:off x="993143" y="5382263"/>
            <a:ext cx="1031243" cy="2037083"/>
            <a:chOff x="0" y="0"/>
            <a:chExt cx="1374991" cy="2716111"/>
          </a:xfrm>
        </p:grpSpPr>
        <p:sp>
          <p:nvSpPr>
            <p:cNvPr name="Freeform 34" id="34"/>
            <p:cNvSpPr/>
            <p:nvPr/>
          </p:nvSpPr>
          <p:spPr>
            <a:xfrm flipH="false" flipV="false" rot="0">
              <a:off x="0" y="0"/>
              <a:ext cx="1375029" cy="2716149"/>
            </a:xfrm>
            <a:custGeom>
              <a:avLst/>
              <a:gdLst/>
              <a:ahLst/>
              <a:cxnLst/>
              <a:rect r="r" b="b" t="t" l="l"/>
              <a:pathLst>
                <a:path h="2716149" w="1375029">
                  <a:moveTo>
                    <a:pt x="0" y="0"/>
                  </a:moveTo>
                  <a:lnTo>
                    <a:pt x="1375029" y="0"/>
                  </a:lnTo>
                  <a:lnTo>
                    <a:pt x="1375029" y="2716149"/>
                  </a:lnTo>
                  <a:lnTo>
                    <a:pt x="0" y="2716149"/>
                  </a:lnTo>
                  <a:close/>
                </a:path>
              </a:pathLst>
            </a:custGeom>
            <a:solidFill>
              <a:srgbClr val="7A9E87"/>
            </a:solidFill>
            <a:ln w="25400" cap="sq">
              <a:solidFill>
                <a:srgbClr val="C0714F"/>
              </a:solidFill>
              <a:prstDash val="solid"/>
              <a:miter/>
            </a:ln>
          </p:spPr>
        </p:sp>
      </p:grpSp>
      <p:grpSp>
        <p:nvGrpSpPr>
          <p:cNvPr name="Group 35" id="35"/>
          <p:cNvGrpSpPr/>
          <p:nvPr/>
        </p:nvGrpSpPr>
        <p:grpSpPr>
          <a:xfrm rot="0">
            <a:off x="1005840" y="5927246"/>
            <a:ext cx="1005840" cy="947108"/>
            <a:chOff x="0" y="0"/>
            <a:chExt cx="1341120" cy="1262811"/>
          </a:xfrm>
        </p:grpSpPr>
        <p:sp>
          <p:nvSpPr>
            <p:cNvPr name="Freeform 36" id="36"/>
            <p:cNvSpPr/>
            <p:nvPr/>
          </p:nvSpPr>
          <p:spPr>
            <a:xfrm flipH="false" flipV="false" rot="0">
              <a:off x="0" y="0"/>
              <a:ext cx="1341120" cy="1262811"/>
            </a:xfrm>
            <a:custGeom>
              <a:avLst/>
              <a:gdLst/>
              <a:ahLst/>
              <a:cxnLst/>
              <a:rect r="r" b="b" t="t" l="l"/>
              <a:pathLst>
                <a:path h="1262811" w="1341120">
                  <a:moveTo>
                    <a:pt x="0" y="0"/>
                  </a:moveTo>
                  <a:lnTo>
                    <a:pt x="1341120" y="0"/>
                  </a:lnTo>
                  <a:lnTo>
                    <a:pt x="1341120" y="1262811"/>
                  </a:lnTo>
                  <a:lnTo>
                    <a:pt x="0" y="1262811"/>
                  </a:lnTo>
                  <a:close/>
                </a:path>
              </a:pathLst>
            </a:custGeom>
            <a:blipFill>
              <a:blip r:embed="rId2">
                <a:alphaModFix amt="0"/>
              </a:blip>
              <a:stretch>
                <a:fillRect l="-206607" t="0" r="-206607" b="-112402"/>
              </a:stretch>
            </a:blipFill>
          </p:spPr>
        </p:sp>
        <p:sp>
          <p:nvSpPr>
            <p:cNvPr name="TextBox 37" id="37"/>
            <p:cNvSpPr txBox="true"/>
            <p:nvPr/>
          </p:nvSpPr>
          <p:spPr>
            <a:xfrm>
              <a:off x="0" y="0"/>
              <a:ext cx="1341120" cy="1262811"/>
            </a:xfrm>
            <a:prstGeom prst="rect">
              <a:avLst/>
            </a:prstGeom>
          </p:spPr>
          <p:txBody>
            <a:bodyPr anchor="ctr" rtlCol="false" tIns="0" lIns="0" bIns="0" rIns="0"/>
            <a:lstStyle/>
            <a:p>
              <a:pPr algn="ctr">
                <a:lnSpc>
                  <a:spcPts val="3120"/>
                </a:lnSpc>
              </a:pPr>
              <a:r>
                <a:rPr lang="en-US" sz="2600" b="true">
                  <a:solidFill>
                    <a:srgbClr val="FDFAF5"/>
                  </a:solidFill>
                  <a:latin typeface="Montserrat Bold"/>
                  <a:ea typeface="Montserrat Bold"/>
                  <a:cs typeface="Montserrat Bold"/>
                  <a:sym typeface="Montserrat Bold"/>
                </a:rPr>
                <a:t>03</a:t>
              </a:r>
            </a:p>
          </p:txBody>
        </p:sp>
      </p:grpSp>
      <p:grpSp>
        <p:nvGrpSpPr>
          <p:cNvPr name="Group 38" id="38"/>
          <p:cNvGrpSpPr/>
          <p:nvPr/>
        </p:nvGrpSpPr>
        <p:grpSpPr>
          <a:xfrm rot="0">
            <a:off x="2426899" y="5770971"/>
            <a:ext cx="6400800" cy="768096"/>
            <a:chOff x="0" y="0"/>
            <a:chExt cx="8534400" cy="1024128"/>
          </a:xfrm>
        </p:grpSpPr>
        <p:sp>
          <p:nvSpPr>
            <p:cNvPr name="Freeform 39" id="39"/>
            <p:cNvSpPr/>
            <p:nvPr/>
          </p:nvSpPr>
          <p:spPr>
            <a:xfrm flipH="false" flipV="false" rot="0">
              <a:off x="0" y="0"/>
              <a:ext cx="8534400" cy="1024128"/>
            </a:xfrm>
            <a:custGeom>
              <a:avLst/>
              <a:gdLst/>
              <a:ahLst/>
              <a:cxnLst/>
              <a:rect r="r" b="b" t="t" l="l"/>
              <a:pathLst>
                <a:path h="1024128" w="8534400">
                  <a:moveTo>
                    <a:pt x="0" y="0"/>
                  </a:moveTo>
                  <a:lnTo>
                    <a:pt x="8534400" y="0"/>
                  </a:lnTo>
                  <a:lnTo>
                    <a:pt x="8534400" y="1024128"/>
                  </a:lnTo>
                  <a:lnTo>
                    <a:pt x="0" y="1024128"/>
                  </a:lnTo>
                  <a:close/>
                </a:path>
              </a:pathLst>
            </a:custGeom>
            <a:blipFill>
              <a:blip r:embed="rId2">
                <a:alphaModFix amt="0"/>
              </a:blip>
              <a:stretch>
                <a:fillRect l="0" t="-112375" r="0" b="-112375"/>
              </a:stretch>
            </a:blipFill>
          </p:spPr>
        </p:sp>
        <p:sp>
          <p:nvSpPr>
            <p:cNvPr name="TextBox 40" id="40"/>
            <p:cNvSpPr txBox="true"/>
            <p:nvPr/>
          </p:nvSpPr>
          <p:spPr>
            <a:xfrm>
              <a:off x="0" y="0"/>
              <a:ext cx="8534400" cy="1024128"/>
            </a:xfrm>
            <a:prstGeom prst="rect">
              <a:avLst/>
            </a:prstGeom>
          </p:spPr>
          <p:txBody>
            <a:bodyPr anchor="ctr" rtlCol="false" tIns="0" lIns="0" bIns="0" rIns="0"/>
            <a:lstStyle/>
            <a:p>
              <a:pPr algn="l">
                <a:lnSpc>
                  <a:spcPts val="3120"/>
                </a:lnSpc>
              </a:pPr>
              <a:r>
                <a:rPr lang="en-US" sz="2600" b="true">
                  <a:solidFill>
                    <a:srgbClr val="6B4F3A"/>
                  </a:solidFill>
                  <a:latin typeface="Montserrat Bold"/>
                  <a:ea typeface="Montserrat Bold"/>
                  <a:cs typeface="Montserrat Bold"/>
                  <a:sym typeface="Montserrat Bold"/>
                </a:rPr>
                <a:t>Internship Learnings</a:t>
              </a:r>
            </a:p>
          </p:txBody>
        </p:sp>
      </p:grpSp>
      <p:grpSp>
        <p:nvGrpSpPr>
          <p:cNvPr name="Group 41" id="41"/>
          <p:cNvGrpSpPr/>
          <p:nvPr/>
        </p:nvGrpSpPr>
        <p:grpSpPr>
          <a:xfrm rot="0">
            <a:off x="2426899" y="6293844"/>
            <a:ext cx="6400800" cy="694944"/>
            <a:chOff x="0" y="0"/>
            <a:chExt cx="8534400" cy="926592"/>
          </a:xfrm>
        </p:grpSpPr>
        <p:sp>
          <p:nvSpPr>
            <p:cNvPr name="Freeform 42" id="42"/>
            <p:cNvSpPr/>
            <p:nvPr/>
          </p:nvSpPr>
          <p:spPr>
            <a:xfrm flipH="false" flipV="false" rot="0">
              <a:off x="0" y="0"/>
              <a:ext cx="8534400" cy="926592"/>
            </a:xfrm>
            <a:custGeom>
              <a:avLst/>
              <a:gdLst/>
              <a:ahLst/>
              <a:cxnLst/>
              <a:rect r="r" b="b" t="t" l="l"/>
              <a:pathLst>
                <a:path h="926592" w="8534400">
                  <a:moveTo>
                    <a:pt x="0" y="0"/>
                  </a:moveTo>
                  <a:lnTo>
                    <a:pt x="8534400" y="0"/>
                  </a:lnTo>
                  <a:lnTo>
                    <a:pt x="8534400" y="926592"/>
                  </a:lnTo>
                  <a:lnTo>
                    <a:pt x="0" y="926592"/>
                  </a:lnTo>
                  <a:close/>
                </a:path>
              </a:pathLst>
            </a:custGeom>
            <a:blipFill>
              <a:blip r:embed="rId2">
                <a:alphaModFix amt="0"/>
              </a:blip>
              <a:stretch>
                <a:fillRect l="0" t="-129467" r="0" b="-129467"/>
              </a:stretch>
            </a:blipFill>
          </p:spPr>
        </p:sp>
        <p:sp>
          <p:nvSpPr>
            <p:cNvPr name="TextBox 43" id="43"/>
            <p:cNvSpPr txBox="true"/>
            <p:nvPr/>
          </p:nvSpPr>
          <p:spPr>
            <a:xfrm>
              <a:off x="0" y="0"/>
              <a:ext cx="8534400" cy="926592"/>
            </a:xfrm>
            <a:prstGeom prst="rect">
              <a:avLst/>
            </a:prstGeom>
          </p:spPr>
          <p:txBody>
            <a:bodyPr anchor="ctr" rtlCol="false" tIns="0" lIns="0" bIns="0" rIns="0"/>
            <a:lstStyle/>
            <a:p>
              <a:pPr algn="l">
                <a:lnSpc>
                  <a:spcPts val="2400"/>
                </a:lnSpc>
              </a:pPr>
              <a:r>
                <a:rPr lang="en-US" sz="2000">
                  <a:solidFill>
                    <a:srgbClr val="9C7B5E"/>
                  </a:solidFill>
                  <a:latin typeface="Montserrat"/>
                  <a:ea typeface="Montserrat"/>
                  <a:cs typeface="Montserrat"/>
                  <a:sym typeface="Montserrat"/>
                </a:rPr>
                <a:t>Some key takeaways </a:t>
              </a:r>
            </a:p>
          </p:txBody>
        </p:sp>
      </p:grpSp>
      <p:sp>
        <p:nvSpPr>
          <p:cNvPr name="TextBox 44" id="44"/>
          <p:cNvSpPr txBox="true"/>
          <p:nvPr/>
        </p:nvSpPr>
        <p:spPr>
          <a:xfrm rot="0">
            <a:off x="1097280" y="2065020"/>
            <a:ext cx="7730419" cy="396277"/>
          </a:xfrm>
          <a:prstGeom prst="rect">
            <a:avLst/>
          </a:prstGeom>
        </p:spPr>
        <p:txBody>
          <a:bodyPr anchor="t" rtlCol="false" tIns="0" lIns="0" bIns="0" rIns="0">
            <a:spAutoFit/>
          </a:bodyPr>
          <a:lstStyle/>
          <a:p>
            <a:pPr algn="l">
              <a:lnSpc>
                <a:spcPts val="3359"/>
              </a:lnSpc>
            </a:pPr>
            <a:r>
              <a:rPr lang="en-US" sz="2400">
                <a:solidFill>
                  <a:srgbClr val="9C7B5E"/>
                </a:solidFill>
                <a:latin typeface="Montserrat"/>
                <a:ea typeface="Montserrat"/>
                <a:cs typeface="Montserrat"/>
                <a:sym typeface="Montserrat"/>
              </a:rPr>
              <a:t>A cl</a:t>
            </a:r>
            <a:r>
              <a:rPr lang="en-US" sz="2400">
                <a:solidFill>
                  <a:srgbClr val="9C7B5E"/>
                </a:solidFill>
                <a:latin typeface="Montserrat"/>
                <a:ea typeface="Montserrat"/>
                <a:cs typeface="Montserrat"/>
                <a:sym typeface="Montserrat"/>
              </a:rPr>
              <a:t>ear roadmap of today's presentation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0E8"/>
        </a:solidFill>
      </p:bgPr>
    </p:bg>
    <p:spTree>
      <p:nvGrpSpPr>
        <p:cNvPr id="1" name=""/>
        <p:cNvGrpSpPr/>
        <p:nvPr/>
      </p:nvGrpSpPr>
      <p:grpSpPr>
        <a:xfrm>
          <a:off x="0" y="0"/>
          <a:ext cx="0" cy="0"/>
          <a:chOff x="0" y="0"/>
          <a:chExt cx="0" cy="0"/>
        </a:xfrm>
      </p:grpSpPr>
      <p:grpSp>
        <p:nvGrpSpPr>
          <p:cNvPr name="Group 2" id="2"/>
          <p:cNvGrpSpPr/>
          <p:nvPr/>
        </p:nvGrpSpPr>
        <p:grpSpPr>
          <a:xfrm rot="0">
            <a:off x="1097280" y="822960"/>
            <a:ext cx="16459200" cy="1279601"/>
            <a:chOff x="0" y="0"/>
            <a:chExt cx="21945600" cy="1706135"/>
          </a:xfrm>
        </p:grpSpPr>
        <p:sp>
          <p:nvSpPr>
            <p:cNvPr name="Freeform 3" id="3"/>
            <p:cNvSpPr/>
            <p:nvPr/>
          </p:nvSpPr>
          <p:spPr>
            <a:xfrm flipH="false" flipV="false" rot="0">
              <a:off x="0" y="0"/>
              <a:ext cx="21945600" cy="1706135"/>
            </a:xfrm>
            <a:custGeom>
              <a:avLst/>
              <a:gdLst/>
              <a:ahLst/>
              <a:cxnLst/>
              <a:rect r="r" b="b" t="t" l="l"/>
              <a:pathLst>
                <a:path h="1706135" w="21945600">
                  <a:moveTo>
                    <a:pt x="0" y="0"/>
                  </a:moveTo>
                  <a:lnTo>
                    <a:pt x="21945600" y="0"/>
                  </a:lnTo>
                  <a:lnTo>
                    <a:pt x="21945600" y="1706135"/>
                  </a:lnTo>
                  <a:lnTo>
                    <a:pt x="0" y="1706135"/>
                  </a:lnTo>
                  <a:close/>
                </a:path>
              </a:pathLst>
            </a:custGeom>
            <a:blipFill>
              <a:blip r:embed="rId3">
                <a:alphaModFix amt="0"/>
              </a:blip>
              <a:stretch>
                <a:fillRect l="0" t="-204182" r="0" b="-197080"/>
              </a:stretch>
            </a:blipFill>
          </p:spPr>
        </p:sp>
        <p:sp>
          <p:nvSpPr>
            <p:cNvPr name="TextBox 4" id="4"/>
            <p:cNvSpPr txBox="true"/>
            <p:nvPr/>
          </p:nvSpPr>
          <p:spPr>
            <a:xfrm>
              <a:off x="0" y="0"/>
              <a:ext cx="21945600" cy="1706135"/>
            </a:xfrm>
            <a:prstGeom prst="rect">
              <a:avLst/>
            </a:prstGeom>
          </p:spPr>
          <p:txBody>
            <a:bodyPr anchor="ctr" rtlCol="false" tIns="0" lIns="0" bIns="0" rIns="0"/>
            <a:lstStyle/>
            <a:p>
              <a:pPr algn="l">
                <a:lnSpc>
                  <a:spcPts val="7680"/>
                </a:lnSpc>
              </a:pPr>
              <a:r>
                <a:rPr lang="en-US" sz="6400" b="true">
                  <a:solidFill>
                    <a:srgbClr val="6B4F3A"/>
                  </a:solidFill>
                  <a:latin typeface="Montserrat Bold"/>
                  <a:ea typeface="Montserrat Bold"/>
                  <a:cs typeface="Montserrat Bold"/>
                  <a:sym typeface="Montserrat Bold"/>
                </a:rPr>
                <a:t>P</a:t>
              </a:r>
              <a:r>
                <a:rPr lang="en-US" sz="6400" b="true">
                  <a:solidFill>
                    <a:srgbClr val="6B4F3A"/>
                  </a:solidFill>
                  <a:latin typeface="Montserrat Bold"/>
                  <a:ea typeface="Montserrat Bold"/>
                  <a:cs typeface="Montserrat Bold"/>
                  <a:sym typeface="Montserrat Bold"/>
                </a:rPr>
                <a:t>roject VicExtinct</a:t>
              </a:r>
            </a:p>
          </p:txBody>
        </p:sp>
      </p:grpSp>
      <p:grpSp>
        <p:nvGrpSpPr>
          <p:cNvPr name="Group 5" id="5"/>
          <p:cNvGrpSpPr/>
          <p:nvPr/>
        </p:nvGrpSpPr>
        <p:grpSpPr>
          <a:xfrm rot="0">
            <a:off x="1097280" y="1975104"/>
            <a:ext cx="15544800" cy="694944"/>
            <a:chOff x="0" y="0"/>
            <a:chExt cx="20726400" cy="926592"/>
          </a:xfrm>
        </p:grpSpPr>
        <p:sp>
          <p:nvSpPr>
            <p:cNvPr name="Freeform 6" id="6"/>
            <p:cNvSpPr/>
            <p:nvPr/>
          </p:nvSpPr>
          <p:spPr>
            <a:xfrm flipH="false" flipV="false" rot="0">
              <a:off x="0" y="0"/>
              <a:ext cx="20726400" cy="926592"/>
            </a:xfrm>
            <a:custGeom>
              <a:avLst/>
              <a:gdLst/>
              <a:ahLst/>
              <a:cxnLst/>
              <a:rect r="r" b="b" t="t" l="l"/>
              <a:pathLst>
                <a:path h="926592" w="20726400">
                  <a:moveTo>
                    <a:pt x="0" y="0"/>
                  </a:moveTo>
                  <a:lnTo>
                    <a:pt x="20726400" y="0"/>
                  </a:lnTo>
                  <a:lnTo>
                    <a:pt x="20726400" y="926592"/>
                  </a:lnTo>
                  <a:lnTo>
                    <a:pt x="0" y="926592"/>
                  </a:lnTo>
                  <a:close/>
                </a:path>
              </a:pathLst>
            </a:custGeom>
            <a:blipFill>
              <a:blip r:embed="rId3">
                <a:alphaModFix amt="0"/>
              </a:blip>
              <a:stretch>
                <a:fillRect l="0" t="-385849" r="0" b="-385849"/>
              </a:stretch>
            </a:blipFill>
          </p:spPr>
        </p:sp>
        <p:sp>
          <p:nvSpPr>
            <p:cNvPr name="TextBox 7" id="7"/>
            <p:cNvSpPr txBox="true"/>
            <p:nvPr/>
          </p:nvSpPr>
          <p:spPr>
            <a:xfrm>
              <a:off x="0" y="9525"/>
              <a:ext cx="20726400" cy="917067"/>
            </a:xfrm>
            <a:prstGeom prst="rect">
              <a:avLst/>
            </a:prstGeom>
          </p:spPr>
          <p:txBody>
            <a:bodyPr anchor="ctr" rtlCol="false" tIns="0" lIns="0" bIns="0" rIns="0"/>
            <a:lstStyle/>
            <a:p>
              <a:pPr algn="l">
                <a:lnSpc>
                  <a:spcPts val="2879"/>
                </a:lnSpc>
              </a:pPr>
              <a:r>
                <a:rPr lang="en-US" sz="2400">
                  <a:solidFill>
                    <a:srgbClr val="000000"/>
                  </a:solidFill>
                  <a:latin typeface="Montserrat"/>
                  <a:ea typeface="Montserrat"/>
                  <a:cs typeface="Montserrat"/>
                  <a:sym typeface="Montserrat"/>
                </a:rPr>
                <a:t>“Wo</a:t>
              </a:r>
              <a:r>
                <a:rPr lang="en-US" sz="2400">
                  <a:solidFill>
                    <a:srgbClr val="000000"/>
                  </a:solidFill>
                  <a:latin typeface="Montserrat"/>
                  <a:ea typeface="Montserrat"/>
                  <a:cs typeface="Montserrat"/>
                  <a:sym typeface="Montserrat"/>
                </a:rPr>
                <a:t>rkflows for marine biodiversity data to model species extinctions in Victoria”</a:t>
              </a:r>
            </a:p>
          </p:txBody>
        </p:sp>
      </p:grpSp>
      <p:grpSp>
        <p:nvGrpSpPr>
          <p:cNvPr name="Group 8" id="8"/>
          <p:cNvGrpSpPr/>
          <p:nvPr/>
        </p:nvGrpSpPr>
        <p:grpSpPr>
          <a:xfrm rot="0">
            <a:off x="993143" y="3004823"/>
            <a:ext cx="3683003" cy="6426203"/>
            <a:chOff x="0" y="0"/>
            <a:chExt cx="4910671" cy="8568271"/>
          </a:xfrm>
        </p:grpSpPr>
        <p:sp>
          <p:nvSpPr>
            <p:cNvPr name="Freeform 9" id="9"/>
            <p:cNvSpPr/>
            <p:nvPr/>
          </p:nvSpPr>
          <p:spPr>
            <a:xfrm flipH="false" flipV="false" rot="0">
              <a:off x="0" y="0"/>
              <a:ext cx="4910709" cy="8568309"/>
            </a:xfrm>
            <a:custGeom>
              <a:avLst/>
              <a:gdLst/>
              <a:ahLst/>
              <a:cxnLst/>
              <a:rect r="r" b="b" t="t" l="l"/>
              <a:pathLst>
                <a:path h="8568309" w="4910709">
                  <a:moveTo>
                    <a:pt x="571500" y="0"/>
                  </a:moveTo>
                  <a:lnTo>
                    <a:pt x="4339209" y="0"/>
                  </a:lnTo>
                  <a:cubicBezTo>
                    <a:pt x="4490781" y="0"/>
                    <a:pt x="4636144" y="60211"/>
                    <a:pt x="4743321" y="167388"/>
                  </a:cubicBezTo>
                  <a:cubicBezTo>
                    <a:pt x="4850498" y="274566"/>
                    <a:pt x="4910709" y="419929"/>
                    <a:pt x="4910709" y="571500"/>
                  </a:cubicBezTo>
                  <a:lnTo>
                    <a:pt x="4910709" y="7996809"/>
                  </a:lnTo>
                  <a:cubicBezTo>
                    <a:pt x="4910709" y="8312440"/>
                    <a:pt x="4654840" y="8568309"/>
                    <a:pt x="4339209" y="8568309"/>
                  </a:cubicBezTo>
                  <a:lnTo>
                    <a:pt x="571500" y="8568309"/>
                  </a:lnTo>
                  <a:cubicBezTo>
                    <a:pt x="419929" y="8568309"/>
                    <a:pt x="274566" y="8508098"/>
                    <a:pt x="167388" y="8400921"/>
                  </a:cubicBezTo>
                  <a:cubicBezTo>
                    <a:pt x="60211" y="8293743"/>
                    <a:pt x="0" y="8148380"/>
                    <a:pt x="0" y="7996809"/>
                  </a:cubicBezTo>
                  <a:lnTo>
                    <a:pt x="0" y="571500"/>
                  </a:lnTo>
                  <a:cubicBezTo>
                    <a:pt x="0" y="255869"/>
                    <a:pt x="255869" y="0"/>
                    <a:pt x="571500" y="0"/>
                  </a:cubicBezTo>
                  <a:close/>
                </a:path>
              </a:pathLst>
            </a:custGeom>
            <a:solidFill>
              <a:srgbClr val="FDFAF5"/>
            </a:solidFill>
            <a:ln w="25400" cap="rnd">
              <a:solidFill>
                <a:srgbClr val="D9CEBA"/>
              </a:solidFill>
              <a:prstDash val="solid"/>
              <a:round/>
            </a:ln>
          </p:spPr>
        </p:sp>
      </p:grpSp>
      <p:grpSp>
        <p:nvGrpSpPr>
          <p:cNvPr name="Group 10" id="10"/>
          <p:cNvGrpSpPr/>
          <p:nvPr/>
        </p:nvGrpSpPr>
        <p:grpSpPr>
          <a:xfrm rot="0">
            <a:off x="2273303" y="4020817"/>
            <a:ext cx="1122683" cy="1122683"/>
            <a:chOff x="0" y="0"/>
            <a:chExt cx="1496911" cy="1496911"/>
          </a:xfrm>
        </p:grpSpPr>
        <p:sp>
          <p:nvSpPr>
            <p:cNvPr name="Freeform 11" id="11"/>
            <p:cNvSpPr/>
            <p:nvPr/>
          </p:nvSpPr>
          <p:spPr>
            <a:xfrm flipH="false" flipV="false" rot="0">
              <a:off x="0" y="0"/>
              <a:ext cx="1496822" cy="1496822"/>
            </a:xfrm>
            <a:custGeom>
              <a:avLst/>
              <a:gdLst/>
              <a:ahLst/>
              <a:cxnLst/>
              <a:rect r="r" b="b" t="t" l="l"/>
              <a:pathLst>
                <a:path h="1496822" w="1496822">
                  <a:moveTo>
                    <a:pt x="0" y="748411"/>
                  </a:moveTo>
                  <a:cubicBezTo>
                    <a:pt x="0" y="335153"/>
                    <a:pt x="335153" y="0"/>
                    <a:pt x="748411" y="0"/>
                  </a:cubicBezTo>
                  <a:cubicBezTo>
                    <a:pt x="1161669" y="0"/>
                    <a:pt x="1496822" y="335153"/>
                    <a:pt x="1496822" y="748411"/>
                  </a:cubicBezTo>
                  <a:cubicBezTo>
                    <a:pt x="1496822" y="1161669"/>
                    <a:pt x="1161669" y="1496822"/>
                    <a:pt x="748411" y="1496822"/>
                  </a:cubicBezTo>
                  <a:cubicBezTo>
                    <a:pt x="335153" y="1496822"/>
                    <a:pt x="0" y="1161796"/>
                    <a:pt x="0" y="748411"/>
                  </a:cubicBezTo>
                  <a:close/>
                </a:path>
              </a:pathLst>
            </a:custGeom>
            <a:solidFill>
              <a:srgbClr val="C0714F"/>
            </a:solidFill>
            <a:ln w="25400" cap="sq">
              <a:solidFill>
                <a:srgbClr val="C0714F"/>
              </a:solidFill>
              <a:prstDash val="solid"/>
              <a:miter/>
            </a:ln>
          </p:spPr>
        </p:sp>
      </p:grpSp>
      <p:grpSp>
        <p:nvGrpSpPr>
          <p:cNvPr name="Group 12" id="12"/>
          <p:cNvGrpSpPr/>
          <p:nvPr/>
        </p:nvGrpSpPr>
        <p:grpSpPr>
          <a:xfrm rot="0">
            <a:off x="2286000" y="4033514"/>
            <a:ext cx="1097280" cy="1097280"/>
            <a:chOff x="0" y="0"/>
            <a:chExt cx="1463040" cy="1463040"/>
          </a:xfrm>
        </p:grpSpPr>
        <p:sp>
          <p:nvSpPr>
            <p:cNvPr name="Freeform 13" id="13"/>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close/>
                </a:path>
              </a:pathLst>
            </a:custGeom>
            <a:blipFill>
              <a:blip r:embed="rId3">
                <a:alphaModFix amt="0"/>
              </a:blip>
              <a:stretch>
                <a:fillRect l="-78303" t="0" r="-78303" b="0"/>
              </a:stretch>
            </a:blipFill>
          </p:spPr>
        </p:sp>
        <p:sp>
          <p:nvSpPr>
            <p:cNvPr name="TextBox 14" id="14"/>
            <p:cNvSpPr txBox="true"/>
            <p:nvPr/>
          </p:nvSpPr>
          <p:spPr>
            <a:xfrm>
              <a:off x="0" y="9525"/>
              <a:ext cx="1463040" cy="1453515"/>
            </a:xfrm>
            <a:prstGeom prst="rect">
              <a:avLst/>
            </a:prstGeom>
          </p:spPr>
          <p:txBody>
            <a:bodyPr anchor="ctr" rtlCol="false" tIns="0" lIns="0" bIns="0" rIns="0"/>
            <a:lstStyle/>
            <a:p>
              <a:pPr algn="ctr">
                <a:lnSpc>
                  <a:spcPts val="3359"/>
                </a:lnSpc>
              </a:pPr>
              <a:r>
                <a:rPr lang="en-US" sz="2799" b="true">
                  <a:solidFill>
                    <a:srgbClr val="FDFAF5"/>
                  </a:solidFill>
                  <a:latin typeface="Montserrat Bold"/>
                  <a:ea typeface="Montserrat Bold"/>
                  <a:cs typeface="Montserrat Bold"/>
                  <a:sym typeface="Montserrat Bold"/>
                </a:rPr>
                <a:t>1</a:t>
              </a:r>
            </a:p>
          </p:txBody>
        </p:sp>
      </p:grpSp>
      <p:grpSp>
        <p:nvGrpSpPr>
          <p:cNvPr name="Group 15" id="15"/>
          <p:cNvGrpSpPr/>
          <p:nvPr/>
        </p:nvGrpSpPr>
        <p:grpSpPr>
          <a:xfrm rot="0">
            <a:off x="1280160" y="5303525"/>
            <a:ext cx="3108960" cy="914400"/>
            <a:chOff x="0" y="0"/>
            <a:chExt cx="4145280" cy="1219200"/>
          </a:xfrm>
        </p:grpSpPr>
        <p:sp>
          <p:nvSpPr>
            <p:cNvPr name="Freeform 16" id="16"/>
            <p:cNvSpPr/>
            <p:nvPr/>
          </p:nvSpPr>
          <p:spPr>
            <a:xfrm flipH="false" flipV="false" rot="0">
              <a:off x="0" y="0"/>
              <a:ext cx="4145280" cy="1219200"/>
            </a:xfrm>
            <a:custGeom>
              <a:avLst/>
              <a:gdLst/>
              <a:ahLst/>
              <a:cxnLst/>
              <a:rect r="r" b="b" t="t" l="l"/>
              <a:pathLst>
                <a:path h="1219200" w="4145280">
                  <a:moveTo>
                    <a:pt x="0" y="0"/>
                  </a:moveTo>
                  <a:lnTo>
                    <a:pt x="4145280" y="0"/>
                  </a:lnTo>
                  <a:lnTo>
                    <a:pt x="4145280" y="1219200"/>
                  </a:lnTo>
                  <a:lnTo>
                    <a:pt x="0" y="1219200"/>
                  </a:lnTo>
                  <a:close/>
                </a:path>
              </a:pathLst>
            </a:custGeom>
            <a:blipFill>
              <a:blip r:embed="rId3">
                <a:alphaModFix amt="0"/>
              </a:blip>
              <a:stretch>
                <a:fillRect l="0" t="-16249" r="0" b="-16249"/>
              </a:stretch>
            </a:blipFill>
          </p:spPr>
        </p:sp>
        <p:sp>
          <p:nvSpPr>
            <p:cNvPr name="TextBox 17" id="17"/>
            <p:cNvSpPr txBox="true"/>
            <p:nvPr/>
          </p:nvSpPr>
          <p:spPr>
            <a:xfrm>
              <a:off x="0" y="9525"/>
              <a:ext cx="4145280" cy="1209675"/>
            </a:xfrm>
            <a:prstGeom prst="rect">
              <a:avLst/>
            </a:prstGeom>
          </p:spPr>
          <p:txBody>
            <a:bodyPr anchor="ctr" rtlCol="false" tIns="0" lIns="0" bIns="0" rIns="0"/>
            <a:lstStyle/>
            <a:p>
              <a:pPr algn="ctr">
                <a:lnSpc>
                  <a:spcPts val="2879"/>
                </a:lnSpc>
              </a:pPr>
              <a:r>
                <a:rPr lang="en-US" sz="2400" b="true">
                  <a:solidFill>
                    <a:srgbClr val="6B4F3A"/>
                  </a:solidFill>
                  <a:latin typeface="Montserrat Bold"/>
                  <a:ea typeface="Montserrat Bold"/>
                  <a:cs typeface="Montserrat Bold"/>
                  <a:sym typeface="Montserrat Bold"/>
                </a:rPr>
                <a:t>CONTEXT</a:t>
              </a:r>
            </a:p>
          </p:txBody>
        </p:sp>
      </p:grpSp>
      <p:grpSp>
        <p:nvGrpSpPr>
          <p:cNvPr name="Group 18" id="18"/>
          <p:cNvGrpSpPr/>
          <p:nvPr/>
        </p:nvGrpSpPr>
        <p:grpSpPr>
          <a:xfrm rot="0">
            <a:off x="1188720" y="5943600"/>
            <a:ext cx="3291840" cy="3108960"/>
            <a:chOff x="0" y="0"/>
            <a:chExt cx="4389120" cy="4145280"/>
          </a:xfrm>
        </p:grpSpPr>
        <p:sp>
          <p:nvSpPr>
            <p:cNvPr name="Freeform 19" id="19"/>
            <p:cNvSpPr/>
            <p:nvPr/>
          </p:nvSpPr>
          <p:spPr>
            <a:xfrm flipH="false" flipV="false" rot="0">
              <a:off x="0" y="0"/>
              <a:ext cx="4389120" cy="4145280"/>
            </a:xfrm>
            <a:custGeom>
              <a:avLst/>
              <a:gdLst/>
              <a:ahLst/>
              <a:cxnLst/>
              <a:rect r="r" b="b" t="t" l="l"/>
              <a:pathLst>
                <a:path h="4145280" w="4389120">
                  <a:moveTo>
                    <a:pt x="0" y="0"/>
                  </a:moveTo>
                  <a:lnTo>
                    <a:pt x="4389120" y="0"/>
                  </a:lnTo>
                  <a:lnTo>
                    <a:pt x="4389120" y="4145280"/>
                  </a:lnTo>
                  <a:lnTo>
                    <a:pt x="0" y="4145280"/>
                  </a:lnTo>
                  <a:close/>
                </a:path>
              </a:pathLst>
            </a:custGeom>
            <a:blipFill>
              <a:blip r:embed="rId3">
                <a:alphaModFix amt="0"/>
              </a:blip>
              <a:stretch>
                <a:fillRect l="-73953" t="0" r="-68397" b="0"/>
              </a:stretch>
            </a:blipFill>
          </p:spPr>
        </p:sp>
        <p:sp>
          <p:nvSpPr>
            <p:cNvPr name="TextBox 20" id="20"/>
            <p:cNvSpPr txBox="true"/>
            <p:nvPr/>
          </p:nvSpPr>
          <p:spPr>
            <a:xfrm>
              <a:off x="0" y="0"/>
              <a:ext cx="4389120" cy="4145280"/>
            </a:xfrm>
            <a:prstGeom prst="rect">
              <a:avLst/>
            </a:prstGeom>
          </p:spPr>
          <p:txBody>
            <a:bodyPr anchor="ctr" rtlCol="false" tIns="0" lIns="0" bIns="0" rIns="0"/>
            <a:lstStyle/>
            <a:p>
              <a:pPr algn="l" marL="431801" indent="-215900" lvl="1">
                <a:lnSpc>
                  <a:spcPts val="2400"/>
                </a:lnSpc>
                <a:buFont typeface="Arial"/>
                <a:buChar char="•"/>
              </a:pPr>
              <a:r>
                <a:rPr lang="en-US" sz="2000">
                  <a:solidFill>
                    <a:srgbClr val="000000"/>
                  </a:solidFill>
                  <a:latin typeface="Montserrat"/>
                  <a:ea typeface="Montserrat"/>
                  <a:cs typeface="Montserrat"/>
                  <a:sym typeface="Montserrat"/>
                </a:rPr>
                <a:t>Marine biodiversity in Victoria is changing rapidly</a:t>
              </a:r>
            </a:p>
            <a:p>
              <a:pPr algn="l" marL="431801" indent="-215900" lvl="1">
                <a:lnSpc>
                  <a:spcPts val="2400"/>
                </a:lnSpc>
                <a:buFont typeface="Arial"/>
                <a:buChar char="•"/>
              </a:pPr>
              <a:r>
                <a:rPr lang="en-US" sz="2000">
                  <a:solidFill>
                    <a:srgbClr val="000000"/>
                  </a:solidFill>
                  <a:latin typeface="Montserrat"/>
                  <a:ea typeface="Montserrat"/>
                  <a:cs typeface="Montserrat"/>
                  <a:sym typeface="Montserrat"/>
                </a:rPr>
                <a:t>N</a:t>
              </a:r>
              <a:r>
                <a:rPr lang="en-US" sz="2000">
                  <a:solidFill>
                    <a:srgbClr val="000000"/>
                  </a:solidFill>
                  <a:latin typeface="Montserrat"/>
                  <a:ea typeface="Montserrat"/>
                  <a:cs typeface="Montserrat"/>
                  <a:sym typeface="Montserrat"/>
                </a:rPr>
                <a:t>o integrated dataset to indicate which species occurs and their location along the coast</a:t>
              </a:r>
            </a:p>
          </p:txBody>
        </p:sp>
      </p:grpSp>
      <p:grpSp>
        <p:nvGrpSpPr>
          <p:cNvPr name="Group 21" id="21"/>
          <p:cNvGrpSpPr/>
          <p:nvPr/>
        </p:nvGrpSpPr>
        <p:grpSpPr>
          <a:xfrm rot="0">
            <a:off x="4650743" y="3004823"/>
            <a:ext cx="4231643" cy="6426203"/>
            <a:chOff x="0" y="0"/>
            <a:chExt cx="5642191" cy="8568271"/>
          </a:xfrm>
        </p:grpSpPr>
        <p:grpSp>
          <p:nvGrpSpPr>
            <p:cNvPr name="Group 22" id="22"/>
            <p:cNvGrpSpPr/>
            <p:nvPr/>
          </p:nvGrpSpPr>
          <p:grpSpPr>
            <a:xfrm rot="0">
              <a:off x="0" y="2365248"/>
              <a:ext cx="765391" cy="131407"/>
              <a:chOff x="0" y="0"/>
              <a:chExt cx="765391" cy="131407"/>
            </a:xfrm>
          </p:grpSpPr>
          <p:sp>
            <p:nvSpPr>
              <p:cNvPr name="Freeform 23" id="23"/>
              <p:cNvSpPr/>
              <p:nvPr/>
            </p:nvSpPr>
            <p:spPr>
              <a:xfrm flipH="false" flipV="false" rot="0">
                <a:off x="0" y="0"/>
                <a:ext cx="765429" cy="131445"/>
              </a:xfrm>
              <a:custGeom>
                <a:avLst/>
                <a:gdLst/>
                <a:ahLst/>
                <a:cxnLst/>
                <a:rect r="r" b="b" t="t" l="l"/>
                <a:pathLst>
                  <a:path h="131445" w="765429">
                    <a:moveTo>
                      <a:pt x="0" y="0"/>
                    </a:moveTo>
                    <a:lnTo>
                      <a:pt x="765429" y="0"/>
                    </a:lnTo>
                    <a:lnTo>
                      <a:pt x="765429" y="131445"/>
                    </a:lnTo>
                    <a:lnTo>
                      <a:pt x="0" y="131445"/>
                    </a:lnTo>
                    <a:close/>
                  </a:path>
                </a:pathLst>
              </a:custGeom>
              <a:solidFill>
                <a:srgbClr val="D9CEBA"/>
              </a:solidFill>
              <a:ln w="25400" cap="sq">
                <a:solidFill>
                  <a:srgbClr val="D9CEBA"/>
                </a:solidFill>
                <a:prstDash val="solid"/>
                <a:miter/>
              </a:ln>
            </p:spPr>
          </p:sp>
        </p:grpSp>
        <p:grpSp>
          <p:nvGrpSpPr>
            <p:cNvPr name="Group 24" id="24"/>
            <p:cNvGrpSpPr/>
            <p:nvPr/>
          </p:nvGrpSpPr>
          <p:grpSpPr>
            <a:xfrm rot="0">
              <a:off x="731520" y="0"/>
              <a:ext cx="4910671" cy="8568271"/>
              <a:chOff x="0" y="0"/>
              <a:chExt cx="4910671" cy="8568271"/>
            </a:xfrm>
          </p:grpSpPr>
          <p:sp>
            <p:nvSpPr>
              <p:cNvPr name="Freeform 25" id="25"/>
              <p:cNvSpPr/>
              <p:nvPr/>
            </p:nvSpPr>
            <p:spPr>
              <a:xfrm flipH="false" flipV="false" rot="0">
                <a:off x="0" y="0"/>
                <a:ext cx="4910709" cy="8568309"/>
              </a:xfrm>
              <a:custGeom>
                <a:avLst/>
                <a:gdLst/>
                <a:ahLst/>
                <a:cxnLst/>
                <a:rect r="r" b="b" t="t" l="l"/>
                <a:pathLst>
                  <a:path h="8568309" w="4910709">
                    <a:moveTo>
                      <a:pt x="571500" y="0"/>
                    </a:moveTo>
                    <a:lnTo>
                      <a:pt x="4339209" y="0"/>
                    </a:lnTo>
                    <a:cubicBezTo>
                      <a:pt x="4490781" y="0"/>
                      <a:pt x="4636144" y="60211"/>
                      <a:pt x="4743321" y="167388"/>
                    </a:cubicBezTo>
                    <a:cubicBezTo>
                      <a:pt x="4850498" y="274566"/>
                      <a:pt x="4910709" y="419929"/>
                      <a:pt x="4910709" y="571500"/>
                    </a:cubicBezTo>
                    <a:lnTo>
                      <a:pt x="4910709" y="7996809"/>
                    </a:lnTo>
                    <a:cubicBezTo>
                      <a:pt x="4910709" y="8312440"/>
                      <a:pt x="4654840" y="8568309"/>
                      <a:pt x="4339209" y="8568309"/>
                    </a:cubicBezTo>
                    <a:lnTo>
                      <a:pt x="571500" y="8568309"/>
                    </a:lnTo>
                    <a:cubicBezTo>
                      <a:pt x="419929" y="8568309"/>
                      <a:pt x="274566" y="8508098"/>
                      <a:pt x="167388" y="8400921"/>
                    </a:cubicBezTo>
                    <a:cubicBezTo>
                      <a:pt x="60211" y="8293743"/>
                      <a:pt x="0" y="8148380"/>
                      <a:pt x="0" y="7996809"/>
                    </a:cubicBezTo>
                    <a:lnTo>
                      <a:pt x="0" y="571500"/>
                    </a:lnTo>
                    <a:cubicBezTo>
                      <a:pt x="0" y="255869"/>
                      <a:pt x="255869" y="0"/>
                      <a:pt x="571500" y="0"/>
                    </a:cubicBezTo>
                    <a:close/>
                  </a:path>
                </a:pathLst>
              </a:custGeom>
              <a:solidFill>
                <a:srgbClr val="FDFAF5"/>
              </a:solidFill>
              <a:ln w="25400" cap="rnd">
                <a:solidFill>
                  <a:srgbClr val="D9CEBA"/>
                </a:solidFill>
                <a:prstDash val="solid"/>
                <a:round/>
              </a:ln>
            </p:spPr>
          </p:sp>
        </p:grpSp>
        <p:grpSp>
          <p:nvGrpSpPr>
            <p:cNvPr name="Group 26" id="26"/>
            <p:cNvGrpSpPr/>
            <p:nvPr/>
          </p:nvGrpSpPr>
          <p:grpSpPr>
            <a:xfrm rot="0">
              <a:off x="2438400" y="1354658"/>
              <a:ext cx="1496911" cy="1496911"/>
              <a:chOff x="0" y="0"/>
              <a:chExt cx="1496911" cy="1496911"/>
            </a:xfrm>
          </p:grpSpPr>
          <p:sp>
            <p:nvSpPr>
              <p:cNvPr name="Freeform 27" id="27"/>
              <p:cNvSpPr/>
              <p:nvPr/>
            </p:nvSpPr>
            <p:spPr>
              <a:xfrm flipH="false" flipV="false" rot="0">
                <a:off x="0" y="0"/>
                <a:ext cx="1496822" cy="1496822"/>
              </a:xfrm>
              <a:custGeom>
                <a:avLst/>
                <a:gdLst/>
                <a:ahLst/>
                <a:cxnLst/>
                <a:rect r="r" b="b" t="t" l="l"/>
                <a:pathLst>
                  <a:path h="1496822" w="1496822">
                    <a:moveTo>
                      <a:pt x="0" y="748411"/>
                    </a:moveTo>
                    <a:cubicBezTo>
                      <a:pt x="0" y="335153"/>
                      <a:pt x="335153" y="0"/>
                      <a:pt x="748411" y="0"/>
                    </a:cubicBezTo>
                    <a:cubicBezTo>
                      <a:pt x="1161669" y="0"/>
                      <a:pt x="1496822" y="335153"/>
                      <a:pt x="1496822" y="748411"/>
                    </a:cubicBezTo>
                    <a:cubicBezTo>
                      <a:pt x="1496822" y="1161669"/>
                      <a:pt x="1161669" y="1496822"/>
                      <a:pt x="748411" y="1496822"/>
                    </a:cubicBezTo>
                    <a:cubicBezTo>
                      <a:pt x="335153" y="1496822"/>
                      <a:pt x="0" y="1161796"/>
                      <a:pt x="0" y="748411"/>
                    </a:cubicBezTo>
                    <a:close/>
                  </a:path>
                </a:pathLst>
              </a:custGeom>
              <a:solidFill>
                <a:srgbClr val="7A9E87"/>
              </a:solidFill>
              <a:ln w="25400" cap="sq">
                <a:solidFill>
                  <a:srgbClr val="7A9E87"/>
                </a:solidFill>
                <a:prstDash val="solid"/>
                <a:miter/>
              </a:ln>
            </p:spPr>
          </p:sp>
        </p:grpSp>
        <p:grpSp>
          <p:nvGrpSpPr>
            <p:cNvPr name="Group 28" id="28"/>
            <p:cNvGrpSpPr/>
            <p:nvPr/>
          </p:nvGrpSpPr>
          <p:grpSpPr>
            <a:xfrm rot="0">
              <a:off x="2455329" y="1371587"/>
              <a:ext cx="1463040" cy="1463040"/>
              <a:chOff x="0" y="0"/>
              <a:chExt cx="1463040" cy="1463040"/>
            </a:xfrm>
          </p:grpSpPr>
          <p:sp>
            <p:nvSpPr>
              <p:cNvPr name="Freeform 29" id="29"/>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close/>
                  </a:path>
                </a:pathLst>
              </a:custGeom>
              <a:blipFill>
                <a:blip r:embed="rId3">
                  <a:alphaModFix amt="0"/>
                </a:blip>
                <a:stretch>
                  <a:fillRect l="-78303" t="0" r="-78303" b="0"/>
                </a:stretch>
              </a:blipFill>
            </p:spPr>
          </p:sp>
          <p:sp>
            <p:nvSpPr>
              <p:cNvPr name="TextBox 30" id="30"/>
              <p:cNvSpPr txBox="true"/>
              <p:nvPr/>
            </p:nvSpPr>
            <p:spPr>
              <a:xfrm>
                <a:off x="0" y="9525"/>
                <a:ext cx="1463040" cy="1453515"/>
              </a:xfrm>
              <a:prstGeom prst="rect">
                <a:avLst/>
              </a:prstGeom>
            </p:spPr>
            <p:txBody>
              <a:bodyPr anchor="ctr" rtlCol="false" tIns="0" lIns="0" bIns="0" rIns="0"/>
              <a:lstStyle/>
              <a:p>
                <a:pPr algn="ctr">
                  <a:lnSpc>
                    <a:spcPts val="3359"/>
                  </a:lnSpc>
                </a:pPr>
                <a:r>
                  <a:rPr lang="en-US" sz="2799" b="true">
                    <a:solidFill>
                      <a:srgbClr val="FDFAF5"/>
                    </a:solidFill>
                    <a:latin typeface="Montserrat Bold"/>
                    <a:ea typeface="Montserrat Bold"/>
                    <a:cs typeface="Montserrat Bold"/>
                    <a:sym typeface="Montserrat Bold"/>
                  </a:rPr>
                  <a:t>2</a:t>
                </a:r>
              </a:p>
            </p:txBody>
          </p:sp>
        </p:grpSp>
        <p:grpSp>
          <p:nvGrpSpPr>
            <p:cNvPr name="Group 31" id="31"/>
            <p:cNvGrpSpPr/>
            <p:nvPr/>
          </p:nvGrpSpPr>
          <p:grpSpPr>
            <a:xfrm rot="0">
              <a:off x="1114209" y="3064935"/>
              <a:ext cx="4145280" cy="1219200"/>
              <a:chOff x="0" y="0"/>
              <a:chExt cx="4145280" cy="1219200"/>
            </a:xfrm>
          </p:grpSpPr>
          <p:sp>
            <p:nvSpPr>
              <p:cNvPr name="Freeform 32" id="32"/>
              <p:cNvSpPr/>
              <p:nvPr/>
            </p:nvSpPr>
            <p:spPr>
              <a:xfrm flipH="false" flipV="false" rot="0">
                <a:off x="0" y="0"/>
                <a:ext cx="4145280" cy="1219200"/>
              </a:xfrm>
              <a:custGeom>
                <a:avLst/>
                <a:gdLst/>
                <a:ahLst/>
                <a:cxnLst/>
                <a:rect r="r" b="b" t="t" l="l"/>
                <a:pathLst>
                  <a:path h="1219200" w="4145280">
                    <a:moveTo>
                      <a:pt x="0" y="0"/>
                    </a:moveTo>
                    <a:lnTo>
                      <a:pt x="4145280" y="0"/>
                    </a:lnTo>
                    <a:lnTo>
                      <a:pt x="4145280" y="1219200"/>
                    </a:lnTo>
                    <a:lnTo>
                      <a:pt x="0" y="1219200"/>
                    </a:lnTo>
                    <a:close/>
                  </a:path>
                </a:pathLst>
              </a:custGeom>
              <a:blipFill>
                <a:blip r:embed="rId3">
                  <a:alphaModFix amt="0"/>
                </a:blip>
                <a:stretch>
                  <a:fillRect l="0" t="-16249" r="0" b="-16249"/>
                </a:stretch>
              </a:blipFill>
            </p:spPr>
          </p:sp>
          <p:sp>
            <p:nvSpPr>
              <p:cNvPr name="TextBox 33" id="33"/>
              <p:cNvSpPr txBox="true"/>
              <p:nvPr/>
            </p:nvSpPr>
            <p:spPr>
              <a:xfrm>
                <a:off x="0" y="9525"/>
                <a:ext cx="4145280" cy="1209675"/>
              </a:xfrm>
              <a:prstGeom prst="rect">
                <a:avLst/>
              </a:prstGeom>
            </p:spPr>
            <p:txBody>
              <a:bodyPr anchor="ctr" rtlCol="false" tIns="0" lIns="0" bIns="0" rIns="0"/>
              <a:lstStyle/>
              <a:p>
                <a:pPr algn="ctr">
                  <a:lnSpc>
                    <a:spcPts val="2879"/>
                  </a:lnSpc>
                </a:pPr>
                <a:r>
                  <a:rPr lang="en-US" sz="2400" b="true">
                    <a:solidFill>
                      <a:srgbClr val="6B4F3A"/>
                    </a:solidFill>
                    <a:latin typeface="Montserrat Bold"/>
                    <a:ea typeface="Montserrat Bold"/>
                    <a:cs typeface="Montserrat Bold"/>
                    <a:sym typeface="Montserrat Bold"/>
                  </a:rPr>
                  <a:t>CHALLENGE</a:t>
                </a:r>
              </a:p>
            </p:txBody>
          </p:sp>
        </p:grpSp>
        <p:grpSp>
          <p:nvGrpSpPr>
            <p:cNvPr name="Group 34" id="34"/>
            <p:cNvGrpSpPr/>
            <p:nvPr/>
          </p:nvGrpSpPr>
          <p:grpSpPr>
            <a:xfrm rot="0">
              <a:off x="1114209" y="3918369"/>
              <a:ext cx="4145280" cy="3531879"/>
              <a:chOff x="0" y="0"/>
              <a:chExt cx="4145280" cy="3531879"/>
            </a:xfrm>
          </p:grpSpPr>
          <p:sp>
            <p:nvSpPr>
              <p:cNvPr name="Freeform 35" id="35"/>
              <p:cNvSpPr/>
              <p:nvPr/>
            </p:nvSpPr>
            <p:spPr>
              <a:xfrm flipH="false" flipV="false" rot="0">
                <a:off x="0" y="0"/>
                <a:ext cx="4145280" cy="3531879"/>
              </a:xfrm>
              <a:custGeom>
                <a:avLst/>
                <a:gdLst/>
                <a:ahLst/>
                <a:cxnLst/>
                <a:rect r="r" b="b" t="t" l="l"/>
                <a:pathLst>
                  <a:path h="3531879" w="4145280">
                    <a:moveTo>
                      <a:pt x="0" y="0"/>
                    </a:moveTo>
                    <a:lnTo>
                      <a:pt x="4145280" y="0"/>
                    </a:lnTo>
                    <a:lnTo>
                      <a:pt x="4145280" y="3531879"/>
                    </a:lnTo>
                    <a:lnTo>
                      <a:pt x="0" y="3531879"/>
                    </a:lnTo>
                    <a:close/>
                  </a:path>
                </a:pathLst>
              </a:custGeom>
              <a:blipFill>
                <a:blip r:embed="rId3">
                  <a:alphaModFix amt="0"/>
                </a:blip>
                <a:stretch>
                  <a:fillRect l="-78303" t="0" r="-78303" b="-17367"/>
                </a:stretch>
              </a:blipFill>
            </p:spPr>
          </p:sp>
          <p:sp>
            <p:nvSpPr>
              <p:cNvPr name="TextBox 36" id="36"/>
              <p:cNvSpPr txBox="true"/>
              <p:nvPr/>
            </p:nvSpPr>
            <p:spPr>
              <a:xfrm>
                <a:off x="0" y="0"/>
                <a:ext cx="4145280" cy="3531879"/>
              </a:xfrm>
              <a:prstGeom prst="rect">
                <a:avLst/>
              </a:prstGeom>
            </p:spPr>
            <p:txBody>
              <a:bodyPr anchor="ctr" rtlCol="false" tIns="0" lIns="0" bIns="0" rIns="0"/>
              <a:lstStyle/>
              <a:p>
                <a:pPr algn="l" marL="431801" indent="-215900" lvl="1">
                  <a:lnSpc>
                    <a:spcPts val="2400"/>
                  </a:lnSpc>
                  <a:buFont typeface="Arial"/>
                  <a:buChar char="•"/>
                </a:pPr>
                <a:r>
                  <a:rPr lang="en-US" sz="2000">
                    <a:solidFill>
                      <a:srgbClr val="000000"/>
                    </a:solidFill>
                    <a:latin typeface="Montserrat"/>
                    <a:ea typeface="Montserrat"/>
                    <a:cs typeface="Montserrat"/>
                    <a:sym typeface="Montserrat"/>
                  </a:rPr>
                  <a:t>Biodiversity records are scattered across many repositories </a:t>
                </a:r>
              </a:p>
              <a:p>
                <a:pPr algn="l" marL="431801" indent="-215900" lvl="1">
                  <a:lnSpc>
                    <a:spcPts val="2400"/>
                  </a:lnSpc>
                  <a:buFont typeface="Arial"/>
                  <a:buChar char="•"/>
                </a:pPr>
                <a:r>
                  <a:rPr lang="en-US" sz="2000">
                    <a:solidFill>
                      <a:srgbClr val="000000"/>
                    </a:solidFill>
                    <a:latin typeface="Montserrat"/>
                    <a:ea typeface="Montserrat"/>
                    <a:cs typeface="Montserrat"/>
                    <a:sym typeface="Montserrat"/>
                  </a:rPr>
                  <a:t>Technically difficult to extract and combine at scale</a:t>
                </a:r>
              </a:p>
            </p:txBody>
          </p:sp>
        </p:grpSp>
      </p:grpSp>
      <p:grpSp>
        <p:nvGrpSpPr>
          <p:cNvPr name="Group 37" id="37"/>
          <p:cNvGrpSpPr/>
          <p:nvPr/>
        </p:nvGrpSpPr>
        <p:grpSpPr>
          <a:xfrm rot="0">
            <a:off x="8856983" y="3004823"/>
            <a:ext cx="4231643" cy="6426203"/>
            <a:chOff x="0" y="0"/>
            <a:chExt cx="5642191" cy="8568271"/>
          </a:xfrm>
        </p:grpSpPr>
        <p:grpSp>
          <p:nvGrpSpPr>
            <p:cNvPr name="Group 38" id="38"/>
            <p:cNvGrpSpPr/>
            <p:nvPr/>
          </p:nvGrpSpPr>
          <p:grpSpPr>
            <a:xfrm rot="0">
              <a:off x="0" y="2365248"/>
              <a:ext cx="765391" cy="131407"/>
              <a:chOff x="0" y="0"/>
              <a:chExt cx="765391" cy="131407"/>
            </a:xfrm>
          </p:grpSpPr>
          <p:sp>
            <p:nvSpPr>
              <p:cNvPr name="Freeform 39" id="39"/>
              <p:cNvSpPr/>
              <p:nvPr/>
            </p:nvSpPr>
            <p:spPr>
              <a:xfrm flipH="false" flipV="false" rot="0">
                <a:off x="0" y="0"/>
                <a:ext cx="765429" cy="131445"/>
              </a:xfrm>
              <a:custGeom>
                <a:avLst/>
                <a:gdLst/>
                <a:ahLst/>
                <a:cxnLst/>
                <a:rect r="r" b="b" t="t" l="l"/>
                <a:pathLst>
                  <a:path h="131445" w="765429">
                    <a:moveTo>
                      <a:pt x="0" y="0"/>
                    </a:moveTo>
                    <a:lnTo>
                      <a:pt x="765429" y="0"/>
                    </a:lnTo>
                    <a:lnTo>
                      <a:pt x="765429" y="131445"/>
                    </a:lnTo>
                    <a:lnTo>
                      <a:pt x="0" y="131445"/>
                    </a:lnTo>
                    <a:close/>
                  </a:path>
                </a:pathLst>
              </a:custGeom>
              <a:solidFill>
                <a:srgbClr val="D9CEBA"/>
              </a:solidFill>
              <a:ln w="25400" cap="sq">
                <a:solidFill>
                  <a:srgbClr val="D9CEBA"/>
                </a:solidFill>
                <a:prstDash val="solid"/>
                <a:miter/>
              </a:ln>
            </p:spPr>
          </p:sp>
        </p:grpSp>
        <p:grpSp>
          <p:nvGrpSpPr>
            <p:cNvPr name="Group 40" id="40"/>
            <p:cNvGrpSpPr/>
            <p:nvPr/>
          </p:nvGrpSpPr>
          <p:grpSpPr>
            <a:xfrm rot="0">
              <a:off x="731520" y="0"/>
              <a:ext cx="4910671" cy="8568271"/>
              <a:chOff x="0" y="0"/>
              <a:chExt cx="4910671" cy="8568271"/>
            </a:xfrm>
          </p:grpSpPr>
          <p:sp>
            <p:nvSpPr>
              <p:cNvPr name="Freeform 41" id="41"/>
              <p:cNvSpPr/>
              <p:nvPr/>
            </p:nvSpPr>
            <p:spPr>
              <a:xfrm flipH="false" flipV="false" rot="0">
                <a:off x="0" y="0"/>
                <a:ext cx="4910709" cy="8568309"/>
              </a:xfrm>
              <a:custGeom>
                <a:avLst/>
                <a:gdLst/>
                <a:ahLst/>
                <a:cxnLst/>
                <a:rect r="r" b="b" t="t" l="l"/>
                <a:pathLst>
                  <a:path h="8568309" w="4910709">
                    <a:moveTo>
                      <a:pt x="571500" y="0"/>
                    </a:moveTo>
                    <a:lnTo>
                      <a:pt x="4339209" y="0"/>
                    </a:lnTo>
                    <a:cubicBezTo>
                      <a:pt x="4490781" y="0"/>
                      <a:pt x="4636144" y="60211"/>
                      <a:pt x="4743321" y="167388"/>
                    </a:cubicBezTo>
                    <a:cubicBezTo>
                      <a:pt x="4850498" y="274566"/>
                      <a:pt x="4910709" y="419929"/>
                      <a:pt x="4910709" y="571500"/>
                    </a:cubicBezTo>
                    <a:lnTo>
                      <a:pt x="4910709" y="7996809"/>
                    </a:lnTo>
                    <a:cubicBezTo>
                      <a:pt x="4910709" y="8312440"/>
                      <a:pt x="4654840" y="8568309"/>
                      <a:pt x="4339209" y="8568309"/>
                    </a:cubicBezTo>
                    <a:lnTo>
                      <a:pt x="571500" y="8568309"/>
                    </a:lnTo>
                    <a:cubicBezTo>
                      <a:pt x="419929" y="8568309"/>
                      <a:pt x="274566" y="8508098"/>
                      <a:pt x="167388" y="8400921"/>
                    </a:cubicBezTo>
                    <a:cubicBezTo>
                      <a:pt x="60211" y="8293743"/>
                      <a:pt x="0" y="8148380"/>
                      <a:pt x="0" y="7996809"/>
                    </a:cubicBezTo>
                    <a:lnTo>
                      <a:pt x="0" y="571500"/>
                    </a:lnTo>
                    <a:cubicBezTo>
                      <a:pt x="0" y="255869"/>
                      <a:pt x="255869" y="0"/>
                      <a:pt x="571500" y="0"/>
                    </a:cubicBezTo>
                    <a:close/>
                  </a:path>
                </a:pathLst>
              </a:custGeom>
              <a:solidFill>
                <a:srgbClr val="FDFAF5"/>
              </a:solidFill>
              <a:ln w="25400" cap="rnd">
                <a:solidFill>
                  <a:srgbClr val="D9CEBA"/>
                </a:solidFill>
                <a:prstDash val="solid"/>
                <a:round/>
              </a:ln>
            </p:spPr>
          </p:sp>
        </p:grpSp>
        <p:grpSp>
          <p:nvGrpSpPr>
            <p:cNvPr name="Group 42" id="42"/>
            <p:cNvGrpSpPr/>
            <p:nvPr/>
          </p:nvGrpSpPr>
          <p:grpSpPr>
            <a:xfrm rot="0">
              <a:off x="2438400" y="1354658"/>
              <a:ext cx="1496911" cy="1496911"/>
              <a:chOff x="0" y="0"/>
              <a:chExt cx="1496911" cy="1496911"/>
            </a:xfrm>
          </p:grpSpPr>
          <p:sp>
            <p:nvSpPr>
              <p:cNvPr name="Freeform 43" id="43"/>
              <p:cNvSpPr/>
              <p:nvPr/>
            </p:nvSpPr>
            <p:spPr>
              <a:xfrm flipH="false" flipV="false" rot="0">
                <a:off x="0" y="0"/>
                <a:ext cx="1496822" cy="1496822"/>
              </a:xfrm>
              <a:custGeom>
                <a:avLst/>
                <a:gdLst/>
                <a:ahLst/>
                <a:cxnLst/>
                <a:rect r="r" b="b" t="t" l="l"/>
                <a:pathLst>
                  <a:path h="1496822" w="1496822">
                    <a:moveTo>
                      <a:pt x="0" y="748411"/>
                    </a:moveTo>
                    <a:cubicBezTo>
                      <a:pt x="0" y="335153"/>
                      <a:pt x="335153" y="0"/>
                      <a:pt x="748411" y="0"/>
                    </a:cubicBezTo>
                    <a:cubicBezTo>
                      <a:pt x="1161669" y="0"/>
                      <a:pt x="1496822" y="335153"/>
                      <a:pt x="1496822" y="748411"/>
                    </a:cubicBezTo>
                    <a:cubicBezTo>
                      <a:pt x="1496822" y="1161669"/>
                      <a:pt x="1161669" y="1496822"/>
                      <a:pt x="748411" y="1496822"/>
                    </a:cubicBezTo>
                    <a:cubicBezTo>
                      <a:pt x="335153" y="1496822"/>
                      <a:pt x="0" y="1161796"/>
                      <a:pt x="0" y="748411"/>
                    </a:cubicBezTo>
                    <a:close/>
                  </a:path>
                </a:pathLst>
              </a:custGeom>
              <a:solidFill>
                <a:srgbClr val="C0714F"/>
              </a:solidFill>
              <a:ln w="25400" cap="sq">
                <a:solidFill>
                  <a:srgbClr val="C0714F"/>
                </a:solidFill>
                <a:prstDash val="solid"/>
                <a:miter/>
              </a:ln>
            </p:spPr>
          </p:sp>
        </p:grpSp>
        <p:grpSp>
          <p:nvGrpSpPr>
            <p:cNvPr name="Group 44" id="44"/>
            <p:cNvGrpSpPr/>
            <p:nvPr/>
          </p:nvGrpSpPr>
          <p:grpSpPr>
            <a:xfrm rot="0">
              <a:off x="2455329" y="1371587"/>
              <a:ext cx="1463040" cy="1463040"/>
              <a:chOff x="0" y="0"/>
              <a:chExt cx="1463040" cy="1463040"/>
            </a:xfrm>
          </p:grpSpPr>
          <p:sp>
            <p:nvSpPr>
              <p:cNvPr name="Freeform 45" id="45"/>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close/>
                  </a:path>
                </a:pathLst>
              </a:custGeom>
              <a:blipFill>
                <a:blip r:embed="rId3">
                  <a:alphaModFix amt="0"/>
                </a:blip>
                <a:stretch>
                  <a:fillRect l="-78303" t="0" r="-78303" b="0"/>
                </a:stretch>
              </a:blipFill>
            </p:spPr>
          </p:sp>
          <p:sp>
            <p:nvSpPr>
              <p:cNvPr name="TextBox 46" id="46"/>
              <p:cNvSpPr txBox="true"/>
              <p:nvPr/>
            </p:nvSpPr>
            <p:spPr>
              <a:xfrm>
                <a:off x="0" y="9525"/>
                <a:ext cx="1463040" cy="1453515"/>
              </a:xfrm>
              <a:prstGeom prst="rect">
                <a:avLst/>
              </a:prstGeom>
            </p:spPr>
            <p:txBody>
              <a:bodyPr anchor="ctr" rtlCol="false" tIns="0" lIns="0" bIns="0" rIns="0"/>
              <a:lstStyle/>
              <a:p>
                <a:pPr algn="ctr">
                  <a:lnSpc>
                    <a:spcPts val="3359"/>
                  </a:lnSpc>
                </a:pPr>
                <a:r>
                  <a:rPr lang="en-US" sz="2799" b="true">
                    <a:solidFill>
                      <a:srgbClr val="FDFAF5"/>
                    </a:solidFill>
                    <a:latin typeface="Montserrat Bold"/>
                    <a:ea typeface="Montserrat Bold"/>
                    <a:cs typeface="Montserrat Bold"/>
                    <a:sym typeface="Montserrat Bold"/>
                  </a:rPr>
                  <a:t>3</a:t>
                </a:r>
              </a:p>
            </p:txBody>
          </p:sp>
        </p:grpSp>
        <p:grpSp>
          <p:nvGrpSpPr>
            <p:cNvPr name="Group 47" id="47"/>
            <p:cNvGrpSpPr/>
            <p:nvPr/>
          </p:nvGrpSpPr>
          <p:grpSpPr>
            <a:xfrm rot="0">
              <a:off x="1114209" y="3064935"/>
              <a:ext cx="4145280" cy="1219200"/>
              <a:chOff x="0" y="0"/>
              <a:chExt cx="4145280" cy="1219200"/>
            </a:xfrm>
          </p:grpSpPr>
          <p:sp>
            <p:nvSpPr>
              <p:cNvPr name="Freeform 48" id="48"/>
              <p:cNvSpPr/>
              <p:nvPr/>
            </p:nvSpPr>
            <p:spPr>
              <a:xfrm flipH="false" flipV="false" rot="0">
                <a:off x="0" y="0"/>
                <a:ext cx="4145280" cy="1219200"/>
              </a:xfrm>
              <a:custGeom>
                <a:avLst/>
                <a:gdLst/>
                <a:ahLst/>
                <a:cxnLst/>
                <a:rect r="r" b="b" t="t" l="l"/>
                <a:pathLst>
                  <a:path h="1219200" w="4145280">
                    <a:moveTo>
                      <a:pt x="0" y="0"/>
                    </a:moveTo>
                    <a:lnTo>
                      <a:pt x="4145280" y="0"/>
                    </a:lnTo>
                    <a:lnTo>
                      <a:pt x="4145280" y="1219200"/>
                    </a:lnTo>
                    <a:lnTo>
                      <a:pt x="0" y="1219200"/>
                    </a:lnTo>
                    <a:close/>
                  </a:path>
                </a:pathLst>
              </a:custGeom>
              <a:blipFill>
                <a:blip r:embed="rId3">
                  <a:alphaModFix amt="0"/>
                </a:blip>
                <a:stretch>
                  <a:fillRect l="0" t="-16249" r="0" b="-16249"/>
                </a:stretch>
              </a:blipFill>
            </p:spPr>
          </p:sp>
          <p:sp>
            <p:nvSpPr>
              <p:cNvPr name="TextBox 49" id="49"/>
              <p:cNvSpPr txBox="true"/>
              <p:nvPr/>
            </p:nvSpPr>
            <p:spPr>
              <a:xfrm>
                <a:off x="0" y="9525"/>
                <a:ext cx="4145280" cy="1209675"/>
              </a:xfrm>
              <a:prstGeom prst="rect">
                <a:avLst/>
              </a:prstGeom>
            </p:spPr>
            <p:txBody>
              <a:bodyPr anchor="ctr" rtlCol="false" tIns="0" lIns="0" bIns="0" rIns="0"/>
              <a:lstStyle/>
              <a:p>
                <a:pPr algn="ctr">
                  <a:lnSpc>
                    <a:spcPts val="2879"/>
                  </a:lnSpc>
                </a:pPr>
                <a:r>
                  <a:rPr lang="en-US" sz="2400" b="true">
                    <a:solidFill>
                      <a:srgbClr val="6B4F3A"/>
                    </a:solidFill>
                    <a:latin typeface="Montserrat Bold"/>
                    <a:ea typeface="Montserrat Bold"/>
                    <a:cs typeface="Montserrat Bold"/>
                    <a:sym typeface="Montserrat Bold"/>
                  </a:rPr>
                  <a:t>AIM</a:t>
                </a:r>
              </a:p>
            </p:txBody>
          </p:sp>
        </p:grpSp>
        <p:grpSp>
          <p:nvGrpSpPr>
            <p:cNvPr name="Group 50" id="50"/>
            <p:cNvGrpSpPr/>
            <p:nvPr/>
          </p:nvGrpSpPr>
          <p:grpSpPr>
            <a:xfrm rot="0">
              <a:off x="814492" y="3918369"/>
              <a:ext cx="4668514" cy="3928024"/>
              <a:chOff x="0" y="0"/>
              <a:chExt cx="4668514" cy="3928024"/>
            </a:xfrm>
          </p:grpSpPr>
          <p:sp>
            <p:nvSpPr>
              <p:cNvPr name="Freeform 51" id="51"/>
              <p:cNvSpPr/>
              <p:nvPr/>
            </p:nvSpPr>
            <p:spPr>
              <a:xfrm flipH="false" flipV="false" rot="0">
                <a:off x="0" y="0"/>
                <a:ext cx="4668513" cy="3928024"/>
              </a:xfrm>
              <a:custGeom>
                <a:avLst/>
                <a:gdLst/>
                <a:ahLst/>
                <a:cxnLst/>
                <a:rect r="r" b="b" t="t" l="l"/>
                <a:pathLst>
                  <a:path h="3928024" w="4668513">
                    <a:moveTo>
                      <a:pt x="0" y="0"/>
                    </a:moveTo>
                    <a:lnTo>
                      <a:pt x="4668513" y="0"/>
                    </a:lnTo>
                    <a:lnTo>
                      <a:pt x="4668513" y="3928024"/>
                    </a:lnTo>
                    <a:lnTo>
                      <a:pt x="0" y="3928024"/>
                    </a:lnTo>
                    <a:close/>
                  </a:path>
                </a:pathLst>
              </a:custGeom>
              <a:blipFill>
                <a:blip r:embed="rId3">
                  <a:alphaModFix amt="0"/>
                </a:blip>
                <a:stretch>
                  <a:fillRect l="-69527" t="0" r="-58319" b="-5530"/>
                </a:stretch>
              </a:blipFill>
            </p:spPr>
          </p:sp>
          <p:sp>
            <p:nvSpPr>
              <p:cNvPr name="TextBox 52" id="52"/>
              <p:cNvSpPr txBox="true"/>
              <p:nvPr/>
            </p:nvSpPr>
            <p:spPr>
              <a:xfrm>
                <a:off x="0" y="0"/>
                <a:ext cx="4668514" cy="3928024"/>
              </a:xfrm>
              <a:prstGeom prst="rect">
                <a:avLst/>
              </a:prstGeom>
            </p:spPr>
            <p:txBody>
              <a:bodyPr anchor="ctr" rtlCol="false" tIns="0" lIns="0" bIns="0" rIns="0"/>
              <a:lstStyle/>
              <a:p>
                <a:pPr algn="l" marL="431801" indent="-215900" lvl="1">
                  <a:lnSpc>
                    <a:spcPts val="2400"/>
                  </a:lnSpc>
                  <a:buFont typeface="Arial"/>
                  <a:buChar char="•"/>
                </a:pPr>
                <a:r>
                  <a:rPr lang="en-US" b="true" sz="2000">
                    <a:solidFill>
                      <a:srgbClr val="000000"/>
                    </a:solidFill>
                    <a:latin typeface="Montserrat Bold"/>
                    <a:ea typeface="Montserrat Bold"/>
                    <a:cs typeface="Montserrat Bold"/>
                    <a:sym typeface="Montserrat Bold"/>
                  </a:rPr>
                  <a:t>Project</a:t>
                </a:r>
                <a:r>
                  <a:rPr lang="en-US" sz="2000">
                    <a:solidFill>
                      <a:srgbClr val="000000"/>
                    </a:solidFill>
                    <a:latin typeface="Montserrat"/>
                    <a:ea typeface="Montserrat"/>
                    <a:cs typeface="Montserrat"/>
                    <a:sym typeface="Montserrat"/>
                  </a:rPr>
                  <a:t>: Model marine species extinctions  along Victoria’s coasts.</a:t>
                </a:r>
              </a:p>
              <a:p>
                <a:pPr algn="l" marL="431801" indent="-215900" lvl="1">
                  <a:lnSpc>
                    <a:spcPts val="2400"/>
                  </a:lnSpc>
                  <a:buFont typeface="Arial"/>
                  <a:buChar char="•"/>
                </a:pPr>
                <a:r>
                  <a:rPr lang="en-US" b="true" sz="2000">
                    <a:solidFill>
                      <a:srgbClr val="000000"/>
                    </a:solidFill>
                    <a:latin typeface="Montserrat Bold"/>
                    <a:ea typeface="Montserrat Bold"/>
                    <a:cs typeface="Montserrat Bold"/>
                    <a:sym typeface="Montserrat Bold"/>
                  </a:rPr>
                  <a:t>MDAP</a:t>
                </a:r>
                <a:r>
                  <a:rPr lang="en-US" sz="2000">
                    <a:solidFill>
                      <a:srgbClr val="000000"/>
                    </a:solidFill>
                    <a:latin typeface="Montserrat"/>
                    <a:ea typeface="Montserrat"/>
                    <a:cs typeface="Montserrat"/>
                    <a:sym typeface="Montserrat"/>
                  </a:rPr>
                  <a:t>: Consolidate relevant records into a unified dataset suitable for extinction modelling</a:t>
                </a:r>
              </a:p>
            </p:txBody>
          </p:sp>
        </p:grpSp>
      </p:grpSp>
      <p:grpSp>
        <p:nvGrpSpPr>
          <p:cNvPr name="Group 53" id="53"/>
          <p:cNvGrpSpPr/>
          <p:nvPr/>
        </p:nvGrpSpPr>
        <p:grpSpPr>
          <a:xfrm rot="0">
            <a:off x="13063223" y="3004823"/>
            <a:ext cx="4231643" cy="6426203"/>
            <a:chOff x="0" y="0"/>
            <a:chExt cx="5642191" cy="8568271"/>
          </a:xfrm>
        </p:grpSpPr>
        <p:grpSp>
          <p:nvGrpSpPr>
            <p:cNvPr name="Group 54" id="54"/>
            <p:cNvGrpSpPr/>
            <p:nvPr/>
          </p:nvGrpSpPr>
          <p:grpSpPr>
            <a:xfrm rot="0">
              <a:off x="0" y="2365248"/>
              <a:ext cx="765391" cy="131407"/>
              <a:chOff x="0" y="0"/>
              <a:chExt cx="765391" cy="131407"/>
            </a:xfrm>
          </p:grpSpPr>
          <p:sp>
            <p:nvSpPr>
              <p:cNvPr name="Freeform 55" id="55"/>
              <p:cNvSpPr/>
              <p:nvPr/>
            </p:nvSpPr>
            <p:spPr>
              <a:xfrm flipH="false" flipV="false" rot="0">
                <a:off x="0" y="0"/>
                <a:ext cx="765429" cy="131445"/>
              </a:xfrm>
              <a:custGeom>
                <a:avLst/>
                <a:gdLst/>
                <a:ahLst/>
                <a:cxnLst/>
                <a:rect r="r" b="b" t="t" l="l"/>
                <a:pathLst>
                  <a:path h="131445" w="765429">
                    <a:moveTo>
                      <a:pt x="0" y="0"/>
                    </a:moveTo>
                    <a:lnTo>
                      <a:pt x="765429" y="0"/>
                    </a:lnTo>
                    <a:lnTo>
                      <a:pt x="765429" y="131445"/>
                    </a:lnTo>
                    <a:lnTo>
                      <a:pt x="0" y="131445"/>
                    </a:lnTo>
                    <a:close/>
                  </a:path>
                </a:pathLst>
              </a:custGeom>
              <a:solidFill>
                <a:srgbClr val="D9CEBA"/>
              </a:solidFill>
              <a:ln w="25400" cap="sq">
                <a:solidFill>
                  <a:srgbClr val="D9CEBA"/>
                </a:solidFill>
                <a:prstDash val="solid"/>
                <a:miter/>
              </a:ln>
            </p:spPr>
          </p:sp>
        </p:grpSp>
        <p:grpSp>
          <p:nvGrpSpPr>
            <p:cNvPr name="Group 56" id="56"/>
            <p:cNvGrpSpPr/>
            <p:nvPr/>
          </p:nvGrpSpPr>
          <p:grpSpPr>
            <a:xfrm rot="0">
              <a:off x="731520" y="0"/>
              <a:ext cx="4910671" cy="8568271"/>
              <a:chOff x="0" y="0"/>
              <a:chExt cx="4910671" cy="8568271"/>
            </a:xfrm>
          </p:grpSpPr>
          <p:sp>
            <p:nvSpPr>
              <p:cNvPr name="Freeform 57" id="57"/>
              <p:cNvSpPr/>
              <p:nvPr/>
            </p:nvSpPr>
            <p:spPr>
              <a:xfrm flipH="false" flipV="false" rot="0">
                <a:off x="0" y="0"/>
                <a:ext cx="4910709" cy="8568309"/>
              </a:xfrm>
              <a:custGeom>
                <a:avLst/>
                <a:gdLst/>
                <a:ahLst/>
                <a:cxnLst/>
                <a:rect r="r" b="b" t="t" l="l"/>
                <a:pathLst>
                  <a:path h="8568309" w="4910709">
                    <a:moveTo>
                      <a:pt x="571500" y="0"/>
                    </a:moveTo>
                    <a:lnTo>
                      <a:pt x="4339209" y="0"/>
                    </a:lnTo>
                    <a:cubicBezTo>
                      <a:pt x="4490781" y="0"/>
                      <a:pt x="4636144" y="60211"/>
                      <a:pt x="4743321" y="167388"/>
                    </a:cubicBezTo>
                    <a:cubicBezTo>
                      <a:pt x="4850498" y="274566"/>
                      <a:pt x="4910709" y="419929"/>
                      <a:pt x="4910709" y="571500"/>
                    </a:cubicBezTo>
                    <a:lnTo>
                      <a:pt x="4910709" y="7996809"/>
                    </a:lnTo>
                    <a:cubicBezTo>
                      <a:pt x="4910709" y="8312440"/>
                      <a:pt x="4654840" y="8568309"/>
                      <a:pt x="4339209" y="8568309"/>
                    </a:cubicBezTo>
                    <a:lnTo>
                      <a:pt x="571500" y="8568309"/>
                    </a:lnTo>
                    <a:cubicBezTo>
                      <a:pt x="419929" y="8568309"/>
                      <a:pt x="274566" y="8508098"/>
                      <a:pt x="167388" y="8400921"/>
                    </a:cubicBezTo>
                    <a:cubicBezTo>
                      <a:pt x="60211" y="8293743"/>
                      <a:pt x="0" y="8148380"/>
                      <a:pt x="0" y="7996809"/>
                    </a:cubicBezTo>
                    <a:lnTo>
                      <a:pt x="0" y="571500"/>
                    </a:lnTo>
                    <a:cubicBezTo>
                      <a:pt x="0" y="255869"/>
                      <a:pt x="255869" y="0"/>
                      <a:pt x="571500" y="0"/>
                    </a:cubicBezTo>
                    <a:close/>
                  </a:path>
                </a:pathLst>
              </a:custGeom>
              <a:solidFill>
                <a:srgbClr val="FDFAF5"/>
              </a:solidFill>
              <a:ln w="25400" cap="rnd">
                <a:solidFill>
                  <a:srgbClr val="D9CEBA"/>
                </a:solidFill>
                <a:prstDash val="solid"/>
                <a:round/>
              </a:ln>
            </p:spPr>
          </p:sp>
        </p:grpSp>
        <p:grpSp>
          <p:nvGrpSpPr>
            <p:cNvPr name="Group 58" id="58"/>
            <p:cNvGrpSpPr/>
            <p:nvPr/>
          </p:nvGrpSpPr>
          <p:grpSpPr>
            <a:xfrm rot="0">
              <a:off x="2438400" y="1354658"/>
              <a:ext cx="1496911" cy="1496911"/>
              <a:chOff x="0" y="0"/>
              <a:chExt cx="1496911" cy="1496911"/>
            </a:xfrm>
          </p:grpSpPr>
          <p:sp>
            <p:nvSpPr>
              <p:cNvPr name="Freeform 59" id="59"/>
              <p:cNvSpPr/>
              <p:nvPr/>
            </p:nvSpPr>
            <p:spPr>
              <a:xfrm flipH="false" flipV="false" rot="0">
                <a:off x="0" y="0"/>
                <a:ext cx="1496822" cy="1496822"/>
              </a:xfrm>
              <a:custGeom>
                <a:avLst/>
                <a:gdLst/>
                <a:ahLst/>
                <a:cxnLst/>
                <a:rect r="r" b="b" t="t" l="l"/>
                <a:pathLst>
                  <a:path h="1496822" w="1496822">
                    <a:moveTo>
                      <a:pt x="0" y="748411"/>
                    </a:moveTo>
                    <a:cubicBezTo>
                      <a:pt x="0" y="335153"/>
                      <a:pt x="335153" y="0"/>
                      <a:pt x="748411" y="0"/>
                    </a:cubicBezTo>
                    <a:cubicBezTo>
                      <a:pt x="1161669" y="0"/>
                      <a:pt x="1496822" y="335153"/>
                      <a:pt x="1496822" y="748411"/>
                    </a:cubicBezTo>
                    <a:cubicBezTo>
                      <a:pt x="1496822" y="1161669"/>
                      <a:pt x="1161669" y="1496822"/>
                      <a:pt x="748411" y="1496822"/>
                    </a:cubicBezTo>
                    <a:cubicBezTo>
                      <a:pt x="335153" y="1496822"/>
                      <a:pt x="0" y="1161796"/>
                      <a:pt x="0" y="748411"/>
                    </a:cubicBezTo>
                    <a:close/>
                  </a:path>
                </a:pathLst>
              </a:custGeom>
              <a:solidFill>
                <a:srgbClr val="7A9E87"/>
              </a:solidFill>
              <a:ln w="25400" cap="sq">
                <a:solidFill>
                  <a:srgbClr val="7A9E87"/>
                </a:solidFill>
                <a:prstDash val="solid"/>
                <a:miter/>
              </a:ln>
            </p:spPr>
          </p:sp>
        </p:grpSp>
        <p:grpSp>
          <p:nvGrpSpPr>
            <p:cNvPr name="Group 60" id="60"/>
            <p:cNvGrpSpPr/>
            <p:nvPr/>
          </p:nvGrpSpPr>
          <p:grpSpPr>
            <a:xfrm rot="0">
              <a:off x="2455329" y="1371587"/>
              <a:ext cx="1463040" cy="1463040"/>
              <a:chOff x="0" y="0"/>
              <a:chExt cx="1463040" cy="1463040"/>
            </a:xfrm>
          </p:grpSpPr>
          <p:sp>
            <p:nvSpPr>
              <p:cNvPr name="Freeform 61" id="61"/>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close/>
                  </a:path>
                </a:pathLst>
              </a:custGeom>
              <a:blipFill>
                <a:blip r:embed="rId3">
                  <a:alphaModFix amt="0"/>
                </a:blip>
                <a:stretch>
                  <a:fillRect l="-78303" t="0" r="-78303" b="0"/>
                </a:stretch>
              </a:blipFill>
            </p:spPr>
          </p:sp>
          <p:sp>
            <p:nvSpPr>
              <p:cNvPr name="TextBox 62" id="62"/>
              <p:cNvSpPr txBox="true"/>
              <p:nvPr/>
            </p:nvSpPr>
            <p:spPr>
              <a:xfrm>
                <a:off x="0" y="9525"/>
                <a:ext cx="1463040" cy="1453515"/>
              </a:xfrm>
              <a:prstGeom prst="rect">
                <a:avLst/>
              </a:prstGeom>
            </p:spPr>
            <p:txBody>
              <a:bodyPr anchor="ctr" rtlCol="false" tIns="0" lIns="0" bIns="0" rIns="0"/>
              <a:lstStyle/>
              <a:p>
                <a:pPr algn="ctr">
                  <a:lnSpc>
                    <a:spcPts val="3359"/>
                  </a:lnSpc>
                </a:pPr>
                <a:r>
                  <a:rPr lang="en-US" sz="2799" b="true">
                    <a:solidFill>
                      <a:srgbClr val="FDFAF5"/>
                    </a:solidFill>
                    <a:latin typeface="Montserrat Bold"/>
                    <a:ea typeface="Montserrat Bold"/>
                    <a:cs typeface="Montserrat Bold"/>
                    <a:sym typeface="Montserrat Bold"/>
                  </a:rPr>
                  <a:t>4</a:t>
                </a:r>
              </a:p>
            </p:txBody>
          </p:sp>
        </p:grpSp>
        <p:grpSp>
          <p:nvGrpSpPr>
            <p:cNvPr name="Group 63" id="63"/>
            <p:cNvGrpSpPr/>
            <p:nvPr/>
          </p:nvGrpSpPr>
          <p:grpSpPr>
            <a:xfrm rot="0">
              <a:off x="1114209" y="3064935"/>
              <a:ext cx="4145280" cy="1219200"/>
              <a:chOff x="0" y="0"/>
              <a:chExt cx="4145280" cy="1219200"/>
            </a:xfrm>
          </p:grpSpPr>
          <p:sp>
            <p:nvSpPr>
              <p:cNvPr name="Freeform 64" id="64"/>
              <p:cNvSpPr/>
              <p:nvPr/>
            </p:nvSpPr>
            <p:spPr>
              <a:xfrm flipH="false" flipV="false" rot="0">
                <a:off x="0" y="0"/>
                <a:ext cx="4145280" cy="1219200"/>
              </a:xfrm>
              <a:custGeom>
                <a:avLst/>
                <a:gdLst/>
                <a:ahLst/>
                <a:cxnLst/>
                <a:rect r="r" b="b" t="t" l="l"/>
                <a:pathLst>
                  <a:path h="1219200" w="4145280">
                    <a:moveTo>
                      <a:pt x="0" y="0"/>
                    </a:moveTo>
                    <a:lnTo>
                      <a:pt x="4145280" y="0"/>
                    </a:lnTo>
                    <a:lnTo>
                      <a:pt x="4145280" y="1219200"/>
                    </a:lnTo>
                    <a:lnTo>
                      <a:pt x="0" y="1219200"/>
                    </a:lnTo>
                    <a:close/>
                  </a:path>
                </a:pathLst>
              </a:custGeom>
              <a:blipFill>
                <a:blip r:embed="rId3">
                  <a:alphaModFix amt="0"/>
                </a:blip>
                <a:stretch>
                  <a:fillRect l="0" t="-16249" r="0" b="-16249"/>
                </a:stretch>
              </a:blipFill>
            </p:spPr>
          </p:sp>
          <p:sp>
            <p:nvSpPr>
              <p:cNvPr name="TextBox 65" id="65"/>
              <p:cNvSpPr txBox="true"/>
              <p:nvPr/>
            </p:nvSpPr>
            <p:spPr>
              <a:xfrm>
                <a:off x="0" y="9525"/>
                <a:ext cx="4145280" cy="1209675"/>
              </a:xfrm>
              <a:prstGeom prst="rect">
                <a:avLst/>
              </a:prstGeom>
            </p:spPr>
            <p:txBody>
              <a:bodyPr anchor="ctr" rtlCol="false" tIns="0" lIns="0" bIns="0" rIns="0"/>
              <a:lstStyle/>
              <a:p>
                <a:pPr algn="ctr">
                  <a:lnSpc>
                    <a:spcPts val="2879"/>
                  </a:lnSpc>
                </a:pPr>
                <a:r>
                  <a:rPr lang="en-US" sz="2400" b="true">
                    <a:solidFill>
                      <a:srgbClr val="6B4F3A"/>
                    </a:solidFill>
                    <a:latin typeface="Montserrat Bold"/>
                    <a:ea typeface="Montserrat Bold"/>
                    <a:cs typeface="Montserrat Bold"/>
                    <a:sym typeface="Montserrat Bold"/>
                  </a:rPr>
                  <a:t>SOLUTION</a:t>
                </a:r>
              </a:p>
            </p:txBody>
          </p:sp>
        </p:grpSp>
        <p:grpSp>
          <p:nvGrpSpPr>
            <p:cNvPr name="Group 66" id="66"/>
            <p:cNvGrpSpPr/>
            <p:nvPr/>
          </p:nvGrpSpPr>
          <p:grpSpPr>
            <a:xfrm rot="0">
              <a:off x="935571" y="3918369"/>
              <a:ext cx="4467292" cy="4145280"/>
              <a:chOff x="0" y="0"/>
              <a:chExt cx="4467292" cy="4145280"/>
            </a:xfrm>
          </p:grpSpPr>
          <p:sp>
            <p:nvSpPr>
              <p:cNvPr name="Freeform 67" id="67"/>
              <p:cNvSpPr/>
              <p:nvPr/>
            </p:nvSpPr>
            <p:spPr>
              <a:xfrm flipH="false" flipV="false" rot="0">
                <a:off x="0" y="0"/>
                <a:ext cx="4467292" cy="4145280"/>
              </a:xfrm>
              <a:custGeom>
                <a:avLst/>
                <a:gdLst/>
                <a:ahLst/>
                <a:cxnLst/>
                <a:rect r="r" b="b" t="t" l="l"/>
                <a:pathLst>
                  <a:path h="4145280" w="4467292">
                    <a:moveTo>
                      <a:pt x="0" y="0"/>
                    </a:moveTo>
                    <a:lnTo>
                      <a:pt x="4467292" y="0"/>
                    </a:lnTo>
                    <a:lnTo>
                      <a:pt x="4467292" y="4145280"/>
                    </a:lnTo>
                    <a:lnTo>
                      <a:pt x="0" y="4145280"/>
                    </a:lnTo>
                    <a:close/>
                  </a:path>
                </a:pathLst>
              </a:custGeom>
              <a:blipFill>
                <a:blip r:embed="rId3">
                  <a:alphaModFix amt="0"/>
                </a:blip>
                <a:stretch>
                  <a:fillRect l="-72659" t="0" r="-65451" b="0"/>
                </a:stretch>
              </a:blipFill>
            </p:spPr>
          </p:sp>
          <p:sp>
            <p:nvSpPr>
              <p:cNvPr name="TextBox 68" id="68"/>
              <p:cNvSpPr txBox="true"/>
              <p:nvPr/>
            </p:nvSpPr>
            <p:spPr>
              <a:xfrm>
                <a:off x="0" y="0"/>
                <a:ext cx="4467292" cy="4145280"/>
              </a:xfrm>
              <a:prstGeom prst="rect">
                <a:avLst/>
              </a:prstGeom>
            </p:spPr>
            <p:txBody>
              <a:bodyPr anchor="ctr" rtlCol="false" tIns="0" lIns="0" bIns="0" rIns="0"/>
              <a:lstStyle/>
              <a:p>
                <a:pPr algn="l" marL="431801" indent="-215900" lvl="1">
                  <a:lnSpc>
                    <a:spcPts val="2400"/>
                  </a:lnSpc>
                  <a:buFont typeface="Arial"/>
                  <a:buChar char="•"/>
                </a:pPr>
                <a:r>
                  <a:rPr lang="en-US" sz="2000">
                    <a:solidFill>
                      <a:srgbClr val="000000"/>
                    </a:solidFill>
                    <a:latin typeface="Montserrat"/>
                    <a:ea typeface="Montserrat"/>
                    <a:cs typeface="Montserrat"/>
                    <a:sym typeface="Montserrat"/>
                  </a:rPr>
                  <a:t>Build an automated and reproducible workflow to extract, standardise, clean, and integrate occurrence records into analysis-ready dataset for extinction modelling</a:t>
                </a:r>
              </a:p>
            </p:txBody>
          </p:sp>
        </p:grpSp>
      </p:grpSp>
      <p:sp>
        <p:nvSpPr>
          <p:cNvPr name="TextBox 69" id="69"/>
          <p:cNvSpPr txBox="true"/>
          <p:nvPr/>
        </p:nvSpPr>
        <p:spPr>
          <a:xfrm rot="0">
            <a:off x="12404185" y="10077450"/>
            <a:ext cx="5730434" cy="209550"/>
          </a:xfrm>
          <a:prstGeom prst="rect">
            <a:avLst/>
          </a:prstGeom>
        </p:spPr>
        <p:txBody>
          <a:bodyPr anchor="t" rtlCol="false" tIns="0" lIns="0" bIns="0" rIns="0">
            <a:spAutoFit/>
          </a:bodyPr>
          <a:lstStyle/>
          <a:p>
            <a:pPr algn="ctr">
              <a:lnSpc>
                <a:spcPts val="1680"/>
              </a:lnSpc>
              <a:spcBef>
                <a:spcPct val="0"/>
              </a:spcBef>
            </a:pPr>
            <a:r>
              <a:rPr lang="en-US" sz="1400">
                <a:solidFill>
                  <a:srgbClr val="000000"/>
                </a:solidFill>
                <a:latin typeface="Montserrat"/>
                <a:ea typeface="Montserrat"/>
                <a:cs typeface="Montserrat"/>
                <a:sym typeface="Montserrat"/>
              </a:rPr>
              <a:t>Adapted from project VicExtinct Collaboration Application form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0E8"/>
        </a:solidFill>
      </p:bgPr>
    </p:bg>
    <p:spTree>
      <p:nvGrpSpPr>
        <p:cNvPr id="1" name=""/>
        <p:cNvGrpSpPr/>
        <p:nvPr/>
      </p:nvGrpSpPr>
      <p:grpSpPr>
        <a:xfrm>
          <a:off x="0" y="0"/>
          <a:ext cx="0" cy="0"/>
          <a:chOff x="0" y="0"/>
          <a:chExt cx="0" cy="0"/>
        </a:xfrm>
      </p:grpSpPr>
      <p:grpSp>
        <p:nvGrpSpPr>
          <p:cNvPr name="Group 2" id="2"/>
          <p:cNvGrpSpPr/>
          <p:nvPr/>
        </p:nvGrpSpPr>
        <p:grpSpPr>
          <a:xfrm rot="0">
            <a:off x="1097280" y="822960"/>
            <a:ext cx="14630400" cy="1279601"/>
            <a:chOff x="0" y="0"/>
            <a:chExt cx="19507200" cy="1706135"/>
          </a:xfrm>
        </p:grpSpPr>
        <p:sp>
          <p:nvSpPr>
            <p:cNvPr name="Freeform 3" id="3"/>
            <p:cNvSpPr/>
            <p:nvPr/>
          </p:nvSpPr>
          <p:spPr>
            <a:xfrm flipH="false" flipV="false" rot="0">
              <a:off x="0" y="0"/>
              <a:ext cx="19507200" cy="1706135"/>
            </a:xfrm>
            <a:custGeom>
              <a:avLst/>
              <a:gdLst/>
              <a:ahLst/>
              <a:cxnLst/>
              <a:rect r="r" b="b" t="t" l="l"/>
              <a:pathLst>
                <a:path h="1706135" w="19507200">
                  <a:moveTo>
                    <a:pt x="0" y="0"/>
                  </a:moveTo>
                  <a:lnTo>
                    <a:pt x="19507200" y="0"/>
                  </a:lnTo>
                  <a:lnTo>
                    <a:pt x="19507200" y="1706135"/>
                  </a:lnTo>
                  <a:lnTo>
                    <a:pt x="0" y="1706135"/>
                  </a:lnTo>
                  <a:close/>
                </a:path>
              </a:pathLst>
            </a:custGeom>
            <a:blipFill>
              <a:blip r:embed="rId3">
                <a:alphaModFix amt="0"/>
              </a:blip>
              <a:stretch>
                <a:fillRect l="0" t="-176334" r="0" b="-169232"/>
              </a:stretch>
            </a:blipFill>
          </p:spPr>
        </p:sp>
        <p:sp>
          <p:nvSpPr>
            <p:cNvPr name="TextBox 4" id="4"/>
            <p:cNvSpPr txBox="true"/>
            <p:nvPr/>
          </p:nvSpPr>
          <p:spPr>
            <a:xfrm>
              <a:off x="0" y="0"/>
              <a:ext cx="19507200" cy="1706135"/>
            </a:xfrm>
            <a:prstGeom prst="rect">
              <a:avLst/>
            </a:prstGeom>
          </p:spPr>
          <p:txBody>
            <a:bodyPr anchor="ctr" rtlCol="false" tIns="0" lIns="0" bIns="0" rIns="0"/>
            <a:lstStyle/>
            <a:p>
              <a:pPr algn="l">
                <a:lnSpc>
                  <a:spcPts val="7680"/>
                </a:lnSpc>
              </a:pPr>
              <a:r>
                <a:rPr lang="en-US" sz="6400" b="true">
                  <a:solidFill>
                    <a:srgbClr val="6B4F3A"/>
                  </a:solidFill>
                  <a:latin typeface="Montserrat Bold"/>
                  <a:ea typeface="Montserrat Bold"/>
                  <a:cs typeface="Montserrat Bold"/>
                  <a:sym typeface="Montserrat Bold"/>
                </a:rPr>
                <a:t>Workflow Output</a:t>
              </a:r>
            </a:p>
          </p:txBody>
        </p:sp>
      </p:grpSp>
      <p:grpSp>
        <p:nvGrpSpPr>
          <p:cNvPr name="Group 5" id="5"/>
          <p:cNvGrpSpPr/>
          <p:nvPr/>
        </p:nvGrpSpPr>
        <p:grpSpPr>
          <a:xfrm rot="0">
            <a:off x="1097280" y="2047342"/>
            <a:ext cx="16162020" cy="694944"/>
            <a:chOff x="0" y="0"/>
            <a:chExt cx="21549360" cy="926592"/>
          </a:xfrm>
        </p:grpSpPr>
        <p:sp>
          <p:nvSpPr>
            <p:cNvPr name="Freeform 6" id="6"/>
            <p:cNvSpPr/>
            <p:nvPr/>
          </p:nvSpPr>
          <p:spPr>
            <a:xfrm flipH="false" flipV="false" rot="0">
              <a:off x="0" y="0"/>
              <a:ext cx="21549361" cy="926592"/>
            </a:xfrm>
            <a:custGeom>
              <a:avLst/>
              <a:gdLst/>
              <a:ahLst/>
              <a:cxnLst/>
              <a:rect r="r" b="b" t="t" l="l"/>
              <a:pathLst>
                <a:path h="926592" w="21549361">
                  <a:moveTo>
                    <a:pt x="0" y="0"/>
                  </a:moveTo>
                  <a:lnTo>
                    <a:pt x="21549361" y="0"/>
                  </a:lnTo>
                  <a:lnTo>
                    <a:pt x="21549361" y="926592"/>
                  </a:lnTo>
                  <a:lnTo>
                    <a:pt x="0" y="926592"/>
                  </a:lnTo>
                  <a:close/>
                </a:path>
              </a:pathLst>
            </a:custGeom>
            <a:blipFill>
              <a:blip r:embed="rId3">
                <a:alphaModFix amt="0"/>
              </a:blip>
              <a:stretch>
                <a:fillRect l="0" t="-257658" r="32107" b="-257658"/>
              </a:stretch>
            </a:blipFill>
          </p:spPr>
        </p:sp>
        <p:sp>
          <p:nvSpPr>
            <p:cNvPr name="TextBox 7" id="7"/>
            <p:cNvSpPr txBox="true"/>
            <p:nvPr/>
          </p:nvSpPr>
          <p:spPr>
            <a:xfrm>
              <a:off x="0" y="9525"/>
              <a:ext cx="21549360" cy="917067"/>
            </a:xfrm>
            <a:prstGeom prst="rect">
              <a:avLst/>
            </a:prstGeom>
          </p:spPr>
          <p:txBody>
            <a:bodyPr anchor="ctr" rtlCol="false" tIns="0" lIns="0" bIns="0" rIns="0"/>
            <a:lstStyle/>
            <a:p>
              <a:pPr algn="l">
                <a:lnSpc>
                  <a:spcPts val="2879"/>
                </a:lnSpc>
              </a:pPr>
              <a:r>
                <a:rPr lang="en-US" sz="2400">
                  <a:solidFill>
                    <a:srgbClr val="000000"/>
                  </a:solidFill>
                  <a:latin typeface="Montserrat"/>
                  <a:ea typeface="Montserrat"/>
                  <a:cs typeface="Montserrat"/>
                  <a:sym typeface="Montserrat"/>
                </a:rPr>
                <a:t>Example o</a:t>
              </a:r>
              <a:r>
                <a:rPr lang="en-US" sz="2400">
                  <a:solidFill>
                    <a:srgbClr val="000000"/>
                  </a:solidFill>
                  <a:latin typeface="Montserrat"/>
                  <a:ea typeface="Montserrat"/>
                  <a:cs typeface="Montserrat"/>
                  <a:sym typeface="Montserrat"/>
                </a:rPr>
                <a:t>utput of an occurrence matrix (species × year), featuring top 40 species in occurrence count</a:t>
              </a:r>
            </a:p>
          </p:txBody>
        </p:sp>
      </p:grpSp>
      <p:sp>
        <p:nvSpPr>
          <p:cNvPr name="Freeform 8" id="8"/>
          <p:cNvSpPr/>
          <p:nvPr/>
        </p:nvSpPr>
        <p:spPr>
          <a:xfrm flipH="false" flipV="false" rot="0">
            <a:off x="896397" y="3470323"/>
            <a:ext cx="16495206" cy="4824848"/>
          </a:xfrm>
          <a:custGeom>
            <a:avLst/>
            <a:gdLst/>
            <a:ahLst/>
            <a:cxnLst/>
            <a:rect r="r" b="b" t="t" l="l"/>
            <a:pathLst>
              <a:path h="4824848" w="16495206">
                <a:moveTo>
                  <a:pt x="0" y="0"/>
                </a:moveTo>
                <a:lnTo>
                  <a:pt x="16495206" y="0"/>
                </a:lnTo>
                <a:lnTo>
                  <a:pt x="16495206" y="4824848"/>
                </a:lnTo>
                <a:lnTo>
                  <a:pt x="0" y="4824848"/>
                </a:lnTo>
                <a:lnTo>
                  <a:pt x="0" y="0"/>
                </a:lnTo>
                <a:close/>
              </a:path>
            </a:pathLst>
          </a:custGeom>
          <a:blipFill>
            <a:blip r:embed="rId4"/>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0E8"/>
        </a:solidFill>
      </p:bgPr>
    </p:bg>
    <p:spTree>
      <p:nvGrpSpPr>
        <p:cNvPr id="1" name=""/>
        <p:cNvGrpSpPr/>
        <p:nvPr/>
      </p:nvGrpSpPr>
      <p:grpSpPr>
        <a:xfrm>
          <a:off x="0" y="0"/>
          <a:ext cx="0" cy="0"/>
          <a:chOff x="0" y="0"/>
          <a:chExt cx="0" cy="0"/>
        </a:xfrm>
      </p:grpSpPr>
      <p:grpSp>
        <p:nvGrpSpPr>
          <p:cNvPr name="Group 2" id="2"/>
          <p:cNvGrpSpPr/>
          <p:nvPr/>
        </p:nvGrpSpPr>
        <p:grpSpPr>
          <a:xfrm rot="0">
            <a:off x="1097280" y="822960"/>
            <a:ext cx="14630400" cy="1279601"/>
            <a:chOff x="0" y="0"/>
            <a:chExt cx="19507200" cy="1706135"/>
          </a:xfrm>
        </p:grpSpPr>
        <p:sp>
          <p:nvSpPr>
            <p:cNvPr name="Freeform 3" id="3"/>
            <p:cNvSpPr/>
            <p:nvPr/>
          </p:nvSpPr>
          <p:spPr>
            <a:xfrm flipH="false" flipV="false" rot="0">
              <a:off x="0" y="0"/>
              <a:ext cx="19507200" cy="1706135"/>
            </a:xfrm>
            <a:custGeom>
              <a:avLst/>
              <a:gdLst/>
              <a:ahLst/>
              <a:cxnLst/>
              <a:rect r="r" b="b" t="t" l="l"/>
              <a:pathLst>
                <a:path h="1706135" w="19507200">
                  <a:moveTo>
                    <a:pt x="0" y="0"/>
                  </a:moveTo>
                  <a:lnTo>
                    <a:pt x="19507200" y="0"/>
                  </a:lnTo>
                  <a:lnTo>
                    <a:pt x="19507200" y="1706135"/>
                  </a:lnTo>
                  <a:lnTo>
                    <a:pt x="0" y="1706135"/>
                  </a:lnTo>
                  <a:close/>
                </a:path>
              </a:pathLst>
            </a:custGeom>
            <a:blipFill>
              <a:blip r:embed="rId3">
                <a:alphaModFix amt="0"/>
              </a:blip>
              <a:stretch>
                <a:fillRect l="0" t="-176334" r="0" b="-169232"/>
              </a:stretch>
            </a:blipFill>
          </p:spPr>
        </p:sp>
        <p:sp>
          <p:nvSpPr>
            <p:cNvPr name="TextBox 4" id="4"/>
            <p:cNvSpPr txBox="true"/>
            <p:nvPr/>
          </p:nvSpPr>
          <p:spPr>
            <a:xfrm>
              <a:off x="0" y="0"/>
              <a:ext cx="19507200" cy="1706135"/>
            </a:xfrm>
            <a:prstGeom prst="rect">
              <a:avLst/>
            </a:prstGeom>
          </p:spPr>
          <p:txBody>
            <a:bodyPr anchor="ctr" rtlCol="false" tIns="0" lIns="0" bIns="0" rIns="0"/>
            <a:lstStyle/>
            <a:p>
              <a:pPr algn="l">
                <a:lnSpc>
                  <a:spcPts val="7680"/>
                </a:lnSpc>
              </a:pPr>
              <a:r>
                <a:rPr lang="en-US" sz="6400" b="true">
                  <a:solidFill>
                    <a:srgbClr val="6B4F3A"/>
                  </a:solidFill>
                  <a:latin typeface="Montserrat Bold"/>
                  <a:ea typeface="Montserrat Bold"/>
                  <a:cs typeface="Montserrat Bold"/>
                  <a:sym typeface="Montserrat Bold"/>
                </a:rPr>
                <a:t>Workflow Steps</a:t>
              </a:r>
            </a:p>
          </p:txBody>
        </p:sp>
      </p:grpSp>
      <p:grpSp>
        <p:nvGrpSpPr>
          <p:cNvPr name="Group 5" id="5"/>
          <p:cNvGrpSpPr/>
          <p:nvPr/>
        </p:nvGrpSpPr>
        <p:grpSpPr>
          <a:xfrm rot="0">
            <a:off x="1097280" y="1961617"/>
            <a:ext cx="16385518" cy="694944"/>
            <a:chOff x="0" y="0"/>
            <a:chExt cx="21847358" cy="926592"/>
          </a:xfrm>
        </p:grpSpPr>
        <p:sp>
          <p:nvSpPr>
            <p:cNvPr name="Freeform 6" id="6"/>
            <p:cNvSpPr/>
            <p:nvPr/>
          </p:nvSpPr>
          <p:spPr>
            <a:xfrm flipH="false" flipV="false" rot="0">
              <a:off x="0" y="0"/>
              <a:ext cx="21847358" cy="926592"/>
            </a:xfrm>
            <a:custGeom>
              <a:avLst/>
              <a:gdLst/>
              <a:ahLst/>
              <a:cxnLst/>
              <a:rect r="r" b="b" t="t" l="l"/>
              <a:pathLst>
                <a:path h="926592" w="21847358">
                  <a:moveTo>
                    <a:pt x="0" y="0"/>
                  </a:moveTo>
                  <a:lnTo>
                    <a:pt x="21847358" y="0"/>
                  </a:lnTo>
                  <a:lnTo>
                    <a:pt x="21847358" y="926592"/>
                  </a:lnTo>
                  <a:lnTo>
                    <a:pt x="0" y="926592"/>
                  </a:lnTo>
                  <a:close/>
                </a:path>
              </a:pathLst>
            </a:custGeom>
            <a:blipFill>
              <a:blip r:embed="rId3">
                <a:alphaModFix amt="0"/>
              </a:blip>
              <a:stretch>
                <a:fillRect l="0" t="-257658" r="33033" b="-257658"/>
              </a:stretch>
            </a:blipFill>
          </p:spPr>
        </p:sp>
        <p:sp>
          <p:nvSpPr>
            <p:cNvPr name="TextBox 7" id="7"/>
            <p:cNvSpPr txBox="true"/>
            <p:nvPr/>
          </p:nvSpPr>
          <p:spPr>
            <a:xfrm>
              <a:off x="0" y="9525"/>
              <a:ext cx="21847358" cy="917067"/>
            </a:xfrm>
            <a:prstGeom prst="rect">
              <a:avLst/>
            </a:prstGeom>
          </p:spPr>
          <p:txBody>
            <a:bodyPr anchor="ctr" rtlCol="false" tIns="0" lIns="0" bIns="0" rIns="0"/>
            <a:lstStyle/>
            <a:p>
              <a:pPr algn="l">
                <a:lnSpc>
                  <a:spcPts val="2879"/>
                </a:lnSpc>
              </a:pPr>
              <a:r>
                <a:rPr lang="en-US" sz="2400">
                  <a:solidFill>
                    <a:srgbClr val="000000"/>
                  </a:solidFill>
                  <a:latin typeface="Montserrat"/>
                  <a:ea typeface="Montserrat"/>
                  <a:cs typeface="Montserrat"/>
                  <a:sym typeface="Montserrat"/>
                </a:rPr>
                <a:t>Workflow was built using Snakemake, covering data acquisition to analysis-ready occurrence matrix </a:t>
              </a:r>
            </a:p>
          </p:txBody>
        </p:sp>
      </p:grpSp>
      <p:sp>
        <p:nvSpPr>
          <p:cNvPr name="Freeform 8" id="8"/>
          <p:cNvSpPr/>
          <p:nvPr/>
        </p:nvSpPr>
        <p:spPr>
          <a:xfrm flipH="false" flipV="false" rot="0">
            <a:off x="1097280" y="2761617"/>
            <a:ext cx="7240640" cy="6127391"/>
          </a:xfrm>
          <a:custGeom>
            <a:avLst/>
            <a:gdLst/>
            <a:ahLst/>
            <a:cxnLst/>
            <a:rect r="r" b="b" t="t" l="l"/>
            <a:pathLst>
              <a:path h="6127391" w="7240640">
                <a:moveTo>
                  <a:pt x="0" y="0"/>
                </a:moveTo>
                <a:lnTo>
                  <a:pt x="7240640" y="0"/>
                </a:lnTo>
                <a:lnTo>
                  <a:pt x="7240640" y="6127391"/>
                </a:lnTo>
                <a:lnTo>
                  <a:pt x="0" y="6127391"/>
                </a:lnTo>
                <a:lnTo>
                  <a:pt x="0" y="0"/>
                </a:lnTo>
                <a:close/>
              </a:path>
            </a:pathLst>
          </a:custGeom>
          <a:blipFill>
            <a:blip r:embed="rId4"/>
            <a:stretch>
              <a:fillRect l="0" t="0" r="0" b="0"/>
            </a:stretch>
          </a:blipFill>
        </p:spPr>
      </p:sp>
      <p:grpSp>
        <p:nvGrpSpPr>
          <p:cNvPr name="Group 9" id="9"/>
          <p:cNvGrpSpPr/>
          <p:nvPr/>
        </p:nvGrpSpPr>
        <p:grpSpPr>
          <a:xfrm rot="0">
            <a:off x="1412945" y="2761617"/>
            <a:ext cx="16069854" cy="1945643"/>
            <a:chOff x="0" y="0"/>
            <a:chExt cx="21426472" cy="2594191"/>
          </a:xfrm>
        </p:grpSpPr>
        <p:grpSp>
          <p:nvGrpSpPr>
            <p:cNvPr name="Group 10" id="10"/>
            <p:cNvGrpSpPr/>
            <p:nvPr/>
          </p:nvGrpSpPr>
          <p:grpSpPr>
            <a:xfrm rot="0">
              <a:off x="9636029" y="0"/>
              <a:ext cx="11790442" cy="2594191"/>
              <a:chOff x="0" y="0"/>
              <a:chExt cx="11790442" cy="2594191"/>
            </a:xfrm>
          </p:grpSpPr>
          <p:sp>
            <p:nvSpPr>
              <p:cNvPr name="Freeform 11" id="11"/>
              <p:cNvSpPr/>
              <p:nvPr/>
            </p:nvSpPr>
            <p:spPr>
              <a:xfrm flipH="false" flipV="false" rot="0">
                <a:off x="0" y="0"/>
                <a:ext cx="11790480" cy="2594229"/>
              </a:xfrm>
              <a:custGeom>
                <a:avLst/>
                <a:gdLst/>
                <a:ahLst/>
                <a:cxnLst/>
                <a:rect r="r" b="b" t="t" l="l"/>
                <a:pathLst>
                  <a:path h="2594229" w="11790480">
                    <a:moveTo>
                      <a:pt x="414952" y="0"/>
                    </a:moveTo>
                    <a:lnTo>
                      <a:pt x="11375529" y="0"/>
                    </a:lnTo>
                    <a:cubicBezTo>
                      <a:pt x="11604700" y="0"/>
                      <a:pt x="11790480" y="185780"/>
                      <a:pt x="11790480" y="414952"/>
                    </a:cubicBezTo>
                    <a:lnTo>
                      <a:pt x="11790480" y="2179277"/>
                    </a:lnTo>
                    <a:cubicBezTo>
                      <a:pt x="11790480" y="2289329"/>
                      <a:pt x="11746762" y="2394874"/>
                      <a:pt x="11668944" y="2472692"/>
                    </a:cubicBezTo>
                    <a:cubicBezTo>
                      <a:pt x="11591125" y="2550511"/>
                      <a:pt x="11485580" y="2594229"/>
                      <a:pt x="11375529" y="2594229"/>
                    </a:cubicBezTo>
                    <a:lnTo>
                      <a:pt x="414952" y="2594229"/>
                    </a:lnTo>
                    <a:cubicBezTo>
                      <a:pt x="304900" y="2594229"/>
                      <a:pt x="199355" y="2550511"/>
                      <a:pt x="121537" y="2472692"/>
                    </a:cubicBezTo>
                    <a:cubicBezTo>
                      <a:pt x="43718" y="2394874"/>
                      <a:pt x="0" y="2289329"/>
                      <a:pt x="0" y="2179277"/>
                    </a:cubicBezTo>
                    <a:lnTo>
                      <a:pt x="0" y="414952"/>
                    </a:lnTo>
                    <a:cubicBezTo>
                      <a:pt x="0" y="304900"/>
                      <a:pt x="43718" y="199355"/>
                      <a:pt x="121537" y="121537"/>
                    </a:cubicBezTo>
                    <a:cubicBezTo>
                      <a:pt x="199355" y="43718"/>
                      <a:pt x="304900" y="0"/>
                      <a:pt x="414952" y="0"/>
                    </a:cubicBezTo>
                    <a:close/>
                  </a:path>
                </a:pathLst>
              </a:custGeom>
              <a:solidFill>
                <a:srgbClr val="FDFAF5"/>
              </a:solidFill>
              <a:ln w="25400" cap="rnd">
                <a:solidFill>
                  <a:srgbClr val="D9CEBA"/>
                </a:solidFill>
                <a:prstDash val="solid"/>
                <a:round/>
              </a:ln>
            </p:spPr>
          </p:sp>
        </p:grpSp>
        <p:grpSp>
          <p:nvGrpSpPr>
            <p:cNvPr name="Group 12" id="12"/>
            <p:cNvGrpSpPr/>
            <p:nvPr/>
          </p:nvGrpSpPr>
          <p:grpSpPr>
            <a:xfrm rot="0">
              <a:off x="10189016" y="431457"/>
              <a:ext cx="4036217" cy="1706880"/>
              <a:chOff x="0" y="0"/>
              <a:chExt cx="4036217" cy="1706880"/>
            </a:xfrm>
          </p:grpSpPr>
          <p:sp>
            <p:nvSpPr>
              <p:cNvPr name="Freeform 13" id="13"/>
              <p:cNvSpPr/>
              <p:nvPr/>
            </p:nvSpPr>
            <p:spPr>
              <a:xfrm flipH="false" flipV="false" rot="0">
                <a:off x="0" y="0"/>
                <a:ext cx="4036216" cy="1706880"/>
              </a:xfrm>
              <a:custGeom>
                <a:avLst/>
                <a:gdLst/>
                <a:ahLst/>
                <a:cxnLst/>
                <a:rect r="r" b="b" t="t" l="l"/>
                <a:pathLst>
                  <a:path h="1706880" w="4036216">
                    <a:moveTo>
                      <a:pt x="0" y="0"/>
                    </a:moveTo>
                    <a:lnTo>
                      <a:pt x="4036216" y="0"/>
                    </a:lnTo>
                    <a:lnTo>
                      <a:pt x="4036216" y="1706880"/>
                    </a:lnTo>
                    <a:lnTo>
                      <a:pt x="0" y="1706880"/>
                    </a:lnTo>
                    <a:close/>
                  </a:path>
                </a:pathLst>
              </a:custGeom>
              <a:blipFill>
                <a:blip r:embed="rId3">
                  <a:alphaModFix amt="0"/>
                </a:blip>
                <a:stretch>
                  <a:fillRect l="-31962" t="0" r="-4458" b="-25714"/>
                </a:stretch>
              </a:blipFill>
            </p:spPr>
          </p:sp>
          <p:sp>
            <p:nvSpPr>
              <p:cNvPr name="TextBox 14" id="14"/>
              <p:cNvSpPr txBox="true"/>
              <p:nvPr/>
            </p:nvSpPr>
            <p:spPr>
              <a:xfrm>
                <a:off x="0" y="9525"/>
                <a:ext cx="4036217" cy="1697355"/>
              </a:xfrm>
              <a:prstGeom prst="rect">
                <a:avLst/>
              </a:prstGeom>
            </p:spPr>
            <p:txBody>
              <a:bodyPr anchor="ctr" rtlCol="false" tIns="0" lIns="0" bIns="0" rIns="0"/>
              <a:lstStyle/>
              <a:p>
                <a:pPr algn="l">
                  <a:lnSpc>
                    <a:spcPts val="3359"/>
                  </a:lnSpc>
                </a:pPr>
                <a:r>
                  <a:rPr lang="en-US" sz="2799" b="true">
                    <a:solidFill>
                      <a:srgbClr val="C0714F"/>
                    </a:solidFill>
                    <a:latin typeface="Montserrat Bold"/>
                    <a:ea typeface="Montserrat Bold"/>
                    <a:cs typeface="Montserrat Bold"/>
                    <a:sym typeface="Montserrat Bold"/>
                  </a:rPr>
                  <a:t>Acquire &amp; Prep:</a:t>
                </a:r>
              </a:p>
            </p:txBody>
          </p:sp>
        </p:grpSp>
        <p:grpSp>
          <p:nvGrpSpPr>
            <p:cNvPr name="Group 15" id="15"/>
            <p:cNvGrpSpPr/>
            <p:nvPr/>
          </p:nvGrpSpPr>
          <p:grpSpPr>
            <a:xfrm rot="0">
              <a:off x="14487742" y="699681"/>
              <a:ext cx="6078583" cy="1170432"/>
              <a:chOff x="0" y="0"/>
              <a:chExt cx="6078583" cy="1170432"/>
            </a:xfrm>
          </p:grpSpPr>
          <p:sp>
            <p:nvSpPr>
              <p:cNvPr name="Freeform 16" id="16"/>
              <p:cNvSpPr/>
              <p:nvPr/>
            </p:nvSpPr>
            <p:spPr>
              <a:xfrm flipH="false" flipV="false" rot="0">
                <a:off x="0" y="0"/>
                <a:ext cx="6078582" cy="1170432"/>
              </a:xfrm>
              <a:custGeom>
                <a:avLst/>
                <a:gdLst/>
                <a:ahLst/>
                <a:cxnLst/>
                <a:rect r="r" b="b" t="t" l="l"/>
                <a:pathLst>
                  <a:path h="1170432" w="6078582">
                    <a:moveTo>
                      <a:pt x="0" y="0"/>
                    </a:moveTo>
                    <a:lnTo>
                      <a:pt x="6078582" y="0"/>
                    </a:lnTo>
                    <a:lnTo>
                      <a:pt x="6078582" y="1170432"/>
                    </a:lnTo>
                    <a:lnTo>
                      <a:pt x="0" y="1170432"/>
                    </a:lnTo>
                    <a:close/>
                  </a:path>
                </a:pathLst>
              </a:custGeom>
              <a:blipFill>
                <a:blip r:embed="rId3">
                  <a:alphaModFix amt="0"/>
                </a:blip>
                <a:stretch>
                  <a:fillRect l="0" t="-63662" r="-12320" b="-63662"/>
                </a:stretch>
              </a:blipFill>
            </p:spPr>
          </p:sp>
          <p:sp>
            <p:nvSpPr>
              <p:cNvPr name="TextBox 17" id="17"/>
              <p:cNvSpPr txBox="true"/>
              <p:nvPr/>
            </p:nvSpPr>
            <p:spPr>
              <a:xfrm>
                <a:off x="0" y="0"/>
                <a:ext cx="6078583" cy="1170432"/>
              </a:xfrm>
              <a:prstGeom prst="rect">
                <a:avLst/>
              </a:prstGeom>
            </p:spPr>
            <p:txBody>
              <a:bodyPr anchor="ctr" rtlCol="false" tIns="0" lIns="0" bIns="0" rIns="0"/>
              <a:lstStyle/>
              <a:p>
                <a:pPr algn="l" marL="474981" indent="-237491" lvl="1">
                  <a:lnSpc>
                    <a:spcPts val="2640"/>
                  </a:lnSpc>
                  <a:buFont typeface="Arial"/>
                  <a:buChar char="•"/>
                </a:pPr>
                <a:r>
                  <a:rPr lang="en-US" sz="2200">
                    <a:solidFill>
                      <a:srgbClr val="000000"/>
                    </a:solidFill>
                    <a:latin typeface="Montserrat"/>
                    <a:ea typeface="Montserrat"/>
                    <a:cs typeface="Montserrat"/>
                    <a:sym typeface="Montserrat"/>
                  </a:rPr>
                  <a:t>Data acquistion</a:t>
                </a:r>
              </a:p>
              <a:p>
                <a:pPr algn="l" marL="474981" indent="-237491" lvl="1">
                  <a:lnSpc>
                    <a:spcPts val="2640"/>
                  </a:lnSpc>
                  <a:buFont typeface="Arial"/>
                  <a:buChar char="•"/>
                </a:pPr>
                <a:r>
                  <a:rPr lang="en-US" sz="2200">
                    <a:solidFill>
                      <a:srgbClr val="000000"/>
                    </a:solidFill>
                    <a:latin typeface="Montserrat"/>
                    <a:ea typeface="Montserrat"/>
                    <a:cs typeface="Montserrat"/>
                    <a:sym typeface="Montserrat"/>
                  </a:rPr>
                  <a:t>Data c</a:t>
                </a:r>
                <a:r>
                  <a:rPr lang="en-US" sz="2200">
                    <a:solidFill>
                      <a:srgbClr val="000000"/>
                    </a:solidFill>
                    <a:latin typeface="Montserrat"/>
                    <a:ea typeface="Montserrat"/>
                    <a:cs typeface="Montserrat"/>
                    <a:sym typeface="Montserrat"/>
                  </a:rPr>
                  <a:t>leaning</a:t>
                </a:r>
              </a:p>
            </p:txBody>
          </p:sp>
        </p:grpSp>
        <p:sp>
          <p:nvSpPr>
            <p:cNvPr name="AutoShape 18" id="18"/>
            <p:cNvSpPr/>
            <p:nvPr/>
          </p:nvSpPr>
          <p:spPr>
            <a:xfrm>
              <a:off x="0" y="2566714"/>
              <a:ext cx="8656320" cy="0"/>
            </a:xfrm>
            <a:prstGeom prst="line">
              <a:avLst/>
            </a:prstGeom>
            <a:ln cap="flat" w="50800">
              <a:solidFill>
                <a:srgbClr val="FF3131"/>
              </a:solidFill>
              <a:prstDash val="sysDash"/>
              <a:headEnd type="none" len="sm" w="sm"/>
              <a:tailEnd type="none" len="sm" w="sm"/>
            </a:ln>
          </p:spPr>
        </p:sp>
      </p:grpSp>
      <p:grpSp>
        <p:nvGrpSpPr>
          <p:cNvPr name="Group 19" id="19"/>
          <p:cNvGrpSpPr/>
          <p:nvPr/>
        </p:nvGrpSpPr>
        <p:grpSpPr>
          <a:xfrm rot="0">
            <a:off x="1412945" y="5112389"/>
            <a:ext cx="16069854" cy="4296416"/>
            <a:chOff x="0" y="0"/>
            <a:chExt cx="21426472" cy="5728554"/>
          </a:xfrm>
        </p:grpSpPr>
        <p:grpSp>
          <p:nvGrpSpPr>
            <p:cNvPr name="Group 20" id="20"/>
            <p:cNvGrpSpPr/>
            <p:nvPr/>
          </p:nvGrpSpPr>
          <p:grpSpPr>
            <a:xfrm rot="0">
              <a:off x="9636029" y="0"/>
              <a:ext cx="11790442" cy="2594191"/>
              <a:chOff x="0" y="0"/>
              <a:chExt cx="11790442" cy="2594191"/>
            </a:xfrm>
          </p:grpSpPr>
          <p:sp>
            <p:nvSpPr>
              <p:cNvPr name="Freeform 21" id="21"/>
              <p:cNvSpPr/>
              <p:nvPr/>
            </p:nvSpPr>
            <p:spPr>
              <a:xfrm flipH="false" flipV="false" rot="0">
                <a:off x="0" y="0"/>
                <a:ext cx="11790480" cy="2594229"/>
              </a:xfrm>
              <a:custGeom>
                <a:avLst/>
                <a:gdLst/>
                <a:ahLst/>
                <a:cxnLst/>
                <a:rect r="r" b="b" t="t" l="l"/>
                <a:pathLst>
                  <a:path h="2594229" w="11790480">
                    <a:moveTo>
                      <a:pt x="414952" y="0"/>
                    </a:moveTo>
                    <a:lnTo>
                      <a:pt x="11375529" y="0"/>
                    </a:lnTo>
                    <a:cubicBezTo>
                      <a:pt x="11604700" y="0"/>
                      <a:pt x="11790480" y="185780"/>
                      <a:pt x="11790480" y="414952"/>
                    </a:cubicBezTo>
                    <a:lnTo>
                      <a:pt x="11790480" y="2179277"/>
                    </a:lnTo>
                    <a:cubicBezTo>
                      <a:pt x="11790480" y="2289329"/>
                      <a:pt x="11746762" y="2394874"/>
                      <a:pt x="11668944" y="2472692"/>
                    </a:cubicBezTo>
                    <a:cubicBezTo>
                      <a:pt x="11591125" y="2550511"/>
                      <a:pt x="11485580" y="2594229"/>
                      <a:pt x="11375529" y="2594229"/>
                    </a:cubicBezTo>
                    <a:lnTo>
                      <a:pt x="414952" y="2594229"/>
                    </a:lnTo>
                    <a:cubicBezTo>
                      <a:pt x="304900" y="2594229"/>
                      <a:pt x="199355" y="2550511"/>
                      <a:pt x="121537" y="2472692"/>
                    </a:cubicBezTo>
                    <a:cubicBezTo>
                      <a:pt x="43718" y="2394874"/>
                      <a:pt x="0" y="2289329"/>
                      <a:pt x="0" y="2179277"/>
                    </a:cubicBezTo>
                    <a:lnTo>
                      <a:pt x="0" y="414952"/>
                    </a:lnTo>
                    <a:cubicBezTo>
                      <a:pt x="0" y="304900"/>
                      <a:pt x="43718" y="199355"/>
                      <a:pt x="121537" y="121537"/>
                    </a:cubicBezTo>
                    <a:cubicBezTo>
                      <a:pt x="199355" y="43718"/>
                      <a:pt x="304900" y="0"/>
                      <a:pt x="414952" y="0"/>
                    </a:cubicBezTo>
                    <a:close/>
                  </a:path>
                </a:pathLst>
              </a:custGeom>
              <a:solidFill>
                <a:srgbClr val="FDFAF5"/>
              </a:solidFill>
              <a:ln w="25400" cap="rnd">
                <a:solidFill>
                  <a:srgbClr val="D9CEBA"/>
                </a:solidFill>
                <a:prstDash val="solid"/>
                <a:round/>
              </a:ln>
            </p:spPr>
          </p:sp>
        </p:grpSp>
        <p:grpSp>
          <p:nvGrpSpPr>
            <p:cNvPr name="Group 22" id="22"/>
            <p:cNvGrpSpPr/>
            <p:nvPr/>
          </p:nvGrpSpPr>
          <p:grpSpPr>
            <a:xfrm rot="0">
              <a:off x="10189016" y="212001"/>
              <a:ext cx="4036217" cy="2145792"/>
              <a:chOff x="0" y="0"/>
              <a:chExt cx="4036217" cy="2145792"/>
            </a:xfrm>
          </p:grpSpPr>
          <p:sp>
            <p:nvSpPr>
              <p:cNvPr name="Freeform 23" id="23"/>
              <p:cNvSpPr/>
              <p:nvPr/>
            </p:nvSpPr>
            <p:spPr>
              <a:xfrm flipH="false" flipV="false" rot="0">
                <a:off x="0" y="0"/>
                <a:ext cx="4036216" cy="2145792"/>
              </a:xfrm>
              <a:custGeom>
                <a:avLst/>
                <a:gdLst/>
                <a:ahLst/>
                <a:cxnLst/>
                <a:rect r="r" b="b" t="t" l="l"/>
                <a:pathLst>
                  <a:path h="2145792" w="4036216">
                    <a:moveTo>
                      <a:pt x="0" y="0"/>
                    </a:moveTo>
                    <a:lnTo>
                      <a:pt x="4036216" y="0"/>
                    </a:lnTo>
                    <a:lnTo>
                      <a:pt x="4036216" y="2145792"/>
                    </a:lnTo>
                    <a:lnTo>
                      <a:pt x="0" y="2145792"/>
                    </a:lnTo>
                    <a:close/>
                  </a:path>
                </a:pathLst>
              </a:custGeom>
              <a:blipFill>
                <a:blip r:embed="rId3">
                  <a:alphaModFix amt="0"/>
                </a:blip>
                <a:stretch>
                  <a:fillRect l="-31962" t="0" r="-4458" b="0"/>
                </a:stretch>
              </a:blipFill>
            </p:spPr>
          </p:sp>
          <p:sp>
            <p:nvSpPr>
              <p:cNvPr name="TextBox 24" id="24"/>
              <p:cNvSpPr txBox="true"/>
              <p:nvPr/>
            </p:nvSpPr>
            <p:spPr>
              <a:xfrm>
                <a:off x="0" y="9525"/>
                <a:ext cx="4036217" cy="2136267"/>
              </a:xfrm>
              <a:prstGeom prst="rect">
                <a:avLst/>
              </a:prstGeom>
            </p:spPr>
            <p:txBody>
              <a:bodyPr anchor="ctr" rtlCol="false" tIns="0" lIns="0" bIns="0" rIns="0"/>
              <a:lstStyle/>
              <a:p>
                <a:pPr algn="l">
                  <a:lnSpc>
                    <a:spcPts val="3359"/>
                  </a:lnSpc>
                </a:pPr>
                <a:r>
                  <a:rPr lang="en-US" sz="2799" b="true">
                    <a:solidFill>
                      <a:srgbClr val="C0714F"/>
                    </a:solidFill>
                    <a:latin typeface="Montserrat Bold"/>
                    <a:ea typeface="Montserrat Bold"/>
                    <a:cs typeface="Montserrat Bold"/>
                    <a:sym typeface="Montserrat Bold"/>
                  </a:rPr>
                  <a:t>Normalisation &amp; Filtering:</a:t>
                </a:r>
              </a:p>
            </p:txBody>
          </p:sp>
        </p:grpSp>
        <p:grpSp>
          <p:nvGrpSpPr>
            <p:cNvPr name="Group 25" id="25"/>
            <p:cNvGrpSpPr/>
            <p:nvPr/>
          </p:nvGrpSpPr>
          <p:grpSpPr>
            <a:xfrm rot="0">
              <a:off x="14487742" y="547552"/>
              <a:ext cx="6078583" cy="1474691"/>
              <a:chOff x="0" y="0"/>
              <a:chExt cx="6078583" cy="1474691"/>
            </a:xfrm>
          </p:grpSpPr>
          <p:sp>
            <p:nvSpPr>
              <p:cNvPr name="Freeform 26" id="26"/>
              <p:cNvSpPr/>
              <p:nvPr/>
            </p:nvSpPr>
            <p:spPr>
              <a:xfrm flipH="false" flipV="false" rot="0">
                <a:off x="0" y="0"/>
                <a:ext cx="6078582" cy="1474691"/>
              </a:xfrm>
              <a:custGeom>
                <a:avLst/>
                <a:gdLst/>
                <a:ahLst/>
                <a:cxnLst/>
                <a:rect r="r" b="b" t="t" l="l"/>
                <a:pathLst>
                  <a:path h="1474691" w="6078582">
                    <a:moveTo>
                      <a:pt x="0" y="0"/>
                    </a:moveTo>
                    <a:lnTo>
                      <a:pt x="6078582" y="0"/>
                    </a:lnTo>
                    <a:lnTo>
                      <a:pt x="6078582" y="1474691"/>
                    </a:lnTo>
                    <a:lnTo>
                      <a:pt x="0" y="1474691"/>
                    </a:lnTo>
                    <a:close/>
                  </a:path>
                </a:pathLst>
              </a:custGeom>
              <a:blipFill>
                <a:blip r:embed="rId3">
                  <a:alphaModFix amt="0"/>
                </a:blip>
                <a:stretch>
                  <a:fillRect l="0" t="-50527" r="-12320" b="-29895"/>
                </a:stretch>
              </a:blipFill>
            </p:spPr>
          </p:sp>
          <p:sp>
            <p:nvSpPr>
              <p:cNvPr name="TextBox 27" id="27"/>
              <p:cNvSpPr txBox="true"/>
              <p:nvPr/>
            </p:nvSpPr>
            <p:spPr>
              <a:xfrm>
                <a:off x="0" y="0"/>
                <a:ext cx="6078583" cy="1474691"/>
              </a:xfrm>
              <a:prstGeom prst="rect">
                <a:avLst/>
              </a:prstGeom>
            </p:spPr>
            <p:txBody>
              <a:bodyPr anchor="ctr" rtlCol="false" tIns="0" lIns="0" bIns="0" rIns="0"/>
              <a:lstStyle/>
              <a:p>
                <a:pPr algn="l" marL="474983" indent="-237491" lvl="1">
                  <a:lnSpc>
                    <a:spcPts val="2640"/>
                  </a:lnSpc>
                  <a:buFont typeface="Arial"/>
                  <a:buChar char="•"/>
                </a:pPr>
                <a:r>
                  <a:rPr lang="en-US" sz="2200">
                    <a:solidFill>
                      <a:srgbClr val="000000"/>
                    </a:solidFill>
                    <a:latin typeface="Montserrat"/>
                    <a:ea typeface="Montserrat"/>
                    <a:cs typeface="Montserrat"/>
                    <a:sym typeface="Montserrat"/>
                  </a:rPr>
                  <a:t>Normalise taxonomic names</a:t>
                </a:r>
              </a:p>
              <a:p>
                <a:pPr algn="l" marL="474983" indent="-237491" lvl="1">
                  <a:lnSpc>
                    <a:spcPts val="2640"/>
                  </a:lnSpc>
                  <a:buFont typeface="Arial"/>
                  <a:buChar char="•"/>
                </a:pPr>
                <a:r>
                  <a:rPr lang="en-US" sz="2200">
                    <a:solidFill>
                      <a:srgbClr val="000000"/>
                    </a:solidFill>
                    <a:latin typeface="Montserrat"/>
                    <a:ea typeface="Montserrat"/>
                    <a:cs typeface="Montserrat"/>
                    <a:sym typeface="Montserrat"/>
                  </a:rPr>
                  <a:t>Taxonomic filtering</a:t>
                </a:r>
              </a:p>
              <a:p>
                <a:pPr algn="l" marL="474983" indent="-237491" lvl="1">
                  <a:lnSpc>
                    <a:spcPts val="2640"/>
                  </a:lnSpc>
                  <a:buFont typeface="Arial"/>
                  <a:buChar char="•"/>
                </a:pPr>
                <a:r>
                  <a:rPr lang="en-US" sz="2200">
                    <a:solidFill>
                      <a:srgbClr val="000000"/>
                    </a:solidFill>
                    <a:latin typeface="Montserrat"/>
                    <a:ea typeface="Montserrat"/>
                    <a:cs typeface="Montserrat"/>
                    <a:sym typeface="Montserrat"/>
                  </a:rPr>
                  <a:t>Coastal distance filtering</a:t>
                </a:r>
                <a:r>
                  <a:rPr lang="en-US" sz="2200">
                    <a:solidFill>
                      <a:srgbClr val="000000"/>
                    </a:solidFill>
                    <a:latin typeface="Montserrat"/>
                    <a:ea typeface="Montserrat"/>
                    <a:cs typeface="Montserrat"/>
                    <a:sym typeface="Montserrat"/>
                  </a:rPr>
                  <a:t> </a:t>
                </a:r>
              </a:p>
            </p:txBody>
          </p:sp>
        </p:grpSp>
        <p:grpSp>
          <p:nvGrpSpPr>
            <p:cNvPr name="Group 28" id="28"/>
            <p:cNvGrpSpPr/>
            <p:nvPr/>
          </p:nvGrpSpPr>
          <p:grpSpPr>
            <a:xfrm rot="0">
              <a:off x="9636029" y="3134363"/>
              <a:ext cx="11790442" cy="2594191"/>
              <a:chOff x="0" y="0"/>
              <a:chExt cx="11790442" cy="2594191"/>
            </a:xfrm>
          </p:grpSpPr>
          <p:sp>
            <p:nvSpPr>
              <p:cNvPr name="Freeform 29" id="29"/>
              <p:cNvSpPr/>
              <p:nvPr/>
            </p:nvSpPr>
            <p:spPr>
              <a:xfrm flipH="false" flipV="false" rot="0">
                <a:off x="0" y="0"/>
                <a:ext cx="11790480" cy="2594229"/>
              </a:xfrm>
              <a:custGeom>
                <a:avLst/>
                <a:gdLst/>
                <a:ahLst/>
                <a:cxnLst/>
                <a:rect r="r" b="b" t="t" l="l"/>
                <a:pathLst>
                  <a:path h="2594229" w="11790480">
                    <a:moveTo>
                      <a:pt x="414952" y="0"/>
                    </a:moveTo>
                    <a:lnTo>
                      <a:pt x="11375529" y="0"/>
                    </a:lnTo>
                    <a:cubicBezTo>
                      <a:pt x="11604700" y="0"/>
                      <a:pt x="11790480" y="185780"/>
                      <a:pt x="11790480" y="414952"/>
                    </a:cubicBezTo>
                    <a:lnTo>
                      <a:pt x="11790480" y="2179277"/>
                    </a:lnTo>
                    <a:cubicBezTo>
                      <a:pt x="11790480" y="2289329"/>
                      <a:pt x="11746762" y="2394874"/>
                      <a:pt x="11668944" y="2472692"/>
                    </a:cubicBezTo>
                    <a:cubicBezTo>
                      <a:pt x="11591125" y="2550511"/>
                      <a:pt x="11485580" y="2594229"/>
                      <a:pt x="11375529" y="2594229"/>
                    </a:cubicBezTo>
                    <a:lnTo>
                      <a:pt x="414952" y="2594229"/>
                    </a:lnTo>
                    <a:cubicBezTo>
                      <a:pt x="304900" y="2594229"/>
                      <a:pt x="199355" y="2550511"/>
                      <a:pt x="121537" y="2472692"/>
                    </a:cubicBezTo>
                    <a:cubicBezTo>
                      <a:pt x="43718" y="2394874"/>
                      <a:pt x="0" y="2289329"/>
                      <a:pt x="0" y="2179277"/>
                    </a:cubicBezTo>
                    <a:lnTo>
                      <a:pt x="0" y="414952"/>
                    </a:lnTo>
                    <a:cubicBezTo>
                      <a:pt x="0" y="304900"/>
                      <a:pt x="43718" y="199355"/>
                      <a:pt x="121537" y="121537"/>
                    </a:cubicBezTo>
                    <a:cubicBezTo>
                      <a:pt x="199355" y="43718"/>
                      <a:pt x="304900" y="0"/>
                      <a:pt x="414952" y="0"/>
                    </a:cubicBezTo>
                    <a:close/>
                  </a:path>
                </a:pathLst>
              </a:custGeom>
              <a:solidFill>
                <a:srgbClr val="FDFAF5"/>
              </a:solidFill>
              <a:ln w="25400" cap="rnd">
                <a:solidFill>
                  <a:srgbClr val="D9CEBA"/>
                </a:solidFill>
                <a:prstDash val="solid"/>
                <a:round/>
              </a:ln>
            </p:spPr>
          </p:sp>
        </p:grpSp>
        <p:grpSp>
          <p:nvGrpSpPr>
            <p:cNvPr name="Group 30" id="30"/>
            <p:cNvGrpSpPr/>
            <p:nvPr/>
          </p:nvGrpSpPr>
          <p:grpSpPr>
            <a:xfrm rot="0">
              <a:off x="10189016" y="3346364"/>
              <a:ext cx="4558624" cy="2145792"/>
              <a:chOff x="0" y="0"/>
              <a:chExt cx="4558624" cy="2145792"/>
            </a:xfrm>
          </p:grpSpPr>
          <p:sp>
            <p:nvSpPr>
              <p:cNvPr name="Freeform 31" id="31"/>
              <p:cNvSpPr/>
              <p:nvPr/>
            </p:nvSpPr>
            <p:spPr>
              <a:xfrm flipH="false" flipV="false" rot="0">
                <a:off x="0" y="0"/>
                <a:ext cx="4558624" cy="2145792"/>
              </a:xfrm>
              <a:custGeom>
                <a:avLst/>
                <a:gdLst/>
                <a:ahLst/>
                <a:cxnLst/>
                <a:rect r="r" b="b" t="t" l="l"/>
                <a:pathLst>
                  <a:path h="2145792" w="4558624">
                    <a:moveTo>
                      <a:pt x="0" y="0"/>
                    </a:moveTo>
                    <a:lnTo>
                      <a:pt x="4558624" y="0"/>
                    </a:lnTo>
                    <a:lnTo>
                      <a:pt x="4558624" y="2145792"/>
                    </a:lnTo>
                    <a:lnTo>
                      <a:pt x="0" y="2145792"/>
                    </a:lnTo>
                    <a:close/>
                  </a:path>
                </a:pathLst>
              </a:custGeom>
              <a:blipFill>
                <a:blip r:embed="rId3">
                  <a:alphaModFix amt="0"/>
                </a:blip>
                <a:stretch>
                  <a:fillRect l="-28299" t="0" r="7512" b="0"/>
                </a:stretch>
              </a:blipFill>
            </p:spPr>
          </p:sp>
          <p:sp>
            <p:nvSpPr>
              <p:cNvPr name="TextBox 32" id="32"/>
              <p:cNvSpPr txBox="true"/>
              <p:nvPr/>
            </p:nvSpPr>
            <p:spPr>
              <a:xfrm>
                <a:off x="0" y="9525"/>
                <a:ext cx="4558624" cy="2136267"/>
              </a:xfrm>
              <a:prstGeom prst="rect">
                <a:avLst/>
              </a:prstGeom>
            </p:spPr>
            <p:txBody>
              <a:bodyPr anchor="ctr" rtlCol="false" tIns="0" lIns="0" bIns="0" rIns="0"/>
              <a:lstStyle/>
              <a:p>
                <a:pPr algn="l">
                  <a:lnSpc>
                    <a:spcPts val="3359"/>
                  </a:lnSpc>
                </a:pPr>
                <a:r>
                  <a:rPr lang="en-US" sz="2799" b="true">
                    <a:solidFill>
                      <a:srgbClr val="C0714F"/>
                    </a:solidFill>
                    <a:latin typeface="Montserrat Bold"/>
                    <a:ea typeface="Montserrat Bold"/>
                    <a:cs typeface="Montserrat Bold"/>
                    <a:sym typeface="Montserrat Bold"/>
                  </a:rPr>
                  <a:t>Data Transformation:</a:t>
                </a:r>
              </a:p>
            </p:txBody>
          </p:sp>
        </p:grpSp>
        <p:grpSp>
          <p:nvGrpSpPr>
            <p:cNvPr name="Group 33" id="33"/>
            <p:cNvGrpSpPr/>
            <p:nvPr/>
          </p:nvGrpSpPr>
          <p:grpSpPr>
            <a:xfrm rot="0">
              <a:off x="14487742" y="3471863"/>
              <a:ext cx="6678832" cy="1919190"/>
              <a:chOff x="0" y="0"/>
              <a:chExt cx="6678832" cy="1919190"/>
            </a:xfrm>
          </p:grpSpPr>
          <p:sp>
            <p:nvSpPr>
              <p:cNvPr name="Freeform 34" id="34"/>
              <p:cNvSpPr/>
              <p:nvPr/>
            </p:nvSpPr>
            <p:spPr>
              <a:xfrm flipH="false" flipV="false" rot="0">
                <a:off x="0" y="0"/>
                <a:ext cx="6678832" cy="1919191"/>
              </a:xfrm>
              <a:custGeom>
                <a:avLst/>
                <a:gdLst/>
                <a:ahLst/>
                <a:cxnLst/>
                <a:rect r="r" b="b" t="t" l="l"/>
                <a:pathLst>
                  <a:path h="1919191" w="6678832">
                    <a:moveTo>
                      <a:pt x="0" y="0"/>
                    </a:moveTo>
                    <a:lnTo>
                      <a:pt x="6678832" y="0"/>
                    </a:lnTo>
                    <a:lnTo>
                      <a:pt x="6678832" y="1919191"/>
                    </a:lnTo>
                    <a:lnTo>
                      <a:pt x="0" y="1919191"/>
                    </a:lnTo>
                    <a:close/>
                  </a:path>
                </a:pathLst>
              </a:custGeom>
              <a:blipFill>
                <a:blip r:embed="rId3">
                  <a:alphaModFix amt="0"/>
                </a:blip>
                <a:stretch>
                  <a:fillRect l="0" t="-38825" r="-2226" b="189"/>
                </a:stretch>
              </a:blipFill>
            </p:spPr>
          </p:sp>
          <p:sp>
            <p:nvSpPr>
              <p:cNvPr name="TextBox 35" id="35"/>
              <p:cNvSpPr txBox="true"/>
              <p:nvPr/>
            </p:nvSpPr>
            <p:spPr>
              <a:xfrm>
                <a:off x="0" y="0"/>
                <a:ext cx="6678832" cy="1919190"/>
              </a:xfrm>
              <a:prstGeom prst="rect">
                <a:avLst/>
              </a:prstGeom>
            </p:spPr>
            <p:txBody>
              <a:bodyPr anchor="ctr" rtlCol="false" tIns="0" lIns="0" bIns="0" rIns="0"/>
              <a:lstStyle/>
              <a:p>
                <a:pPr algn="l" marL="474981" indent="-237491" lvl="1">
                  <a:lnSpc>
                    <a:spcPts val="2640"/>
                  </a:lnSpc>
                  <a:buFont typeface="Arial"/>
                  <a:buChar char="•"/>
                </a:pPr>
                <a:r>
                  <a:rPr lang="en-US" sz="2200">
                    <a:solidFill>
                      <a:srgbClr val="000000"/>
                    </a:solidFill>
                    <a:latin typeface="Montserrat"/>
                    <a:ea typeface="Montserrat"/>
                    <a:cs typeface="Montserrat"/>
                    <a:sym typeface="Montserrat"/>
                  </a:rPr>
                  <a:t>Transforms observations data into a source matrix</a:t>
                </a:r>
              </a:p>
              <a:p>
                <a:pPr algn="l" marL="474981" indent="-237491" lvl="1">
                  <a:lnSpc>
                    <a:spcPts val="2640"/>
                  </a:lnSpc>
                  <a:buFont typeface="Arial"/>
                  <a:buChar char="•"/>
                </a:pPr>
                <a:r>
                  <a:rPr lang="en-US" sz="2200">
                    <a:solidFill>
                      <a:srgbClr val="000000"/>
                    </a:solidFill>
                    <a:latin typeface="Montserrat"/>
                    <a:ea typeface="Montserrat"/>
                    <a:cs typeface="Montserrat"/>
                    <a:sym typeface="Montserrat"/>
                  </a:rPr>
                  <a:t>Source matrices are aggregated into occurance matrix</a:t>
                </a:r>
              </a:p>
            </p:txBody>
          </p:sp>
        </p:grpSp>
        <p:sp>
          <p:nvSpPr>
            <p:cNvPr name="AutoShape 36" id="36"/>
            <p:cNvSpPr/>
            <p:nvPr/>
          </p:nvSpPr>
          <p:spPr>
            <a:xfrm>
              <a:off x="0" y="3134363"/>
              <a:ext cx="8656320" cy="0"/>
            </a:xfrm>
            <a:prstGeom prst="line">
              <a:avLst/>
            </a:prstGeom>
            <a:ln cap="flat" w="50800">
              <a:solidFill>
                <a:srgbClr val="FF3131"/>
              </a:solidFill>
              <a:prstDash val="sysDash"/>
              <a:headEnd type="none" len="sm" w="sm"/>
              <a:tailEnd type="none" len="sm" w="sm"/>
            </a:ln>
          </p:spPr>
        </p:sp>
      </p:grpSp>
      <p:grpSp>
        <p:nvGrpSpPr>
          <p:cNvPr name="Group 37" id="37"/>
          <p:cNvGrpSpPr/>
          <p:nvPr/>
        </p:nvGrpSpPr>
        <p:grpSpPr>
          <a:xfrm rot="0">
            <a:off x="5571181" y="2742286"/>
            <a:ext cx="2766738" cy="1287141"/>
            <a:chOff x="0" y="0"/>
            <a:chExt cx="728688" cy="339000"/>
          </a:xfrm>
        </p:grpSpPr>
        <p:sp>
          <p:nvSpPr>
            <p:cNvPr name="Freeform 38" id="38"/>
            <p:cNvSpPr/>
            <p:nvPr/>
          </p:nvSpPr>
          <p:spPr>
            <a:xfrm flipH="false" flipV="false" rot="0">
              <a:off x="0" y="0"/>
              <a:ext cx="728688" cy="339000"/>
            </a:xfrm>
            <a:custGeom>
              <a:avLst/>
              <a:gdLst/>
              <a:ahLst/>
              <a:cxnLst/>
              <a:rect r="r" b="b" t="t" l="l"/>
              <a:pathLst>
                <a:path h="339000" w="728688">
                  <a:moveTo>
                    <a:pt x="0" y="0"/>
                  </a:moveTo>
                  <a:lnTo>
                    <a:pt x="728688" y="0"/>
                  </a:lnTo>
                  <a:lnTo>
                    <a:pt x="728688" y="339000"/>
                  </a:lnTo>
                  <a:lnTo>
                    <a:pt x="0" y="339000"/>
                  </a:lnTo>
                  <a:close/>
                </a:path>
              </a:pathLst>
            </a:custGeom>
            <a:ln w="38100" cap="sq">
              <a:solidFill>
                <a:srgbClr val="7A9E87"/>
              </a:solidFill>
              <a:prstDash val="lgDash"/>
              <a:miter/>
            </a:ln>
          </p:spPr>
        </p:sp>
        <p:sp>
          <p:nvSpPr>
            <p:cNvPr name="TextBox 39" id="39"/>
            <p:cNvSpPr txBox="true"/>
            <p:nvPr/>
          </p:nvSpPr>
          <p:spPr>
            <a:xfrm>
              <a:off x="0" y="0"/>
              <a:ext cx="728688" cy="339000"/>
            </a:xfrm>
            <a:prstGeom prst="rect">
              <a:avLst/>
            </a:prstGeom>
          </p:spPr>
          <p:txBody>
            <a:bodyPr anchor="ctr" rtlCol="false" tIns="50800" lIns="50800" bIns="50800" rIns="50800"/>
            <a:lstStyle/>
            <a:p>
              <a:pPr algn="ctr">
                <a:lnSpc>
                  <a:spcPts val="3120"/>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0E8"/>
        </a:solidFill>
      </p:bgPr>
    </p:bg>
    <p:spTree>
      <p:nvGrpSpPr>
        <p:cNvPr id="1" name=""/>
        <p:cNvGrpSpPr/>
        <p:nvPr/>
      </p:nvGrpSpPr>
      <p:grpSpPr>
        <a:xfrm>
          <a:off x="0" y="0"/>
          <a:ext cx="0" cy="0"/>
          <a:chOff x="0" y="0"/>
          <a:chExt cx="0" cy="0"/>
        </a:xfrm>
      </p:grpSpPr>
      <p:grpSp>
        <p:nvGrpSpPr>
          <p:cNvPr name="Group 2" id="2"/>
          <p:cNvGrpSpPr/>
          <p:nvPr/>
        </p:nvGrpSpPr>
        <p:grpSpPr>
          <a:xfrm rot="0">
            <a:off x="1097280" y="822960"/>
            <a:ext cx="14630400" cy="1279601"/>
            <a:chOff x="0" y="0"/>
            <a:chExt cx="19507200" cy="1706135"/>
          </a:xfrm>
        </p:grpSpPr>
        <p:sp>
          <p:nvSpPr>
            <p:cNvPr name="Freeform 3" id="3"/>
            <p:cNvSpPr/>
            <p:nvPr/>
          </p:nvSpPr>
          <p:spPr>
            <a:xfrm flipH="false" flipV="false" rot="0">
              <a:off x="0" y="0"/>
              <a:ext cx="19507200" cy="1706135"/>
            </a:xfrm>
            <a:custGeom>
              <a:avLst/>
              <a:gdLst/>
              <a:ahLst/>
              <a:cxnLst/>
              <a:rect r="r" b="b" t="t" l="l"/>
              <a:pathLst>
                <a:path h="1706135" w="19507200">
                  <a:moveTo>
                    <a:pt x="0" y="0"/>
                  </a:moveTo>
                  <a:lnTo>
                    <a:pt x="19507200" y="0"/>
                  </a:lnTo>
                  <a:lnTo>
                    <a:pt x="19507200" y="1706135"/>
                  </a:lnTo>
                  <a:lnTo>
                    <a:pt x="0" y="1706135"/>
                  </a:lnTo>
                  <a:close/>
                </a:path>
              </a:pathLst>
            </a:custGeom>
            <a:blipFill>
              <a:blip r:embed="rId3">
                <a:alphaModFix amt="0"/>
              </a:blip>
              <a:stretch>
                <a:fillRect l="0" t="-176334" r="0" b="-169232"/>
              </a:stretch>
            </a:blipFill>
          </p:spPr>
        </p:sp>
        <p:sp>
          <p:nvSpPr>
            <p:cNvPr name="TextBox 4" id="4"/>
            <p:cNvSpPr txBox="true"/>
            <p:nvPr/>
          </p:nvSpPr>
          <p:spPr>
            <a:xfrm>
              <a:off x="0" y="0"/>
              <a:ext cx="19507200" cy="1706135"/>
            </a:xfrm>
            <a:prstGeom prst="rect">
              <a:avLst/>
            </a:prstGeom>
          </p:spPr>
          <p:txBody>
            <a:bodyPr anchor="ctr" rtlCol="false" tIns="0" lIns="0" bIns="0" rIns="0"/>
            <a:lstStyle/>
            <a:p>
              <a:pPr algn="l">
                <a:lnSpc>
                  <a:spcPts val="7680"/>
                </a:lnSpc>
              </a:pPr>
              <a:r>
                <a:rPr lang="en-US" sz="6400" b="true">
                  <a:solidFill>
                    <a:srgbClr val="6B4F3A"/>
                  </a:solidFill>
                  <a:latin typeface="Montserrat Bold"/>
                  <a:ea typeface="Montserrat Bold"/>
                  <a:cs typeface="Montserrat Bold"/>
                  <a:sym typeface="Montserrat Bold"/>
                </a:rPr>
                <a:t>OBIS Data Acquisition &amp; Prep</a:t>
              </a:r>
            </a:p>
          </p:txBody>
        </p:sp>
      </p:grpSp>
      <p:grpSp>
        <p:nvGrpSpPr>
          <p:cNvPr name="Group 5" id="5"/>
          <p:cNvGrpSpPr/>
          <p:nvPr/>
        </p:nvGrpSpPr>
        <p:grpSpPr>
          <a:xfrm rot="0">
            <a:off x="1097280" y="2047342"/>
            <a:ext cx="14800015" cy="694944"/>
            <a:chOff x="0" y="0"/>
            <a:chExt cx="19733354" cy="926592"/>
          </a:xfrm>
        </p:grpSpPr>
        <p:sp>
          <p:nvSpPr>
            <p:cNvPr name="Freeform 6" id="6"/>
            <p:cNvSpPr/>
            <p:nvPr/>
          </p:nvSpPr>
          <p:spPr>
            <a:xfrm flipH="false" flipV="false" rot="0">
              <a:off x="0" y="0"/>
              <a:ext cx="19733354" cy="926592"/>
            </a:xfrm>
            <a:custGeom>
              <a:avLst/>
              <a:gdLst/>
              <a:ahLst/>
              <a:cxnLst/>
              <a:rect r="r" b="b" t="t" l="l"/>
              <a:pathLst>
                <a:path h="926592" w="19733354">
                  <a:moveTo>
                    <a:pt x="0" y="0"/>
                  </a:moveTo>
                  <a:lnTo>
                    <a:pt x="19733354" y="0"/>
                  </a:lnTo>
                  <a:lnTo>
                    <a:pt x="19733354" y="926592"/>
                  </a:lnTo>
                  <a:lnTo>
                    <a:pt x="0" y="926592"/>
                  </a:lnTo>
                  <a:close/>
                </a:path>
              </a:pathLst>
            </a:custGeom>
            <a:blipFill>
              <a:blip r:embed="rId3">
                <a:alphaModFix amt="0"/>
              </a:blip>
              <a:stretch>
                <a:fillRect l="0" t="-257658" r="25859" b="-257658"/>
              </a:stretch>
            </a:blipFill>
          </p:spPr>
        </p:sp>
        <p:sp>
          <p:nvSpPr>
            <p:cNvPr name="TextBox 7" id="7"/>
            <p:cNvSpPr txBox="true"/>
            <p:nvPr/>
          </p:nvSpPr>
          <p:spPr>
            <a:xfrm>
              <a:off x="0" y="9525"/>
              <a:ext cx="19733354" cy="917067"/>
            </a:xfrm>
            <a:prstGeom prst="rect">
              <a:avLst/>
            </a:prstGeom>
          </p:spPr>
          <p:txBody>
            <a:bodyPr anchor="ctr" rtlCol="false" tIns="0" lIns="0" bIns="0" rIns="0"/>
            <a:lstStyle/>
            <a:p>
              <a:pPr algn="l">
                <a:lnSpc>
                  <a:spcPts val="2879"/>
                </a:lnSpc>
              </a:pPr>
              <a:r>
                <a:rPr lang="en-US" sz="2400">
                  <a:solidFill>
                    <a:srgbClr val="000000"/>
                  </a:solidFill>
                  <a:latin typeface="Montserrat"/>
                  <a:ea typeface="Montserrat"/>
                  <a:cs typeface="Montserrat"/>
                  <a:sym typeface="Montserrat"/>
                </a:rPr>
                <a:t>Ocean Biogeographic Information System (OBIS) is a marine-focused database</a:t>
              </a:r>
            </a:p>
          </p:txBody>
        </p:sp>
      </p:grpSp>
      <p:grpSp>
        <p:nvGrpSpPr>
          <p:cNvPr name="Group 8" id="8"/>
          <p:cNvGrpSpPr/>
          <p:nvPr/>
        </p:nvGrpSpPr>
        <p:grpSpPr>
          <a:xfrm rot="0">
            <a:off x="6508981" y="2761617"/>
            <a:ext cx="10973817" cy="1945643"/>
            <a:chOff x="0" y="0"/>
            <a:chExt cx="14631756" cy="2594191"/>
          </a:xfrm>
        </p:grpSpPr>
        <p:sp>
          <p:nvSpPr>
            <p:cNvPr name="Freeform 9" id="9"/>
            <p:cNvSpPr/>
            <p:nvPr/>
          </p:nvSpPr>
          <p:spPr>
            <a:xfrm flipH="false" flipV="false" rot="0">
              <a:off x="0" y="0"/>
              <a:ext cx="14631794" cy="2594229"/>
            </a:xfrm>
            <a:custGeom>
              <a:avLst/>
              <a:gdLst/>
              <a:ahLst/>
              <a:cxnLst/>
              <a:rect r="r" b="b" t="t" l="l"/>
              <a:pathLst>
                <a:path h="2594229" w="14631794">
                  <a:moveTo>
                    <a:pt x="334373" y="0"/>
                  </a:moveTo>
                  <a:lnTo>
                    <a:pt x="14297420" y="0"/>
                  </a:lnTo>
                  <a:cubicBezTo>
                    <a:pt x="14386102" y="0"/>
                    <a:pt x="14471151" y="35228"/>
                    <a:pt x="14533859" y="97936"/>
                  </a:cubicBezTo>
                  <a:cubicBezTo>
                    <a:pt x="14596565" y="160643"/>
                    <a:pt x="14631794" y="245692"/>
                    <a:pt x="14631794" y="334373"/>
                  </a:cubicBezTo>
                  <a:lnTo>
                    <a:pt x="14631794" y="2259856"/>
                  </a:lnTo>
                  <a:cubicBezTo>
                    <a:pt x="14631794" y="2348537"/>
                    <a:pt x="14596565" y="2433586"/>
                    <a:pt x="14533859" y="2496293"/>
                  </a:cubicBezTo>
                  <a:cubicBezTo>
                    <a:pt x="14471151" y="2559001"/>
                    <a:pt x="14386102" y="2594229"/>
                    <a:pt x="14297420" y="2594229"/>
                  </a:cubicBezTo>
                  <a:lnTo>
                    <a:pt x="334373" y="2594229"/>
                  </a:lnTo>
                  <a:cubicBezTo>
                    <a:pt x="245692" y="2594229"/>
                    <a:pt x="160643" y="2559001"/>
                    <a:pt x="97936" y="2496293"/>
                  </a:cubicBezTo>
                  <a:cubicBezTo>
                    <a:pt x="35228" y="2433586"/>
                    <a:pt x="0" y="2348537"/>
                    <a:pt x="0" y="2259856"/>
                  </a:cubicBezTo>
                  <a:lnTo>
                    <a:pt x="0" y="334373"/>
                  </a:lnTo>
                  <a:cubicBezTo>
                    <a:pt x="0" y="245692"/>
                    <a:pt x="35228" y="160643"/>
                    <a:pt x="97936" y="97936"/>
                  </a:cubicBezTo>
                  <a:cubicBezTo>
                    <a:pt x="160643" y="35228"/>
                    <a:pt x="245692" y="0"/>
                    <a:pt x="334373" y="0"/>
                  </a:cubicBezTo>
                  <a:close/>
                </a:path>
              </a:pathLst>
            </a:custGeom>
            <a:solidFill>
              <a:srgbClr val="FDFAF5"/>
            </a:solidFill>
            <a:ln w="25400" cap="rnd">
              <a:solidFill>
                <a:srgbClr val="D9CEBA"/>
              </a:solidFill>
              <a:prstDash val="solid"/>
              <a:round/>
            </a:ln>
          </p:spPr>
        </p:sp>
      </p:grpSp>
      <p:grpSp>
        <p:nvGrpSpPr>
          <p:cNvPr name="Group 10" id="10"/>
          <p:cNvGrpSpPr/>
          <p:nvPr/>
        </p:nvGrpSpPr>
        <p:grpSpPr>
          <a:xfrm rot="0">
            <a:off x="7023667" y="3085209"/>
            <a:ext cx="1878331" cy="1280160"/>
            <a:chOff x="0" y="0"/>
            <a:chExt cx="2504441" cy="1706880"/>
          </a:xfrm>
        </p:grpSpPr>
        <p:sp>
          <p:nvSpPr>
            <p:cNvPr name="Freeform 11" id="11"/>
            <p:cNvSpPr/>
            <p:nvPr/>
          </p:nvSpPr>
          <p:spPr>
            <a:xfrm flipH="false" flipV="false" rot="0">
              <a:off x="0" y="0"/>
              <a:ext cx="2504441" cy="1706880"/>
            </a:xfrm>
            <a:custGeom>
              <a:avLst/>
              <a:gdLst/>
              <a:ahLst/>
              <a:cxnLst/>
              <a:rect r="r" b="b" t="t" l="l"/>
              <a:pathLst>
                <a:path h="1706880" w="2504441">
                  <a:moveTo>
                    <a:pt x="0" y="0"/>
                  </a:moveTo>
                  <a:lnTo>
                    <a:pt x="2504441" y="0"/>
                  </a:lnTo>
                  <a:lnTo>
                    <a:pt x="2504441" y="1706880"/>
                  </a:lnTo>
                  <a:lnTo>
                    <a:pt x="0" y="1706880"/>
                  </a:lnTo>
                  <a:close/>
                </a:path>
              </a:pathLst>
            </a:custGeom>
            <a:blipFill>
              <a:blip r:embed="rId3">
                <a:alphaModFix amt="0"/>
              </a:blip>
              <a:stretch>
                <a:fillRect l="-51512" t="0" r="-68347" b="-25714"/>
              </a:stretch>
            </a:blipFill>
          </p:spPr>
        </p:sp>
        <p:sp>
          <p:nvSpPr>
            <p:cNvPr name="TextBox 12" id="12"/>
            <p:cNvSpPr txBox="true"/>
            <p:nvPr/>
          </p:nvSpPr>
          <p:spPr>
            <a:xfrm>
              <a:off x="0" y="9525"/>
              <a:ext cx="2504441" cy="1697355"/>
            </a:xfrm>
            <a:prstGeom prst="rect">
              <a:avLst/>
            </a:prstGeom>
          </p:spPr>
          <p:txBody>
            <a:bodyPr anchor="ctr" rtlCol="false" tIns="0" lIns="0" bIns="0" rIns="0"/>
            <a:lstStyle/>
            <a:p>
              <a:pPr algn="l">
                <a:lnSpc>
                  <a:spcPts val="3359"/>
                </a:lnSpc>
              </a:pPr>
              <a:r>
                <a:rPr lang="en-US" sz="2799" b="true">
                  <a:solidFill>
                    <a:srgbClr val="C0714F"/>
                  </a:solidFill>
                  <a:latin typeface="Montserrat Bold"/>
                  <a:ea typeface="Montserrat Bold"/>
                  <a:cs typeface="Montserrat Bold"/>
                  <a:sym typeface="Montserrat Bold"/>
                </a:rPr>
                <a:t>Acquire:</a:t>
              </a:r>
            </a:p>
          </p:txBody>
        </p:sp>
      </p:grpSp>
      <p:grpSp>
        <p:nvGrpSpPr>
          <p:cNvPr name="Group 13" id="13"/>
          <p:cNvGrpSpPr/>
          <p:nvPr/>
        </p:nvGrpSpPr>
        <p:grpSpPr>
          <a:xfrm rot="0">
            <a:off x="8901998" y="3086078"/>
            <a:ext cx="8280716" cy="1296721"/>
            <a:chOff x="0" y="0"/>
            <a:chExt cx="11040954" cy="1728961"/>
          </a:xfrm>
        </p:grpSpPr>
        <p:sp>
          <p:nvSpPr>
            <p:cNvPr name="Freeform 14" id="14"/>
            <p:cNvSpPr/>
            <p:nvPr/>
          </p:nvSpPr>
          <p:spPr>
            <a:xfrm flipH="false" flipV="false" rot="0">
              <a:off x="0" y="0"/>
              <a:ext cx="11040954" cy="1728961"/>
            </a:xfrm>
            <a:custGeom>
              <a:avLst/>
              <a:gdLst/>
              <a:ahLst/>
              <a:cxnLst/>
              <a:rect r="r" b="b" t="t" l="l"/>
              <a:pathLst>
                <a:path h="1728961" w="11040954">
                  <a:moveTo>
                    <a:pt x="0" y="0"/>
                  </a:moveTo>
                  <a:lnTo>
                    <a:pt x="11040954" y="0"/>
                  </a:lnTo>
                  <a:lnTo>
                    <a:pt x="11040954" y="1728961"/>
                  </a:lnTo>
                  <a:lnTo>
                    <a:pt x="0" y="1728961"/>
                  </a:lnTo>
                  <a:close/>
                </a:path>
              </a:pathLst>
            </a:custGeom>
            <a:blipFill>
              <a:blip r:embed="rId3">
                <a:alphaModFix amt="0"/>
              </a:blip>
              <a:stretch>
                <a:fillRect l="0" t="-43096" r="38161" b="-10792"/>
              </a:stretch>
            </a:blipFill>
          </p:spPr>
        </p:sp>
        <p:sp>
          <p:nvSpPr>
            <p:cNvPr name="TextBox 15" id="15"/>
            <p:cNvSpPr txBox="true"/>
            <p:nvPr/>
          </p:nvSpPr>
          <p:spPr>
            <a:xfrm>
              <a:off x="0" y="0"/>
              <a:ext cx="11040954" cy="1728961"/>
            </a:xfrm>
            <a:prstGeom prst="rect">
              <a:avLst/>
            </a:prstGeom>
          </p:spPr>
          <p:txBody>
            <a:bodyPr anchor="ctr" rtlCol="false" tIns="0" lIns="0" bIns="0" rIns="0"/>
            <a:lstStyle/>
            <a:p>
              <a:pPr algn="l">
                <a:lnSpc>
                  <a:spcPts val="3120"/>
                </a:lnSpc>
              </a:pPr>
              <a:r>
                <a:rPr lang="en-US" sz="2600">
                  <a:solidFill>
                    <a:srgbClr val="000000"/>
                  </a:solidFill>
                  <a:latin typeface="Montserrat"/>
                  <a:ea typeface="Montserrat"/>
                  <a:cs typeface="Montserrat"/>
                  <a:sym typeface="Montserrat"/>
                </a:rPr>
                <a:t>Queries for marine occurrence records: </a:t>
              </a:r>
            </a:p>
            <a:p>
              <a:pPr algn="l" marL="561341" indent="-280670" lvl="1">
                <a:lnSpc>
                  <a:spcPts val="3120"/>
                </a:lnSpc>
                <a:buFont typeface="Arial"/>
                <a:buChar char="•"/>
              </a:pPr>
              <a:r>
                <a:rPr lang="en-US" sz="2600">
                  <a:solidFill>
                    <a:srgbClr val="000000"/>
                  </a:solidFill>
                  <a:latin typeface="Montserrat"/>
                  <a:ea typeface="Montserrat"/>
                  <a:cs typeface="Montserrat"/>
                  <a:sym typeface="Montserrat"/>
                </a:rPr>
                <a:t>Within Victorian study region</a:t>
              </a:r>
            </a:p>
            <a:p>
              <a:pPr algn="l" marL="561340" indent="-280670" lvl="1">
                <a:lnSpc>
                  <a:spcPts val="3120"/>
                </a:lnSpc>
                <a:buFont typeface="Arial"/>
                <a:buChar char="•"/>
              </a:pPr>
              <a:r>
                <a:rPr lang="en-US" sz="2600">
                  <a:solidFill>
                    <a:srgbClr val="000000"/>
                  </a:solidFill>
                  <a:latin typeface="Montserrat"/>
                  <a:ea typeface="Montserrat"/>
                  <a:cs typeface="Montserrat"/>
                  <a:sym typeface="Montserrat"/>
                </a:rPr>
                <a:t>Filtered by scientific name</a:t>
              </a:r>
            </a:p>
          </p:txBody>
        </p:sp>
      </p:grpSp>
      <p:sp>
        <p:nvSpPr>
          <p:cNvPr name="Freeform 16" id="16"/>
          <p:cNvSpPr/>
          <p:nvPr/>
        </p:nvSpPr>
        <p:spPr>
          <a:xfrm flipH="false" flipV="false" rot="0">
            <a:off x="1097280" y="2761617"/>
            <a:ext cx="4779645" cy="4128907"/>
          </a:xfrm>
          <a:custGeom>
            <a:avLst/>
            <a:gdLst/>
            <a:ahLst/>
            <a:cxnLst/>
            <a:rect r="r" b="b" t="t" l="l"/>
            <a:pathLst>
              <a:path h="4128907" w="4779645">
                <a:moveTo>
                  <a:pt x="0" y="0"/>
                </a:moveTo>
                <a:lnTo>
                  <a:pt x="4779645" y="0"/>
                </a:lnTo>
                <a:lnTo>
                  <a:pt x="4779645" y="4128907"/>
                </a:lnTo>
                <a:lnTo>
                  <a:pt x="0" y="4128907"/>
                </a:lnTo>
                <a:lnTo>
                  <a:pt x="0" y="0"/>
                </a:lnTo>
                <a:close/>
              </a:path>
            </a:pathLst>
          </a:custGeom>
          <a:blipFill>
            <a:blip r:embed="rId4"/>
            <a:stretch>
              <a:fillRect l="-91655" t="0" r="-55153" b="-141780"/>
            </a:stretch>
          </a:blipFill>
        </p:spPr>
      </p:sp>
      <p:grpSp>
        <p:nvGrpSpPr>
          <p:cNvPr name="Group 17" id="17"/>
          <p:cNvGrpSpPr/>
          <p:nvPr/>
        </p:nvGrpSpPr>
        <p:grpSpPr>
          <a:xfrm rot="0">
            <a:off x="4097522" y="2742286"/>
            <a:ext cx="1779403" cy="2094219"/>
            <a:chOff x="0" y="0"/>
            <a:chExt cx="468649" cy="551564"/>
          </a:xfrm>
        </p:grpSpPr>
        <p:sp>
          <p:nvSpPr>
            <p:cNvPr name="Freeform 18" id="18"/>
            <p:cNvSpPr/>
            <p:nvPr/>
          </p:nvSpPr>
          <p:spPr>
            <a:xfrm flipH="false" flipV="false" rot="0">
              <a:off x="0" y="0"/>
              <a:ext cx="468649" cy="551564"/>
            </a:xfrm>
            <a:custGeom>
              <a:avLst/>
              <a:gdLst/>
              <a:ahLst/>
              <a:cxnLst/>
              <a:rect r="r" b="b" t="t" l="l"/>
              <a:pathLst>
                <a:path h="551564" w="468649">
                  <a:moveTo>
                    <a:pt x="0" y="0"/>
                  </a:moveTo>
                  <a:lnTo>
                    <a:pt x="468649" y="0"/>
                  </a:lnTo>
                  <a:lnTo>
                    <a:pt x="468649" y="551564"/>
                  </a:lnTo>
                  <a:lnTo>
                    <a:pt x="0" y="551564"/>
                  </a:lnTo>
                  <a:close/>
                </a:path>
              </a:pathLst>
            </a:custGeom>
            <a:ln w="38100" cap="sq">
              <a:solidFill>
                <a:srgbClr val="7A9E87"/>
              </a:solidFill>
              <a:prstDash val="lgDash"/>
              <a:miter/>
            </a:ln>
          </p:spPr>
        </p:sp>
        <p:sp>
          <p:nvSpPr>
            <p:cNvPr name="TextBox 19" id="19"/>
            <p:cNvSpPr txBox="true"/>
            <p:nvPr/>
          </p:nvSpPr>
          <p:spPr>
            <a:xfrm>
              <a:off x="0" y="0"/>
              <a:ext cx="468649" cy="551564"/>
            </a:xfrm>
            <a:prstGeom prst="rect">
              <a:avLst/>
            </a:prstGeom>
          </p:spPr>
          <p:txBody>
            <a:bodyPr anchor="ctr" rtlCol="false" tIns="50800" lIns="50800" bIns="50800" rIns="50800"/>
            <a:lstStyle/>
            <a:p>
              <a:pPr algn="ctr">
                <a:lnSpc>
                  <a:spcPts val="3120"/>
                </a:lnSpc>
              </a:pPr>
            </a:p>
          </p:txBody>
        </p:sp>
      </p:grpSp>
      <p:grpSp>
        <p:nvGrpSpPr>
          <p:cNvPr name="Group 20" id="20"/>
          <p:cNvGrpSpPr/>
          <p:nvPr/>
        </p:nvGrpSpPr>
        <p:grpSpPr>
          <a:xfrm rot="0">
            <a:off x="6508981" y="5269235"/>
            <a:ext cx="10973817" cy="2794729"/>
            <a:chOff x="0" y="0"/>
            <a:chExt cx="14631756" cy="3726305"/>
          </a:xfrm>
        </p:grpSpPr>
        <p:sp>
          <p:nvSpPr>
            <p:cNvPr name="Freeform 21" id="21"/>
            <p:cNvSpPr/>
            <p:nvPr/>
          </p:nvSpPr>
          <p:spPr>
            <a:xfrm flipH="false" flipV="false" rot="0">
              <a:off x="0" y="0"/>
              <a:ext cx="14631794" cy="3726343"/>
            </a:xfrm>
            <a:custGeom>
              <a:avLst/>
              <a:gdLst/>
              <a:ahLst/>
              <a:cxnLst/>
              <a:rect r="r" b="b" t="t" l="l"/>
              <a:pathLst>
                <a:path h="3726343" w="14631794">
                  <a:moveTo>
                    <a:pt x="334373" y="0"/>
                  </a:moveTo>
                  <a:lnTo>
                    <a:pt x="14297420" y="0"/>
                  </a:lnTo>
                  <a:cubicBezTo>
                    <a:pt x="14386102" y="0"/>
                    <a:pt x="14471151" y="35228"/>
                    <a:pt x="14533859" y="97936"/>
                  </a:cubicBezTo>
                  <a:cubicBezTo>
                    <a:pt x="14596565" y="160643"/>
                    <a:pt x="14631794" y="245692"/>
                    <a:pt x="14631794" y="334373"/>
                  </a:cubicBezTo>
                  <a:lnTo>
                    <a:pt x="14631794" y="3391970"/>
                  </a:lnTo>
                  <a:cubicBezTo>
                    <a:pt x="14631794" y="3480651"/>
                    <a:pt x="14596565" y="3565701"/>
                    <a:pt x="14533859" y="3628408"/>
                  </a:cubicBezTo>
                  <a:cubicBezTo>
                    <a:pt x="14471151" y="3691115"/>
                    <a:pt x="14386102" y="3726343"/>
                    <a:pt x="14297420" y="3726343"/>
                  </a:cubicBezTo>
                  <a:lnTo>
                    <a:pt x="334373" y="3726343"/>
                  </a:lnTo>
                  <a:cubicBezTo>
                    <a:pt x="245692" y="3726343"/>
                    <a:pt x="160643" y="3691115"/>
                    <a:pt x="97936" y="3628408"/>
                  </a:cubicBezTo>
                  <a:cubicBezTo>
                    <a:pt x="35228" y="3565701"/>
                    <a:pt x="0" y="3480651"/>
                    <a:pt x="0" y="3391970"/>
                  </a:cubicBezTo>
                  <a:lnTo>
                    <a:pt x="0" y="334373"/>
                  </a:lnTo>
                  <a:cubicBezTo>
                    <a:pt x="0" y="245692"/>
                    <a:pt x="35228" y="160643"/>
                    <a:pt x="97936" y="97936"/>
                  </a:cubicBezTo>
                  <a:cubicBezTo>
                    <a:pt x="160643" y="35228"/>
                    <a:pt x="245692" y="0"/>
                    <a:pt x="334373" y="0"/>
                  </a:cubicBezTo>
                  <a:close/>
                </a:path>
              </a:pathLst>
            </a:custGeom>
            <a:solidFill>
              <a:srgbClr val="FDFAF5"/>
            </a:solidFill>
            <a:ln w="25400" cap="rnd">
              <a:solidFill>
                <a:srgbClr val="D9CEBA"/>
              </a:solidFill>
              <a:prstDash val="solid"/>
              <a:round/>
            </a:ln>
          </p:spPr>
        </p:sp>
      </p:grpSp>
      <p:grpSp>
        <p:nvGrpSpPr>
          <p:cNvPr name="Group 22" id="22"/>
          <p:cNvGrpSpPr/>
          <p:nvPr/>
        </p:nvGrpSpPr>
        <p:grpSpPr>
          <a:xfrm rot="0">
            <a:off x="7023667" y="5861927"/>
            <a:ext cx="1703433" cy="1609344"/>
            <a:chOff x="0" y="0"/>
            <a:chExt cx="2271245" cy="2145792"/>
          </a:xfrm>
        </p:grpSpPr>
        <p:sp>
          <p:nvSpPr>
            <p:cNvPr name="Freeform 23" id="23"/>
            <p:cNvSpPr/>
            <p:nvPr/>
          </p:nvSpPr>
          <p:spPr>
            <a:xfrm flipH="false" flipV="false" rot="0">
              <a:off x="0" y="0"/>
              <a:ext cx="2271245" cy="2145792"/>
            </a:xfrm>
            <a:custGeom>
              <a:avLst/>
              <a:gdLst/>
              <a:ahLst/>
              <a:cxnLst/>
              <a:rect r="r" b="b" t="t" l="l"/>
              <a:pathLst>
                <a:path h="2145792" w="2271245">
                  <a:moveTo>
                    <a:pt x="0" y="0"/>
                  </a:moveTo>
                  <a:lnTo>
                    <a:pt x="2271245" y="0"/>
                  </a:lnTo>
                  <a:lnTo>
                    <a:pt x="2271245" y="2145792"/>
                  </a:lnTo>
                  <a:lnTo>
                    <a:pt x="0" y="2145792"/>
                  </a:lnTo>
                  <a:close/>
                </a:path>
              </a:pathLst>
            </a:custGeom>
            <a:blipFill>
              <a:blip r:embed="rId3">
                <a:alphaModFix amt="0"/>
              </a:blip>
              <a:stretch>
                <a:fillRect l="-56800" t="0" r="-85632" b="0"/>
              </a:stretch>
            </a:blipFill>
          </p:spPr>
        </p:sp>
        <p:sp>
          <p:nvSpPr>
            <p:cNvPr name="TextBox 24" id="24"/>
            <p:cNvSpPr txBox="true"/>
            <p:nvPr/>
          </p:nvSpPr>
          <p:spPr>
            <a:xfrm>
              <a:off x="0" y="9525"/>
              <a:ext cx="2271245" cy="2136267"/>
            </a:xfrm>
            <a:prstGeom prst="rect">
              <a:avLst/>
            </a:prstGeom>
          </p:spPr>
          <p:txBody>
            <a:bodyPr anchor="ctr" rtlCol="false" tIns="0" lIns="0" bIns="0" rIns="0"/>
            <a:lstStyle/>
            <a:p>
              <a:pPr algn="l">
                <a:lnSpc>
                  <a:spcPts val="3359"/>
                </a:lnSpc>
              </a:pPr>
              <a:r>
                <a:rPr lang="en-US" sz="2799" b="true">
                  <a:solidFill>
                    <a:srgbClr val="C0714F"/>
                  </a:solidFill>
                  <a:latin typeface="Montserrat Bold"/>
                  <a:ea typeface="Montserrat Bold"/>
                  <a:cs typeface="Montserrat Bold"/>
                  <a:sym typeface="Montserrat Bold"/>
                </a:rPr>
                <a:t>Prep:</a:t>
              </a:r>
            </a:p>
          </p:txBody>
        </p:sp>
      </p:grpSp>
      <p:grpSp>
        <p:nvGrpSpPr>
          <p:cNvPr name="Group 25" id="25"/>
          <p:cNvGrpSpPr/>
          <p:nvPr/>
        </p:nvGrpSpPr>
        <p:grpSpPr>
          <a:xfrm rot="0">
            <a:off x="8901998" y="5613925"/>
            <a:ext cx="8280716" cy="2105348"/>
            <a:chOff x="0" y="0"/>
            <a:chExt cx="11040954" cy="2807130"/>
          </a:xfrm>
        </p:grpSpPr>
        <p:sp>
          <p:nvSpPr>
            <p:cNvPr name="Freeform 26" id="26"/>
            <p:cNvSpPr/>
            <p:nvPr/>
          </p:nvSpPr>
          <p:spPr>
            <a:xfrm flipH="false" flipV="false" rot="0">
              <a:off x="0" y="0"/>
              <a:ext cx="11040954" cy="2807130"/>
            </a:xfrm>
            <a:custGeom>
              <a:avLst/>
              <a:gdLst/>
              <a:ahLst/>
              <a:cxnLst/>
              <a:rect r="r" b="b" t="t" l="l"/>
              <a:pathLst>
                <a:path h="2807130" w="11040954">
                  <a:moveTo>
                    <a:pt x="0" y="0"/>
                  </a:moveTo>
                  <a:lnTo>
                    <a:pt x="11040954" y="0"/>
                  </a:lnTo>
                  <a:lnTo>
                    <a:pt x="11040954" y="2807130"/>
                  </a:lnTo>
                  <a:lnTo>
                    <a:pt x="0" y="2807130"/>
                  </a:lnTo>
                  <a:close/>
                </a:path>
              </a:pathLst>
            </a:custGeom>
            <a:blipFill>
              <a:blip r:embed="rId3">
                <a:alphaModFix amt="0"/>
              </a:blip>
              <a:stretch>
                <a:fillRect l="0" t="-26544" r="38161" b="31760"/>
              </a:stretch>
            </a:blipFill>
          </p:spPr>
        </p:sp>
        <p:sp>
          <p:nvSpPr>
            <p:cNvPr name="TextBox 27" id="27"/>
            <p:cNvSpPr txBox="true"/>
            <p:nvPr/>
          </p:nvSpPr>
          <p:spPr>
            <a:xfrm>
              <a:off x="0" y="0"/>
              <a:ext cx="11040954" cy="2807130"/>
            </a:xfrm>
            <a:prstGeom prst="rect">
              <a:avLst/>
            </a:prstGeom>
          </p:spPr>
          <p:txBody>
            <a:bodyPr anchor="ctr" rtlCol="false" tIns="0" lIns="0" bIns="0" rIns="0"/>
            <a:lstStyle/>
            <a:p>
              <a:pPr algn="l">
                <a:lnSpc>
                  <a:spcPts val="3120"/>
                </a:lnSpc>
              </a:pPr>
              <a:r>
                <a:rPr lang="en-US" sz="2600">
                  <a:solidFill>
                    <a:srgbClr val="000000"/>
                  </a:solidFill>
                  <a:latin typeface="Montserrat"/>
                  <a:ea typeface="Montserrat"/>
                  <a:cs typeface="Montserrat"/>
                  <a:sym typeface="Montserrat"/>
                </a:rPr>
                <a:t>Data cleaning including:</a:t>
              </a:r>
            </a:p>
            <a:p>
              <a:pPr algn="l" marL="561341" indent="-280670" lvl="1">
                <a:lnSpc>
                  <a:spcPts val="3120"/>
                </a:lnSpc>
                <a:buFont typeface="Arial"/>
                <a:buChar char="•"/>
              </a:pPr>
              <a:r>
                <a:rPr lang="en-US" sz="2600">
                  <a:solidFill>
                    <a:srgbClr val="000000"/>
                  </a:solidFill>
                  <a:latin typeface="Montserrat"/>
                  <a:ea typeface="Montserrat"/>
                  <a:cs typeface="Montserrat"/>
                  <a:sym typeface="Montserrat"/>
                </a:rPr>
                <a:t>Dropping records missing “year” or “species”</a:t>
              </a:r>
            </a:p>
            <a:p>
              <a:pPr algn="l" marL="561341" indent="-280670" lvl="1">
                <a:lnSpc>
                  <a:spcPts val="3120"/>
                </a:lnSpc>
                <a:buFont typeface="Arial"/>
                <a:buChar char="•"/>
              </a:pPr>
              <a:r>
                <a:rPr lang="en-US" sz="2600">
                  <a:solidFill>
                    <a:srgbClr val="000000"/>
                  </a:solidFill>
                  <a:latin typeface="Montserrat"/>
                  <a:ea typeface="Montserrat"/>
                  <a:cs typeface="Montserrat"/>
                  <a:sym typeface="Montserrat"/>
                </a:rPr>
                <a:t>R</a:t>
              </a:r>
              <a:r>
                <a:rPr lang="en-US" sz="2600">
                  <a:solidFill>
                    <a:srgbClr val="000000"/>
                  </a:solidFill>
                  <a:latin typeface="Montserrat"/>
                  <a:ea typeface="Montserrat"/>
                  <a:cs typeface="Montserrat"/>
                  <a:sym typeface="Montserrat"/>
                </a:rPr>
                <a:t>emoves birds</a:t>
              </a:r>
            </a:p>
            <a:p>
              <a:pPr algn="l">
                <a:lnSpc>
                  <a:spcPts val="3120"/>
                </a:lnSpc>
              </a:pPr>
              <a:r>
                <a:rPr lang="en-US" sz="2600">
                  <a:solidFill>
                    <a:srgbClr val="000000"/>
                  </a:solidFill>
                  <a:latin typeface="Montserrat"/>
                  <a:ea typeface="Montserrat"/>
                  <a:cs typeface="Montserrat"/>
                  <a:sym typeface="Montserrat"/>
                </a:rPr>
                <a:t>I</a:t>
              </a:r>
              <a:r>
                <a:rPr lang="en-US" sz="2600">
                  <a:solidFill>
                    <a:srgbClr val="000000"/>
                  </a:solidFill>
                  <a:latin typeface="Montserrat"/>
                  <a:ea typeface="Montserrat"/>
                  <a:cs typeface="Montserrat"/>
                  <a:sym typeface="Montserrat"/>
                </a:rPr>
                <a:t>solates columns of interest of: </a:t>
              </a:r>
            </a:p>
            <a:p>
              <a:pPr algn="l" marL="561340" indent="-280670" lvl="1">
                <a:lnSpc>
                  <a:spcPts val="3120"/>
                </a:lnSpc>
                <a:buFont typeface="Arial"/>
                <a:buChar char="•"/>
              </a:pPr>
              <a:r>
                <a:rPr lang="en-US" sz="2600">
                  <a:solidFill>
                    <a:srgbClr val="000000"/>
                  </a:solidFill>
                  <a:latin typeface="Montserrat"/>
                  <a:ea typeface="Montserrat"/>
                  <a:cs typeface="Montserrat"/>
                  <a:sym typeface="Montserrat"/>
                </a:rPr>
                <a:t>Species, latitude, longitude, year</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0E8"/>
        </a:solidFill>
      </p:bgPr>
    </p:bg>
    <p:spTree>
      <p:nvGrpSpPr>
        <p:cNvPr id="1" name=""/>
        <p:cNvGrpSpPr/>
        <p:nvPr/>
      </p:nvGrpSpPr>
      <p:grpSpPr>
        <a:xfrm>
          <a:off x="0" y="0"/>
          <a:ext cx="0" cy="0"/>
          <a:chOff x="0" y="0"/>
          <a:chExt cx="0" cy="0"/>
        </a:xfrm>
      </p:grpSpPr>
      <p:grpSp>
        <p:nvGrpSpPr>
          <p:cNvPr name="Group 2" id="2"/>
          <p:cNvGrpSpPr/>
          <p:nvPr/>
        </p:nvGrpSpPr>
        <p:grpSpPr>
          <a:xfrm rot="0">
            <a:off x="1097280" y="822960"/>
            <a:ext cx="16459200" cy="1279601"/>
            <a:chOff x="0" y="0"/>
            <a:chExt cx="21945600" cy="1706135"/>
          </a:xfrm>
        </p:grpSpPr>
        <p:sp>
          <p:nvSpPr>
            <p:cNvPr name="Freeform 3" id="3"/>
            <p:cNvSpPr/>
            <p:nvPr/>
          </p:nvSpPr>
          <p:spPr>
            <a:xfrm flipH="false" flipV="false" rot="0">
              <a:off x="0" y="0"/>
              <a:ext cx="21945600" cy="1706135"/>
            </a:xfrm>
            <a:custGeom>
              <a:avLst/>
              <a:gdLst/>
              <a:ahLst/>
              <a:cxnLst/>
              <a:rect r="r" b="b" t="t" l="l"/>
              <a:pathLst>
                <a:path h="1706135" w="21945600">
                  <a:moveTo>
                    <a:pt x="0" y="0"/>
                  </a:moveTo>
                  <a:lnTo>
                    <a:pt x="21945600" y="0"/>
                  </a:lnTo>
                  <a:lnTo>
                    <a:pt x="21945600" y="1706135"/>
                  </a:lnTo>
                  <a:lnTo>
                    <a:pt x="0" y="1706135"/>
                  </a:lnTo>
                  <a:close/>
                </a:path>
              </a:pathLst>
            </a:custGeom>
            <a:blipFill>
              <a:blip r:embed="rId3">
                <a:alphaModFix amt="0"/>
              </a:blip>
              <a:stretch>
                <a:fillRect l="0" t="-204182" r="0" b="-197080"/>
              </a:stretch>
            </a:blipFill>
          </p:spPr>
        </p:sp>
        <p:sp>
          <p:nvSpPr>
            <p:cNvPr name="TextBox 4" id="4"/>
            <p:cNvSpPr txBox="true"/>
            <p:nvPr/>
          </p:nvSpPr>
          <p:spPr>
            <a:xfrm>
              <a:off x="0" y="0"/>
              <a:ext cx="21945600" cy="1706135"/>
            </a:xfrm>
            <a:prstGeom prst="rect">
              <a:avLst/>
            </a:prstGeom>
          </p:spPr>
          <p:txBody>
            <a:bodyPr anchor="ctr" rtlCol="false" tIns="0" lIns="0" bIns="0" rIns="0"/>
            <a:lstStyle/>
            <a:p>
              <a:pPr algn="l">
                <a:lnSpc>
                  <a:spcPts val="7680"/>
                </a:lnSpc>
              </a:pPr>
              <a:r>
                <a:rPr lang="en-US" sz="6400" b="true">
                  <a:solidFill>
                    <a:srgbClr val="6B4F3A"/>
                  </a:solidFill>
                  <a:latin typeface="Montserrat Bold"/>
                  <a:ea typeface="Montserrat Bold"/>
                  <a:cs typeface="Montserrat Bold"/>
                  <a:sym typeface="Montserrat Bold"/>
                </a:rPr>
                <a:t>P</a:t>
              </a:r>
              <a:r>
                <a:rPr lang="en-US" sz="6400" b="true">
                  <a:solidFill>
                    <a:srgbClr val="6B4F3A"/>
                  </a:solidFill>
                  <a:latin typeface="Montserrat Bold"/>
                  <a:ea typeface="Montserrat Bold"/>
                  <a:cs typeface="Montserrat Bold"/>
                  <a:sym typeface="Montserrat Bold"/>
                </a:rPr>
                <a:t>roject ESCAPE</a:t>
              </a:r>
            </a:p>
          </p:txBody>
        </p:sp>
      </p:grpSp>
      <p:grpSp>
        <p:nvGrpSpPr>
          <p:cNvPr name="Group 5" id="5"/>
          <p:cNvGrpSpPr/>
          <p:nvPr/>
        </p:nvGrpSpPr>
        <p:grpSpPr>
          <a:xfrm rot="0">
            <a:off x="1097280" y="1975104"/>
            <a:ext cx="15544800" cy="694944"/>
            <a:chOff x="0" y="0"/>
            <a:chExt cx="20726400" cy="926592"/>
          </a:xfrm>
        </p:grpSpPr>
        <p:sp>
          <p:nvSpPr>
            <p:cNvPr name="Freeform 6" id="6"/>
            <p:cNvSpPr/>
            <p:nvPr/>
          </p:nvSpPr>
          <p:spPr>
            <a:xfrm flipH="false" flipV="false" rot="0">
              <a:off x="0" y="0"/>
              <a:ext cx="20726400" cy="926592"/>
            </a:xfrm>
            <a:custGeom>
              <a:avLst/>
              <a:gdLst/>
              <a:ahLst/>
              <a:cxnLst/>
              <a:rect r="r" b="b" t="t" l="l"/>
              <a:pathLst>
                <a:path h="926592" w="20726400">
                  <a:moveTo>
                    <a:pt x="0" y="0"/>
                  </a:moveTo>
                  <a:lnTo>
                    <a:pt x="20726400" y="0"/>
                  </a:lnTo>
                  <a:lnTo>
                    <a:pt x="20726400" y="926592"/>
                  </a:lnTo>
                  <a:lnTo>
                    <a:pt x="0" y="926592"/>
                  </a:lnTo>
                  <a:close/>
                </a:path>
              </a:pathLst>
            </a:custGeom>
            <a:blipFill>
              <a:blip r:embed="rId3">
                <a:alphaModFix amt="0"/>
              </a:blip>
              <a:stretch>
                <a:fillRect l="0" t="-385849" r="0" b="-385849"/>
              </a:stretch>
            </a:blipFill>
          </p:spPr>
        </p:sp>
        <p:sp>
          <p:nvSpPr>
            <p:cNvPr name="TextBox 7" id="7"/>
            <p:cNvSpPr txBox="true"/>
            <p:nvPr/>
          </p:nvSpPr>
          <p:spPr>
            <a:xfrm>
              <a:off x="0" y="9525"/>
              <a:ext cx="20726400" cy="917067"/>
            </a:xfrm>
            <a:prstGeom prst="rect">
              <a:avLst/>
            </a:prstGeom>
          </p:spPr>
          <p:txBody>
            <a:bodyPr anchor="ctr" rtlCol="false" tIns="0" lIns="0" bIns="0" rIns="0"/>
            <a:lstStyle/>
            <a:p>
              <a:pPr algn="l">
                <a:lnSpc>
                  <a:spcPts val="2879"/>
                </a:lnSpc>
              </a:pPr>
              <a:r>
                <a:rPr lang="en-US" sz="2400">
                  <a:solidFill>
                    <a:srgbClr val="000000"/>
                  </a:solidFill>
                  <a:latin typeface="Montserrat"/>
                  <a:ea typeface="Montserrat"/>
                  <a:cs typeface="Montserrat"/>
                  <a:sym typeface="Montserrat"/>
                </a:rPr>
                <a:t>“Leveraging AI inference to inform viral surveillance and vaccine selection”</a:t>
              </a:r>
            </a:p>
          </p:txBody>
        </p:sp>
      </p:grpSp>
      <p:grpSp>
        <p:nvGrpSpPr>
          <p:cNvPr name="Group 8" id="8"/>
          <p:cNvGrpSpPr/>
          <p:nvPr/>
        </p:nvGrpSpPr>
        <p:grpSpPr>
          <a:xfrm rot="0">
            <a:off x="993143" y="3004823"/>
            <a:ext cx="3683003" cy="6426203"/>
            <a:chOff x="0" y="0"/>
            <a:chExt cx="4910671" cy="8568271"/>
          </a:xfrm>
        </p:grpSpPr>
        <p:grpSp>
          <p:nvGrpSpPr>
            <p:cNvPr name="Group 9" id="9"/>
            <p:cNvGrpSpPr/>
            <p:nvPr/>
          </p:nvGrpSpPr>
          <p:grpSpPr>
            <a:xfrm rot="0">
              <a:off x="0" y="0"/>
              <a:ext cx="4910671" cy="8568271"/>
              <a:chOff x="0" y="0"/>
              <a:chExt cx="4910671" cy="8568271"/>
            </a:xfrm>
          </p:grpSpPr>
          <p:sp>
            <p:nvSpPr>
              <p:cNvPr name="Freeform 10" id="10"/>
              <p:cNvSpPr/>
              <p:nvPr/>
            </p:nvSpPr>
            <p:spPr>
              <a:xfrm flipH="false" flipV="false" rot="0">
                <a:off x="0" y="0"/>
                <a:ext cx="4910709" cy="8568309"/>
              </a:xfrm>
              <a:custGeom>
                <a:avLst/>
                <a:gdLst/>
                <a:ahLst/>
                <a:cxnLst/>
                <a:rect r="r" b="b" t="t" l="l"/>
                <a:pathLst>
                  <a:path h="8568309" w="4910709">
                    <a:moveTo>
                      <a:pt x="571500" y="0"/>
                    </a:moveTo>
                    <a:lnTo>
                      <a:pt x="4339209" y="0"/>
                    </a:lnTo>
                    <a:cubicBezTo>
                      <a:pt x="4490781" y="0"/>
                      <a:pt x="4636144" y="60211"/>
                      <a:pt x="4743321" y="167388"/>
                    </a:cubicBezTo>
                    <a:cubicBezTo>
                      <a:pt x="4850498" y="274566"/>
                      <a:pt x="4910709" y="419929"/>
                      <a:pt x="4910709" y="571500"/>
                    </a:cubicBezTo>
                    <a:lnTo>
                      <a:pt x="4910709" y="7996809"/>
                    </a:lnTo>
                    <a:cubicBezTo>
                      <a:pt x="4910709" y="8312440"/>
                      <a:pt x="4654840" y="8568309"/>
                      <a:pt x="4339209" y="8568309"/>
                    </a:cubicBezTo>
                    <a:lnTo>
                      <a:pt x="571500" y="8568309"/>
                    </a:lnTo>
                    <a:cubicBezTo>
                      <a:pt x="419929" y="8568309"/>
                      <a:pt x="274566" y="8508098"/>
                      <a:pt x="167388" y="8400921"/>
                    </a:cubicBezTo>
                    <a:cubicBezTo>
                      <a:pt x="60211" y="8293743"/>
                      <a:pt x="0" y="8148380"/>
                      <a:pt x="0" y="7996809"/>
                    </a:cubicBezTo>
                    <a:lnTo>
                      <a:pt x="0" y="571500"/>
                    </a:lnTo>
                    <a:cubicBezTo>
                      <a:pt x="0" y="255869"/>
                      <a:pt x="255869" y="0"/>
                      <a:pt x="571500" y="0"/>
                    </a:cubicBezTo>
                    <a:close/>
                  </a:path>
                </a:pathLst>
              </a:custGeom>
              <a:solidFill>
                <a:srgbClr val="FDFAF5"/>
              </a:solidFill>
              <a:ln w="25400" cap="rnd">
                <a:solidFill>
                  <a:srgbClr val="D9CEBA"/>
                </a:solidFill>
                <a:prstDash val="solid"/>
                <a:round/>
              </a:ln>
            </p:spPr>
          </p:sp>
        </p:grpSp>
        <p:grpSp>
          <p:nvGrpSpPr>
            <p:cNvPr name="Group 11" id="11"/>
            <p:cNvGrpSpPr/>
            <p:nvPr/>
          </p:nvGrpSpPr>
          <p:grpSpPr>
            <a:xfrm rot="0">
              <a:off x="1706880" y="1354658"/>
              <a:ext cx="1496911" cy="1496911"/>
              <a:chOff x="0" y="0"/>
              <a:chExt cx="1496911" cy="1496911"/>
            </a:xfrm>
          </p:grpSpPr>
          <p:sp>
            <p:nvSpPr>
              <p:cNvPr name="Freeform 12" id="12"/>
              <p:cNvSpPr/>
              <p:nvPr/>
            </p:nvSpPr>
            <p:spPr>
              <a:xfrm flipH="false" flipV="false" rot="0">
                <a:off x="0" y="0"/>
                <a:ext cx="1496822" cy="1496822"/>
              </a:xfrm>
              <a:custGeom>
                <a:avLst/>
                <a:gdLst/>
                <a:ahLst/>
                <a:cxnLst/>
                <a:rect r="r" b="b" t="t" l="l"/>
                <a:pathLst>
                  <a:path h="1496822" w="1496822">
                    <a:moveTo>
                      <a:pt x="0" y="748411"/>
                    </a:moveTo>
                    <a:cubicBezTo>
                      <a:pt x="0" y="335153"/>
                      <a:pt x="335153" y="0"/>
                      <a:pt x="748411" y="0"/>
                    </a:cubicBezTo>
                    <a:cubicBezTo>
                      <a:pt x="1161669" y="0"/>
                      <a:pt x="1496822" y="335153"/>
                      <a:pt x="1496822" y="748411"/>
                    </a:cubicBezTo>
                    <a:cubicBezTo>
                      <a:pt x="1496822" y="1161669"/>
                      <a:pt x="1161669" y="1496822"/>
                      <a:pt x="748411" y="1496822"/>
                    </a:cubicBezTo>
                    <a:cubicBezTo>
                      <a:pt x="335153" y="1496822"/>
                      <a:pt x="0" y="1161796"/>
                      <a:pt x="0" y="748411"/>
                    </a:cubicBezTo>
                    <a:close/>
                  </a:path>
                </a:pathLst>
              </a:custGeom>
              <a:solidFill>
                <a:srgbClr val="C0714F"/>
              </a:solidFill>
              <a:ln w="25400" cap="sq">
                <a:solidFill>
                  <a:srgbClr val="C0714F"/>
                </a:solidFill>
                <a:prstDash val="solid"/>
                <a:miter/>
              </a:ln>
            </p:spPr>
          </p:sp>
        </p:grpSp>
        <p:grpSp>
          <p:nvGrpSpPr>
            <p:cNvPr name="Group 13" id="13"/>
            <p:cNvGrpSpPr/>
            <p:nvPr/>
          </p:nvGrpSpPr>
          <p:grpSpPr>
            <a:xfrm rot="0">
              <a:off x="1723809" y="1371587"/>
              <a:ext cx="1463040" cy="1463040"/>
              <a:chOff x="0" y="0"/>
              <a:chExt cx="1463040" cy="1463040"/>
            </a:xfrm>
          </p:grpSpPr>
          <p:sp>
            <p:nvSpPr>
              <p:cNvPr name="Freeform 14" id="14"/>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close/>
                  </a:path>
                </a:pathLst>
              </a:custGeom>
              <a:blipFill>
                <a:blip r:embed="rId3">
                  <a:alphaModFix amt="0"/>
                </a:blip>
                <a:stretch>
                  <a:fillRect l="-78303" t="0" r="-78303" b="0"/>
                </a:stretch>
              </a:blipFill>
            </p:spPr>
          </p:sp>
          <p:sp>
            <p:nvSpPr>
              <p:cNvPr name="TextBox 15" id="15"/>
              <p:cNvSpPr txBox="true"/>
              <p:nvPr/>
            </p:nvSpPr>
            <p:spPr>
              <a:xfrm>
                <a:off x="0" y="9525"/>
                <a:ext cx="1463040" cy="1453515"/>
              </a:xfrm>
              <a:prstGeom prst="rect">
                <a:avLst/>
              </a:prstGeom>
            </p:spPr>
            <p:txBody>
              <a:bodyPr anchor="ctr" rtlCol="false" tIns="0" lIns="0" bIns="0" rIns="0"/>
              <a:lstStyle/>
              <a:p>
                <a:pPr algn="ctr">
                  <a:lnSpc>
                    <a:spcPts val="3359"/>
                  </a:lnSpc>
                </a:pPr>
                <a:r>
                  <a:rPr lang="en-US" sz="2799" b="true">
                    <a:solidFill>
                      <a:srgbClr val="FDFAF5"/>
                    </a:solidFill>
                    <a:latin typeface="Montserrat Bold"/>
                    <a:ea typeface="Montserrat Bold"/>
                    <a:cs typeface="Montserrat Bold"/>
                    <a:sym typeface="Montserrat Bold"/>
                  </a:rPr>
                  <a:t>1</a:t>
                </a:r>
              </a:p>
            </p:txBody>
          </p:sp>
        </p:grpSp>
        <p:grpSp>
          <p:nvGrpSpPr>
            <p:cNvPr name="Group 16" id="16"/>
            <p:cNvGrpSpPr/>
            <p:nvPr/>
          </p:nvGrpSpPr>
          <p:grpSpPr>
            <a:xfrm rot="0">
              <a:off x="382689" y="3064935"/>
              <a:ext cx="4145280" cy="1219200"/>
              <a:chOff x="0" y="0"/>
              <a:chExt cx="4145280" cy="1219200"/>
            </a:xfrm>
          </p:grpSpPr>
          <p:sp>
            <p:nvSpPr>
              <p:cNvPr name="Freeform 17" id="17"/>
              <p:cNvSpPr/>
              <p:nvPr/>
            </p:nvSpPr>
            <p:spPr>
              <a:xfrm flipH="false" flipV="false" rot="0">
                <a:off x="0" y="0"/>
                <a:ext cx="4145280" cy="1219200"/>
              </a:xfrm>
              <a:custGeom>
                <a:avLst/>
                <a:gdLst/>
                <a:ahLst/>
                <a:cxnLst/>
                <a:rect r="r" b="b" t="t" l="l"/>
                <a:pathLst>
                  <a:path h="1219200" w="4145280">
                    <a:moveTo>
                      <a:pt x="0" y="0"/>
                    </a:moveTo>
                    <a:lnTo>
                      <a:pt x="4145280" y="0"/>
                    </a:lnTo>
                    <a:lnTo>
                      <a:pt x="4145280" y="1219200"/>
                    </a:lnTo>
                    <a:lnTo>
                      <a:pt x="0" y="1219200"/>
                    </a:lnTo>
                    <a:close/>
                  </a:path>
                </a:pathLst>
              </a:custGeom>
              <a:blipFill>
                <a:blip r:embed="rId3">
                  <a:alphaModFix amt="0"/>
                </a:blip>
                <a:stretch>
                  <a:fillRect l="0" t="-16249" r="0" b="-16249"/>
                </a:stretch>
              </a:blipFill>
            </p:spPr>
          </p:sp>
          <p:sp>
            <p:nvSpPr>
              <p:cNvPr name="TextBox 18" id="18"/>
              <p:cNvSpPr txBox="true"/>
              <p:nvPr/>
            </p:nvSpPr>
            <p:spPr>
              <a:xfrm>
                <a:off x="0" y="9525"/>
                <a:ext cx="4145280" cy="1209675"/>
              </a:xfrm>
              <a:prstGeom prst="rect">
                <a:avLst/>
              </a:prstGeom>
            </p:spPr>
            <p:txBody>
              <a:bodyPr anchor="ctr" rtlCol="false" tIns="0" lIns="0" bIns="0" rIns="0"/>
              <a:lstStyle/>
              <a:p>
                <a:pPr algn="ctr">
                  <a:lnSpc>
                    <a:spcPts val="2879"/>
                  </a:lnSpc>
                </a:pPr>
                <a:r>
                  <a:rPr lang="en-US" sz="2400" b="true">
                    <a:solidFill>
                      <a:srgbClr val="6B4F3A"/>
                    </a:solidFill>
                    <a:latin typeface="Montserrat Bold"/>
                    <a:ea typeface="Montserrat Bold"/>
                    <a:cs typeface="Montserrat Bold"/>
                    <a:sym typeface="Montserrat Bold"/>
                  </a:rPr>
                  <a:t>CONTEXT</a:t>
                </a:r>
              </a:p>
            </p:txBody>
          </p:sp>
        </p:grpSp>
        <p:grpSp>
          <p:nvGrpSpPr>
            <p:cNvPr name="Group 19" id="19"/>
            <p:cNvGrpSpPr/>
            <p:nvPr/>
          </p:nvGrpSpPr>
          <p:grpSpPr>
            <a:xfrm rot="0">
              <a:off x="293364" y="3918369"/>
              <a:ext cx="4323931" cy="4419600"/>
              <a:chOff x="0" y="0"/>
              <a:chExt cx="4323931" cy="4419600"/>
            </a:xfrm>
          </p:grpSpPr>
          <p:sp>
            <p:nvSpPr>
              <p:cNvPr name="Freeform 20" id="20"/>
              <p:cNvSpPr/>
              <p:nvPr/>
            </p:nvSpPr>
            <p:spPr>
              <a:xfrm flipH="false" flipV="false" rot="0">
                <a:off x="0" y="0"/>
                <a:ext cx="4323931" cy="4419600"/>
              </a:xfrm>
              <a:custGeom>
                <a:avLst/>
                <a:gdLst/>
                <a:ahLst/>
                <a:cxnLst/>
                <a:rect r="r" b="b" t="t" l="l"/>
                <a:pathLst>
                  <a:path h="4419600" w="4323931">
                    <a:moveTo>
                      <a:pt x="0" y="0"/>
                    </a:moveTo>
                    <a:lnTo>
                      <a:pt x="4323931" y="0"/>
                    </a:lnTo>
                    <a:lnTo>
                      <a:pt x="4323931" y="4419600"/>
                    </a:lnTo>
                    <a:lnTo>
                      <a:pt x="0" y="4419600"/>
                    </a:lnTo>
                    <a:close/>
                  </a:path>
                </a:pathLst>
              </a:custGeom>
              <a:blipFill>
                <a:blip r:embed="rId3">
                  <a:alphaModFix amt="0"/>
                </a:blip>
                <a:stretch>
                  <a:fillRect l="-75068" t="0" r="-70936" b="6206"/>
                </a:stretch>
              </a:blipFill>
            </p:spPr>
          </p:sp>
          <p:sp>
            <p:nvSpPr>
              <p:cNvPr name="TextBox 21" id="21"/>
              <p:cNvSpPr txBox="true"/>
              <p:nvPr/>
            </p:nvSpPr>
            <p:spPr>
              <a:xfrm>
                <a:off x="0" y="0"/>
                <a:ext cx="4323931" cy="4419600"/>
              </a:xfrm>
              <a:prstGeom prst="rect">
                <a:avLst/>
              </a:prstGeom>
            </p:spPr>
            <p:txBody>
              <a:bodyPr anchor="ctr" rtlCol="false" tIns="0" lIns="0" bIns="0" rIns="0"/>
              <a:lstStyle/>
              <a:p>
                <a:pPr algn="l" marL="410211" indent="-205106" lvl="1">
                  <a:lnSpc>
                    <a:spcPts val="2280"/>
                  </a:lnSpc>
                  <a:buFont typeface="Arial"/>
                  <a:buChar char="•"/>
                </a:pPr>
                <a:r>
                  <a:rPr lang="en-US" sz="1900">
                    <a:solidFill>
                      <a:srgbClr val="000000"/>
                    </a:solidFill>
                    <a:latin typeface="Montserrat"/>
                    <a:ea typeface="Montserrat"/>
                    <a:cs typeface="Montserrat"/>
                    <a:sym typeface="Montserrat"/>
                  </a:rPr>
                  <a:t>Viruses are constantly evolving and escaping existing population immunity which reduces vaccine effectiveness</a:t>
                </a:r>
              </a:p>
              <a:p>
                <a:pPr algn="l" marL="410211" indent="-205106" lvl="1">
                  <a:lnSpc>
                    <a:spcPts val="2280"/>
                  </a:lnSpc>
                  <a:buFont typeface="Arial"/>
                  <a:buChar char="•"/>
                </a:pPr>
                <a:r>
                  <a:rPr lang="en-US" sz="1900">
                    <a:solidFill>
                      <a:srgbClr val="000000"/>
                    </a:solidFill>
                    <a:latin typeface="Montserrat"/>
                    <a:ea typeface="Montserrat"/>
                    <a:cs typeface="Montserrat"/>
                    <a:sym typeface="Montserrat"/>
                  </a:rPr>
                  <a:t>Global surveillance can only experimentally test a small fraction of circulating strains</a:t>
                </a:r>
              </a:p>
            </p:txBody>
          </p:sp>
        </p:grpSp>
      </p:grpSp>
      <p:grpSp>
        <p:nvGrpSpPr>
          <p:cNvPr name="Group 22" id="22"/>
          <p:cNvGrpSpPr/>
          <p:nvPr/>
        </p:nvGrpSpPr>
        <p:grpSpPr>
          <a:xfrm rot="0">
            <a:off x="4650743" y="3004823"/>
            <a:ext cx="4231643" cy="6426203"/>
            <a:chOff x="0" y="0"/>
            <a:chExt cx="5642191" cy="8568271"/>
          </a:xfrm>
        </p:grpSpPr>
        <p:grpSp>
          <p:nvGrpSpPr>
            <p:cNvPr name="Group 23" id="23"/>
            <p:cNvGrpSpPr/>
            <p:nvPr/>
          </p:nvGrpSpPr>
          <p:grpSpPr>
            <a:xfrm rot="0">
              <a:off x="0" y="2365248"/>
              <a:ext cx="765391" cy="131407"/>
              <a:chOff x="0" y="0"/>
              <a:chExt cx="765391" cy="131407"/>
            </a:xfrm>
          </p:grpSpPr>
          <p:sp>
            <p:nvSpPr>
              <p:cNvPr name="Freeform 24" id="24"/>
              <p:cNvSpPr/>
              <p:nvPr/>
            </p:nvSpPr>
            <p:spPr>
              <a:xfrm flipH="false" flipV="false" rot="0">
                <a:off x="0" y="0"/>
                <a:ext cx="765429" cy="131445"/>
              </a:xfrm>
              <a:custGeom>
                <a:avLst/>
                <a:gdLst/>
                <a:ahLst/>
                <a:cxnLst/>
                <a:rect r="r" b="b" t="t" l="l"/>
                <a:pathLst>
                  <a:path h="131445" w="765429">
                    <a:moveTo>
                      <a:pt x="0" y="0"/>
                    </a:moveTo>
                    <a:lnTo>
                      <a:pt x="765429" y="0"/>
                    </a:lnTo>
                    <a:lnTo>
                      <a:pt x="765429" y="131445"/>
                    </a:lnTo>
                    <a:lnTo>
                      <a:pt x="0" y="131445"/>
                    </a:lnTo>
                    <a:close/>
                  </a:path>
                </a:pathLst>
              </a:custGeom>
              <a:solidFill>
                <a:srgbClr val="D9CEBA"/>
              </a:solidFill>
              <a:ln w="25400" cap="sq">
                <a:solidFill>
                  <a:srgbClr val="D9CEBA"/>
                </a:solidFill>
                <a:prstDash val="solid"/>
                <a:miter/>
              </a:ln>
            </p:spPr>
          </p:sp>
        </p:grpSp>
        <p:grpSp>
          <p:nvGrpSpPr>
            <p:cNvPr name="Group 25" id="25"/>
            <p:cNvGrpSpPr/>
            <p:nvPr/>
          </p:nvGrpSpPr>
          <p:grpSpPr>
            <a:xfrm rot="0">
              <a:off x="731520" y="0"/>
              <a:ext cx="4910671" cy="8568271"/>
              <a:chOff x="0" y="0"/>
              <a:chExt cx="4910671" cy="8568271"/>
            </a:xfrm>
          </p:grpSpPr>
          <p:sp>
            <p:nvSpPr>
              <p:cNvPr name="Freeform 26" id="26"/>
              <p:cNvSpPr/>
              <p:nvPr/>
            </p:nvSpPr>
            <p:spPr>
              <a:xfrm flipH="false" flipV="false" rot="0">
                <a:off x="0" y="0"/>
                <a:ext cx="4910709" cy="8568309"/>
              </a:xfrm>
              <a:custGeom>
                <a:avLst/>
                <a:gdLst/>
                <a:ahLst/>
                <a:cxnLst/>
                <a:rect r="r" b="b" t="t" l="l"/>
                <a:pathLst>
                  <a:path h="8568309" w="4910709">
                    <a:moveTo>
                      <a:pt x="571500" y="0"/>
                    </a:moveTo>
                    <a:lnTo>
                      <a:pt x="4339209" y="0"/>
                    </a:lnTo>
                    <a:cubicBezTo>
                      <a:pt x="4490781" y="0"/>
                      <a:pt x="4636144" y="60211"/>
                      <a:pt x="4743321" y="167388"/>
                    </a:cubicBezTo>
                    <a:cubicBezTo>
                      <a:pt x="4850498" y="274566"/>
                      <a:pt x="4910709" y="419929"/>
                      <a:pt x="4910709" y="571500"/>
                    </a:cubicBezTo>
                    <a:lnTo>
                      <a:pt x="4910709" y="7996809"/>
                    </a:lnTo>
                    <a:cubicBezTo>
                      <a:pt x="4910709" y="8312440"/>
                      <a:pt x="4654840" y="8568309"/>
                      <a:pt x="4339209" y="8568309"/>
                    </a:cubicBezTo>
                    <a:lnTo>
                      <a:pt x="571500" y="8568309"/>
                    </a:lnTo>
                    <a:cubicBezTo>
                      <a:pt x="419929" y="8568309"/>
                      <a:pt x="274566" y="8508098"/>
                      <a:pt x="167388" y="8400921"/>
                    </a:cubicBezTo>
                    <a:cubicBezTo>
                      <a:pt x="60211" y="8293743"/>
                      <a:pt x="0" y="8148380"/>
                      <a:pt x="0" y="7996809"/>
                    </a:cubicBezTo>
                    <a:lnTo>
                      <a:pt x="0" y="571500"/>
                    </a:lnTo>
                    <a:cubicBezTo>
                      <a:pt x="0" y="255869"/>
                      <a:pt x="255869" y="0"/>
                      <a:pt x="571500" y="0"/>
                    </a:cubicBezTo>
                    <a:close/>
                  </a:path>
                </a:pathLst>
              </a:custGeom>
              <a:solidFill>
                <a:srgbClr val="FDFAF5"/>
              </a:solidFill>
              <a:ln w="25400" cap="rnd">
                <a:solidFill>
                  <a:srgbClr val="D9CEBA"/>
                </a:solidFill>
                <a:prstDash val="solid"/>
                <a:round/>
              </a:ln>
            </p:spPr>
          </p:sp>
        </p:grpSp>
        <p:grpSp>
          <p:nvGrpSpPr>
            <p:cNvPr name="Group 27" id="27"/>
            <p:cNvGrpSpPr/>
            <p:nvPr/>
          </p:nvGrpSpPr>
          <p:grpSpPr>
            <a:xfrm rot="0">
              <a:off x="2438400" y="1354658"/>
              <a:ext cx="1496911" cy="1496911"/>
              <a:chOff x="0" y="0"/>
              <a:chExt cx="1496911" cy="1496911"/>
            </a:xfrm>
          </p:grpSpPr>
          <p:sp>
            <p:nvSpPr>
              <p:cNvPr name="Freeform 28" id="28"/>
              <p:cNvSpPr/>
              <p:nvPr/>
            </p:nvSpPr>
            <p:spPr>
              <a:xfrm flipH="false" flipV="false" rot="0">
                <a:off x="0" y="0"/>
                <a:ext cx="1496822" cy="1496822"/>
              </a:xfrm>
              <a:custGeom>
                <a:avLst/>
                <a:gdLst/>
                <a:ahLst/>
                <a:cxnLst/>
                <a:rect r="r" b="b" t="t" l="l"/>
                <a:pathLst>
                  <a:path h="1496822" w="1496822">
                    <a:moveTo>
                      <a:pt x="0" y="748411"/>
                    </a:moveTo>
                    <a:cubicBezTo>
                      <a:pt x="0" y="335153"/>
                      <a:pt x="335153" y="0"/>
                      <a:pt x="748411" y="0"/>
                    </a:cubicBezTo>
                    <a:cubicBezTo>
                      <a:pt x="1161669" y="0"/>
                      <a:pt x="1496822" y="335153"/>
                      <a:pt x="1496822" y="748411"/>
                    </a:cubicBezTo>
                    <a:cubicBezTo>
                      <a:pt x="1496822" y="1161669"/>
                      <a:pt x="1161669" y="1496822"/>
                      <a:pt x="748411" y="1496822"/>
                    </a:cubicBezTo>
                    <a:cubicBezTo>
                      <a:pt x="335153" y="1496822"/>
                      <a:pt x="0" y="1161796"/>
                      <a:pt x="0" y="748411"/>
                    </a:cubicBezTo>
                    <a:close/>
                  </a:path>
                </a:pathLst>
              </a:custGeom>
              <a:solidFill>
                <a:srgbClr val="7A9E87"/>
              </a:solidFill>
              <a:ln w="25400" cap="sq">
                <a:solidFill>
                  <a:srgbClr val="7A9E87"/>
                </a:solidFill>
                <a:prstDash val="solid"/>
                <a:miter/>
              </a:ln>
            </p:spPr>
          </p:sp>
        </p:grpSp>
        <p:grpSp>
          <p:nvGrpSpPr>
            <p:cNvPr name="Group 29" id="29"/>
            <p:cNvGrpSpPr/>
            <p:nvPr/>
          </p:nvGrpSpPr>
          <p:grpSpPr>
            <a:xfrm rot="0">
              <a:off x="2455329" y="1371587"/>
              <a:ext cx="1463040" cy="1463040"/>
              <a:chOff x="0" y="0"/>
              <a:chExt cx="1463040" cy="1463040"/>
            </a:xfrm>
          </p:grpSpPr>
          <p:sp>
            <p:nvSpPr>
              <p:cNvPr name="Freeform 30" id="30"/>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close/>
                  </a:path>
                </a:pathLst>
              </a:custGeom>
              <a:blipFill>
                <a:blip r:embed="rId3">
                  <a:alphaModFix amt="0"/>
                </a:blip>
                <a:stretch>
                  <a:fillRect l="-78303" t="0" r="-78303" b="0"/>
                </a:stretch>
              </a:blipFill>
            </p:spPr>
          </p:sp>
          <p:sp>
            <p:nvSpPr>
              <p:cNvPr name="TextBox 31" id="31"/>
              <p:cNvSpPr txBox="true"/>
              <p:nvPr/>
            </p:nvSpPr>
            <p:spPr>
              <a:xfrm>
                <a:off x="0" y="9525"/>
                <a:ext cx="1463040" cy="1453515"/>
              </a:xfrm>
              <a:prstGeom prst="rect">
                <a:avLst/>
              </a:prstGeom>
            </p:spPr>
            <p:txBody>
              <a:bodyPr anchor="ctr" rtlCol="false" tIns="0" lIns="0" bIns="0" rIns="0"/>
              <a:lstStyle/>
              <a:p>
                <a:pPr algn="ctr">
                  <a:lnSpc>
                    <a:spcPts val="3359"/>
                  </a:lnSpc>
                </a:pPr>
                <a:r>
                  <a:rPr lang="en-US" sz="2799" b="true">
                    <a:solidFill>
                      <a:srgbClr val="FDFAF5"/>
                    </a:solidFill>
                    <a:latin typeface="Montserrat Bold"/>
                    <a:ea typeface="Montserrat Bold"/>
                    <a:cs typeface="Montserrat Bold"/>
                    <a:sym typeface="Montserrat Bold"/>
                  </a:rPr>
                  <a:t>2</a:t>
                </a:r>
              </a:p>
            </p:txBody>
          </p:sp>
        </p:grpSp>
        <p:grpSp>
          <p:nvGrpSpPr>
            <p:cNvPr name="Group 32" id="32"/>
            <p:cNvGrpSpPr/>
            <p:nvPr/>
          </p:nvGrpSpPr>
          <p:grpSpPr>
            <a:xfrm rot="0">
              <a:off x="1114209" y="3064935"/>
              <a:ext cx="4145280" cy="1219200"/>
              <a:chOff x="0" y="0"/>
              <a:chExt cx="4145280" cy="1219200"/>
            </a:xfrm>
          </p:grpSpPr>
          <p:sp>
            <p:nvSpPr>
              <p:cNvPr name="Freeform 33" id="33"/>
              <p:cNvSpPr/>
              <p:nvPr/>
            </p:nvSpPr>
            <p:spPr>
              <a:xfrm flipH="false" flipV="false" rot="0">
                <a:off x="0" y="0"/>
                <a:ext cx="4145280" cy="1219200"/>
              </a:xfrm>
              <a:custGeom>
                <a:avLst/>
                <a:gdLst/>
                <a:ahLst/>
                <a:cxnLst/>
                <a:rect r="r" b="b" t="t" l="l"/>
                <a:pathLst>
                  <a:path h="1219200" w="4145280">
                    <a:moveTo>
                      <a:pt x="0" y="0"/>
                    </a:moveTo>
                    <a:lnTo>
                      <a:pt x="4145280" y="0"/>
                    </a:lnTo>
                    <a:lnTo>
                      <a:pt x="4145280" y="1219200"/>
                    </a:lnTo>
                    <a:lnTo>
                      <a:pt x="0" y="1219200"/>
                    </a:lnTo>
                    <a:close/>
                  </a:path>
                </a:pathLst>
              </a:custGeom>
              <a:blipFill>
                <a:blip r:embed="rId3">
                  <a:alphaModFix amt="0"/>
                </a:blip>
                <a:stretch>
                  <a:fillRect l="0" t="-16249" r="0" b="-16249"/>
                </a:stretch>
              </a:blipFill>
            </p:spPr>
          </p:sp>
          <p:sp>
            <p:nvSpPr>
              <p:cNvPr name="TextBox 34" id="34"/>
              <p:cNvSpPr txBox="true"/>
              <p:nvPr/>
            </p:nvSpPr>
            <p:spPr>
              <a:xfrm>
                <a:off x="0" y="9525"/>
                <a:ext cx="4145280" cy="1209675"/>
              </a:xfrm>
              <a:prstGeom prst="rect">
                <a:avLst/>
              </a:prstGeom>
            </p:spPr>
            <p:txBody>
              <a:bodyPr anchor="ctr" rtlCol="false" tIns="0" lIns="0" bIns="0" rIns="0"/>
              <a:lstStyle/>
              <a:p>
                <a:pPr algn="ctr">
                  <a:lnSpc>
                    <a:spcPts val="2879"/>
                  </a:lnSpc>
                </a:pPr>
                <a:r>
                  <a:rPr lang="en-US" sz="2400" b="true">
                    <a:solidFill>
                      <a:srgbClr val="6B4F3A"/>
                    </a:solidFill>
                    <a:latin typeface="Montserrat Bold"/>
                    <a:ea typeface="Montserrat Bold"/>
                    <a:cs typeface="Montserrat Bold"/>
                    <a:sym typeface="Montserrat Bold"/>
                  </a:rPr>
                  <a:t>CHALLENGE</a:t>
                </a:r>
              </a:p>
            </p:txBody>
          </p:sp>
        </p:grpSp>
        <p:grpSp>
          <p:nvGrpSpPr>
            <p:cNvPr name="Group 35" id="35"/>
            <p:cNvGrpSpPr/>
            <p:nvPr/>
          </p:nvGrpSpPr>
          <p:grpSpPr>
            <a:xfrm rot="0">
              <a:off x="937470" y="4033327"/>
              <a:ext cx="4498759" cy="3245342"/>
              <a:chOff x="0" y="0"/>
              <a:chExt cx="4498759" cy="3245342"/>
            </a:xfrm>
          </p:grpSpPr>
          <p:sp>
            <p:nvSpPr>
              <p:cNvPr name="Freeform 36" id="36"/>
              <p:cNvSpPr/>
              <p:nvPr/>
            </p:nvSpPr>
            <p:spPr>
              <a:xfrm flipH="false" flipV="false" rot="0">
                <a:off x="0" y="0"/>
                <a:ext cx="4498759" cy="3245342"/>
              </a:xfrm>
              <a:custGeom>
                <a:avLst/>
                <a:gdLst/>
                <a:ahLst/>
                <a:cxnLst/>
                <a:rect r="r" b="b" t="t" l="l"/>
                <a:pathLst>
                  <a:path h="3245342" w="4498759">
                    <a:moveTo>
                      <a:pt x="0" y="0"/>
                    </a:moveTo>
                    <a:lnTo>
                      <a:pt x="4498759" y="0"/>
                    </a:lnTo>
                    <a:lnTo>
                      <a:pt x="4498759" y="3245342"/>
                    </a:lnTo>
                    <a:lnTo>
                      <a:pt x="0" y="3245342"/>
                    </a:lnTo>
                    <a:close/>
                  </a:path>
                </a:pathLst>
              </a:custGeom>
              <a:blipFill>
                <a:blip r:embed="rId3">
                  <a:alphaModFix amt="0"/>
                </a:blip>
                <a:stretch>
                  <a:fillRect l="-72151" t="0" r="-64293" b="-27730"/>
                </a:stretch>
              </a:blipFill>
            </p:spPr>
          </p:sp>
          <p:sp>
            <p:nvSpPr>
              <p:cNvPr name="TextBox 37" id="37"/>
              <p:cNvSpPr txBox="true"/>
              <p:nvPr/>
            </p:nvSpPr>
            <p:spPr>
              <a:xfrm>
                <a:off x="0" y="0"/>
                <a:ext cx="4498759" cy="3245342"/>
              </a:xfrm>
              <a:prstGeom prst="rect">
                <a:avLst/>
              </a:prstGeom>
            </p:spPr>
            <p:txBody>
              <a:bodyPr anchor="ctr" rtlCol="false" tIns="0" lIns="0" bIns="0" rIns="0"/>
              <a:lstStyle/>
              <a:p>
                <a:pPr algn="l" marL="410211" indent="-205106" lvl="1">
                  <a:lnSpc>
                    <a:spcPts val="2280"/>
                  </a:lnSpc>
                  <a:buFont typeface="Arial"/>
                  <a:buChar char="•"/>
                </a:pPr>
                <a:r>
                  <a:rPr lang="en-US" sz="1900">
                    <a:solidFill>
                      <a:srgbClr val="000000"/>
                    </a:solidFill>
                    <a:latin typeface="Montserrat"/>
                    <a:ea typeface="Montserrat"/>
                    <a:cs typeface="Montserrat"/>
                    <a:sym typeface="Montserrat"/>
                  </a:rPr>
                  <a:t>Existing models work well on trained data </a:t>
                </a:r>
                <a:r>
                  <a:rPr lang="en-US" sz="1900">
                    <a:solidFill>
                      <a:srgbClr val="000000"/>
                    </a:solidFill>
                    <a:latin typeface="Montserrat"/>
                    <a:ea typeface="Montserrat"/>
                    <a:cs typeface="Montserrat"/>
                    <a:sym typeface="Montserrat"/>
                  </a:rPr>
                  <a:t>but perform inadequately in predicting the immune escape for a small critical set of new genetic changes</a:t>
                </a:r>
              </a:p>
            </p:txBody>
          </p:sp>
        </p:grpSp>
      </p:grpSp>
      <p:grpSp>
        <p:nvGrpSpPr>
          <p:cNvPr name="Group 38" id="38"/>
          <p:cNvGrpSpPr/>
          <p:nvPr/>
        </p:nvGrpSpPr>
        <p:grpSpPr>
          <a:xfrm rot="0">
            <a:off x="8856983" y="3004823"/>
            <a:ext cx="4231643" cy="6426203"/>
            <a:chOff x="0" y="0"/>
            <a:chExt cx="5642191" cy="8568271"/>
          </a:xfrm>
        </p:grpSpPr>
        <p:grpSp>
          <p:nvGrpSpPr>
            <p:cNvPr name="Group 39" id="39"/>
            <p:cNvGrpSpPr/>
            <p:nvPr/>
          </p:nvGrpSpPr>
          <p:grpSpPr>
            <a:xfrm rot="0">
              <a:off x="0" y="2365248"/>
              <a:ext cx="765391" cy="131407"/>
              <a:chOff x="0" y="0"/>
              <a:chExt cx="765391" cy="131407"/>
            </a:xfrm>
          </p:grpSpPr>
          <p:sp>
            <p:nvSpPr>
              <p:cNvPr name="Freeform 40" id="40"/>
              <p:cNvSpPr/>
              <p:nvPr/>
            </p:nvSpPr>
            <p:spPr>
              <a:xfrm flipH="false" flipV="false" rot="0">
                <a:off x="0" y="0"/>
                <a:ext cx="765429" cy="131445"/>
              </a:xfrm>
              <a:custGeom>
                <a:avLst/>
                <a:gdLst/>
                <a:ahLst/>
                <a:cxnLst/>
                <a:rect r="r" b="b" t="t" l="l"/>
                <a:pathLst>
                  <a:path h="131445" w="765429">
                    <a:moveTo>
                      <a:pt x="0" y="0"/>
                    </a:moveTo>
                    <a:lnTo>
                      <a:pt x="765429" y="0"/>
                    </a:lnTo>
                    <a:lnTo>
                      <a:pt x="765429" y="131445"/>
                    </a:lnTo>
                    <a:lnTo>
                      <a:pt x="0" y="131445"/>
                    </a:lnTo>
                    <a:close/>
                  </a:path>
                </a:pathLst>
              </a:custGeom>
              <a:solidFill>
                <a:srgbClr val="D9CEBA"/>
              </a:solidFill>
              <a:ln w="25400" cap="sq">
                <a:solidFill>
                  <a:srgbClr val="D9CEBA"/>
                </a:solidFill>
                <a:prstDash val="solid"/>
                <a:miter/>
              </a:ln>
            </p:spPr>
          </p:sp>
        </p:grpSp>
        <p:grpSp>
          <p:nvGrpSpPr>
            <p:cNvPr name="Group 41" id="41"/>
            <p:cNvGrpSpPr/>
            <p:nvPr/>
          </p:nvGrpSpPr>
          <p:grpSpPr>
            <a:xfrm rot="0">
              <a:off x="731520" y="0"/>
              <a:ext cx="4910671" cy="8568271"/>
              <a:chOff x="0" y="0"/>
              <a:chExt cx="4910671" cy="8568271"/>
            </a:xfrm>
          </p:grpSpPr>
          <p:sp>
            <p:nvSpPr>
              <p:cNvPr name="Freeform 42" id="42"/>
              <p:cNvSpPr/>
              <p:nvPr/>
            </p:nvSpPr>
            <p:spPr>
              <a:xfrm flipH="false" flipV="false" rot="0">
                <a:off x="0" y="0"/>
                <a:ext cx="4910709" cy="8568309"/>
              </a:xfrm>
              <a:custGeom>
                <a:avLst/>
                <a:gdLst/>
                <a:ahLst/>
                <a:cxnLst/>
                <a:rect r="r" b="b" t="t" l="l"/>
                <a:pathLst>
                  <a:path h="8568309" w="4910709">
                    <a:moveTo>
                      <a:pt x="571500" y="0"/>
                    </a:moveTo>
                    <a:lnTo>
                      <a:pt x="4339209" y="0"/>
                    </a:lnTo>
                    <a:cubicBezTo>
                      <a:pt x="4490781" y="0"/>
                      <a:pt x="4636144" y="60211"/>
                      <a:pt x="4743321" y="167388"/>
                    </a:cubicBezTo>
                    <a:cubicBezTo>
                      <a:pt x="4850498" y="274566"/>
                      <a:pt x="4910709" y="419929"/>
                      <a:pt x="4910709" y="571500"/>
                    </a:cubicBezTo>
                    <a:lnTo>
                      <a:pt x="4910709" y="7996809"/>
                    </a:lnTo>
                    <a:cubicBezTo>
                      <a:pt x="4910709" y="8312440"/>
                      <a:pt x="4654840" y="8568309"/>
                      <a:pt x="4339209" y="8568309"/>
                    </a:cubicBezTo>
                    <a:lnTo>
                      <a:pt x="571500" y="8568309"/>
                    </a:lnTo>
                    <a:cubicBezTo>
                      <a:pt x="419929" y="8568309"/>
                      <a:pt x="274566" y="8508098"/>
                      <a:pt x="167388" y="8400921"/>
                    </a:cubicBezTo>
                    <a:cubicBezTo>
                      <a:pt x="60211" y="8293743"/>
                      <a:pt x="0" y="8148380"/>
                      <a:pt x="0" y="7996809"/>
                    </a:cubicBezTo>
                    <a:lnTo>
                      <a:pt x="0" y="571500"/>
                    </a:lnTo>
                    <a:cubicBezTo>
                      <a:pt x="0" y="255869"/>
                      <a:pt x="255869" y="0"/>
                      <a:pt x="571500" y="0"/>
                    </a:cubicBezTo>
                    <a:close/>
                  </a:path>
                </a:pathLst>
              </a:custGeom>
              <a:solidFill>
                <a:srgbClr val="FDFAF5"/>
              </a:solidFill>
              <a:ln w="25400" cap="rnd">
                <a:solidFill>
                  <a:srgbClr val="D9CEBA"/>
                </a:solidFill>
                <a:prstDash val="solid"/>
                <a:round/>
              </a:ln>
            </p:spPr>
          </p:sp>
        </p:grpSp>
        <p:grpSp>
          <p:nvGrpSpPr>
            <p:cNvPr name="Group 43" id="43"/>
            <p:cNvGrpSpPr/>
            <p:nvPr/>
          </p:nvGrpSpPr>
          <p:grpSpPr>
            <a:xfrm rot="0">
              <a:off x="2438400" y="1354658"/>
              <a:ext cx="1496911" cy="1496911"/>
              <a:chOff x="0" y="0"/>
              <a:chExt cx="1496911" cy="1496911"/>
            </a:xfrm>
          </p:grpSpPr>
          <p:sp>
            <p:nvSpPr>
              <p:cNvPr name="Freeform 44" id="44"/>
              <p:cNvSpPr/>
              <p:nvPr/>
            </p:nvSpPr>
            <p:spPr>
              <a:xfrm flipH="false" flipV="false" rot="0">
                <a:off x="0" y="0"/>
                <a:ext cx="1496822" cy="1496822"/>
              </a:xfrm>
              <a:custGeom>
                <a:avLst/>
                <a:gdLst/>
                <a:ahLst/>
                <a:cxnLst/>
                <a:rect r="r" b="b" t="t" l="l"/>
                <a:pathLst>
                  <a:path h="1496822" w="1496822">
                    <a:moveTo>
                      <a:pt x="0" y="748411"/>
                    </a:moveTo>
                    <a:cubicBezTo>
                      <a:pt x="0" y="335153"/>
                      <a:pt x="335153" y="0"/>
                      <a:pt x="748411" y="0"/>
                    </a:cubicBezTo>
                    <a:cubicBezTo>
                      <a:pt x="1161669" y="0"/>
                      <a:pt x="1496822" y="335153"/>
                      <a:pt x="1496822" y="748411"/>
                    </a:cubicBezTo>
                    <a:cubicBezTo>
                      <a:pt x="1496822" y="1161669"/>
                      <a:pt x="1161669" y="1496822"/>
                      <a:pt x="748411" y="1496822"/>
                    </a:cubicBezTo>
                    <a:cubicBezTo>
                      <a:pt x="335153" y="1496822"/>
                      <a:pt x="0" y="1161796"/>
                      <a:pt x="0" y="748411"/>
                    </a:cubicBezTo>
                    <a:close/>
                  </a:path>
                </a:pathLst>
              </a:custGeom>
              <a:solidFill>
                <a:srgbClr val="C0714F"/>
              </a:solidFill>
              <a:ln w="25400" cap="sq">
                <a:solidFill>
                  <a:srgbClr val="C0714F"/>
                </a:solidFill>
                <a:prstDash val="solid"/>
                <a:miter/>
              </a:ln>
            </p:spPr>
          </p:sp>
        </p:grpSp>
        <p:grpSp>
          <p:nvGrpSpPr>
            <p:cNvPr name="Group 45" id="45"/>
            <p:cNvGrpSpPr/>
            <p:nvPr/>
          </p:nvGrpSpPr>
          <p:grpSpPr>
            <a:xfrm rot="0">
              <a:off x="2455329" y="1371587"/>
              <a:ext cx="1463040" cy="1463040"/>
              <a:chOff x="0" y="0"/>
              <a:chExt cx="1463040" cy="1463040"/>
            </a:xfrm>
          </p:grpSpPr>
          <p:sp>
            <p:nvSpPr>
              <p:cNvPr name="Freeform 46" id="46"/>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close/>
                  </a:path>
                </a:pathLst>
              </a:custGeom>
              <a:blipFill>
                <a:blip r:embed="rId3">
                  <a:alphaModFix amt="0"/>
                </a:blip>
                <a:stretch>
                  <a:fillRect l="-78303" t="0" r="-78303" b="0"/>
                </a:stretch>
              </a:blipFill>
            </p:spPr>
          </p:sp>
          <p:sp>
            <p:nvSpPr>
              <p:cNvPr name="TextBox 47" id="47"/>
              <p:cNvSpPr txBox="true"/>
              <p:nvPr/>
            </p:nvSpPr>
            <p:spPr>
              <a:xfrm>
                <a:off x="0" y="9525"/>
                <a:ext cx="1463040" cy="1453515"/>
              </a:xfrm>
              <a:prstGeom prst="rect">
                <a:avLst/>
              </a:prstGeom>
            </p:spPr>
            <p:txBody>
              <a:bodyPr anchor="ctr" rtlCol="false" tIns="0" lIns="0" bIns="0" rIns="0"/>
              <a:lstStyle/>
              <a:p>
                <a:pPr algn="ctr">
                  <a:lnSpc>
                    <a:spcPts val="3359"/>
                  </a:lnSpc>
                </a:pPr>
                <a:r>
                  <a:rPr lang="en-US" sz="2799" b="true">
                    <a:solidFill>
                      <a:srgbClr val="FDFAF5"/>
                    </a:solidFill>
                    <a:latin typeface="Montserrat Bold"/>
                    <a:ea typeface="Montserrat Bold"/>
                    <a:cs typeface="Montserrat Bold"/>
                    <a:sym typeface="Montserrat Bold"/>
                  </a:rPr>
                  <a:t>3</a:t>
                </a:r>
              </a:p>
            </p:txBody>
          </p:sp>
        </p:grpSp>
        <p:grpSp>
          <p:nvGrpSpPr>
            <p:cNvPr name="Group 48" id="48"/>
            <p:cNvGrpSpPr/>
            <p:nvPr/>
          </p:nvGrpSpPr>
          <p:grpSpPr>
            <a:xfrm rot="0">
              <a:off x="1114209" y="3064935"/>
              <a:ext cx="4145280" cy="1219200"/>
              <a:chOff x="0" y="0"/>
              <a:chExt cx="4145280" cy="1219200"/>
            </a:xfrm>
          </p:grpSpPr>
          <p:sp>
            <p:nvSpPr>
              <p:cNvPr name="Freeform 49" id="49"/>
              <p:cNvSpPr/>
              <p:nvPr/>
            </p:nvSpPr>
            <p:spPr>
              <a:xfrm flipH="false" flipV="false" rot="0">
                <a:off x="0" y="0"/>
                <a:ext cx="4145280" cy="1219200"/>
              </a:xfrm>
              <a:custGeom>
                <a:avLst/>
                <a:gdLst/>
                <a:ahLst/>
                <a:cxnLst/>
                <a:rect r="r" b="b" t="t" l="l"/>
                <a:pathLst>
                  <a:path h="1219200" w="4145280">
                    <a:moveTo>
                      <a:pt x="0" y="0"/>
                    </a:moveTo>
                    <a:lnTo>
                      <a:pt x="4145280" y="0"/>
                    </a:lnTo>
                    <a:lnTo>
                      <a:pt x="4145280" y="1219200"/>
                    </a:lnTo>
                    <a:lnTo>
                      <a:pt x="0" y="1219200"/>
                    </a:lnTo>
                    <a:close/>
                  </a:path>
                </a:pathLst>
              </a:custGeom>
              <a:blipFill>
                <a:blip r:embed="rId3">
                  <a:alphaModFix amt="0"/>
                </a:blip>
                <a:stretch>
                  <a:fillRect l="0" t="-16249" r="0" b="-16249"/>
                </a:stretch>
              </a:blipFill>
            </p:spPr>
          </p:sp>
          <p:sp>
            <p:nvSpPr>
              <p:cNvPr name="TextBox 50" id="50"/>
              <p:cNvSpPr txBox="true"/>
              <p:nvPr/>
            </p:nvSpPr>
            <p:spPr>
              <a:xfrm>
                <a:off x="0" y="9525"/>
                <a:ext cx="4145280" cy="1209675"/>
              </a:xfrm>
              <a:prstGeom prst="rect">
                <a:avLst/>
              </a:prstGeom>
            </p:spPr>
            <p:txBody>
              <a:bodyPr anchor="ctr" rtlCol="false" tIns="0" lIns="0" bIns="0" rIns="0"/>
              <a:lstStyle/>
              <a:p>
                <a:pPr algn="ctr">
                  <a:lnSpc>
                    <a:spcPts val="2879"/>
                  </a:lnSpc>
                </a:pPr>
                <a:r>
                  <a:rPr lang="en-US" sz="2400" b="true">
                    <a:solidFill>
                      <a:srgbClr val="6B4F3A"/>
                    </a:solidFill>
                    <a:latin typeface="Montserrat Bold"/>
                    <a:ea typeface="Montserrat Bold"/>
                    <a:cs typeface="Montserrat Bold"/>
                    <a:sym typeface="Montserrat Bold"/>
                  </a:rPr>
                  <a:t>SUB-AIM</a:t>
                </a:r>
              </a:p>
            </p:txBody>
          </p:sp>
        </p:grpSp>
        <p:grpSp>
          <p:nvGrpSpPr>
            <p:cNvPr name="Group 51" id="51"/>
            <p:cNvGrpSpPr/>
            <p:nvPr/>
          </p:nvGrpSpPr>
          <p:grpSpPr>
            <a:xfrm rot="0">
              <a:off x="939800" y="3918369"/>
              <a:ext cx="4494111" cy="3758910"/>
              <a:chOff x="0" y="0"/>
              <a:chExt cx="4494111" cy="3758910"/>
            </a:xfrm>
          </p:grpSpPr>
          <p:sp>
            <p:nvSpPr>
              <p:cNvPr name="Freeform 52" id="52"/>
              <p:cNvSpPr/>
              <p:nvPr/>
            </p:nvSpPr>
            <p:spPr>
              <a:xfrm flipH="false" flipV="false" rot="0">
                <a:off x="0" y="0"/>
                <a:ext cx="4494111" cy="3758910"/>
              </a:xfrm>
              <a:custGeom>
                <a:avLst/>
                <a:gdLst/>
                <a:ahLst/>
                <a:cxnLst/>
                <a:rect r="r" b="b" t="t" l="l"/>
                <a:pathLst>
                  <a:path h="3758910" w="4494111">
                    <a:moveTo>
                      <a:pt x="0" y="0"/>
                    </a:moveTo>
                    <a:lnTo>
                      <a:pt x="4494111" y="0"/>
                    </a:lnTo>
                    <a:lnTo>
                      <a:pt x="4494111" y="3758910"/>
                    </a:lnTo>
                    <a:lnTo>
                      <a:pt x="0" y="3758910"/>
                    </a:lnTo>
                    <a:close/>
                  </a:path>
                </a:pathLst>
              </a:custGeom>
              <a:blipFill>
                <a:blip r:embed="rId3">
                  <a:alphaModFix amt="0"/>
                </a:blip>
                <a:stretch>
                  <a:fillRect l="-72225" t="0" r="-64463" b="-10278"/>
                </a:stretch>
              </a:blipFill>
            </p:spPr>
          </p:sp>
          <p:sp>
            <p:nvSpPr>
              <p:cNvPr name="TextBox 53" id="53"/>
              <p:cNvSpPr txBox="true"/>
              <p:nvPr/>
            </p:nvSpPr>
            <p:spPr>
              <a:xfrm>
                <a:off x="0" y="0"/>
                <a:ext cx="4494111" cy="3758910"/>
              </a:xfrm>
              <a:prstGeom prst="rect">
                <a:avLst/>
              </a:prstGeom>
            </p:spPr>
            <p:txBody>
              <a:bodyPr anchor="ctr" rtlCol="false" tIns="0" lIns="0" bIns="0" rIns="0"/>
              <a:lstStyle/>
              <a:p>
                <a:pPr algn="l" marL="410211" indent="-205106" lvl="1">
                  <a:lnSpc>
                    <a:spcPts val="2280"/>
                  </a:lnSpc>
                  <a:buFont typeface="Arial"/>
                  <a:buChar char="•"/>
                </a:pPr>
                <a:r>
                  <a:rPr lang="en-US" sz="1900">
                    <a:solidFill>
                      <a:srgbClr val="000000"/>
                    </a:solidFill>
                    <a:latin typeface="Montserrat"/>
                    <a:ea typeface="Montserrat"/>
                    <a:cs typeface="Montserrat"/>
                    <a:sym typeface="Montserrat"/>
                  </a:rPr>
                  <a:t>To develop and validate modelling approaches that incorporate sequence-structure representations to improve detection of effects cause by genetic mutations.</a:t>
                </a:r>
              </a:p>
            </p:txBody>
          </p:sp>
        </p:grpSp>
      </p:grpSp>
      <p:grpSp>
        <p:nvGrpSpPr>
          <p:cNvPr name="Group 54" id="54"/>
          <p:cNvGrpSpPr/>
          <p:nvPr/>
        </p:nvGrpSpPr>
        <p:grpSpPr>
          <a:xfrm rot="0">
            <a:off x="13063223" y="3004823"/>
            <a:ext cx="4231643" cy="6426203"/>
            <a:chOff x="0" y="0"/>
            <a:chExt cx="5642191" cy="8568271"/>
          </a:xfrm>
        </p:grpSpPr>
        <p:grpSp>
          <p:nvGrpSpPr>
            <p:cNvPr name="Group 55" id="55"/>
            <p:cNvGrpSpPr/>
            <p:nvPr/>
          </p:nvGrpSpPr>
          <p:grpSpPr>
            <a:xfrm rot="0">
              <a:off x="0" y="2365248"/>
              <a:ext cx="765391" cy="131407"/>
              <a:chOff x="0" y="0"/>
              <a:chExt cx="765391" cy="131407"/>
            </a:xfrm>
          </p:grpSpPr>
          <p:sp>
            <p:nvSpPr>
              <p:cNvPr name="Freeform 56" id="56"/>
              <p:cNvSpPr/>
              <p:nvPr/>
            </p:nvSpPr>
            <p:spPr>
              <a:xfrm flipH="false" flipV="false" rot="0">
                <a:off x="0" y="0"/>
                <a:ext cx="765429" cy="131445"/>
              </a:xfrm>
              <a:custGeom>
                <a:avLst/>
                <a:gdLst/>
                <a:ahLst/>
                <a:cxnLst/>
                <a:rect r="r" b="b" t="t" l="l"/>
                <a:pathLst>
                  <a:path h="131445" w="765429">
                    <a:moveTo>
                      <a:pt x="0" y="0"/>
                    </a:moveTo>
                    <a:lnTo>
                      <a:pt x="765429" y="0"/>
                    </a:lnTo>
                    <a:lnTo>
                      <a:pt x="765429" y="131445"/>
                    </a:lnTo>
                    <a:lnTo>
                      <a:pt x="0" y="131445"/>
                    </a:lnTo>
                    <a:close/>
                  </a:path>
                </a:pathLst>
              </a:custGeom>
              <a:solidFill>
                <a:srgbClr val="D9CEBA"/>
              </a:solidFill>
              <a:ln w="25400" cap="sq">
                <a:solidFill>
                  <a:srgbClr val="D9CEBA"/>
                </a:solidFill>
                <a:prstDash val="solid"/>
                <a:miter/>
              </a:ln>
            </p:spPr>
          </p:sp>
        </p:grpSp>
        <p:grpSp>
          <p:nvGrpSpPr>
            <p:cNvPr name="Group 57" id="57"/>
            <p:cNvGrpSpPr/>
            <p:nvPr/>
          </p:nvGrpSpPr>
          <p:grpSpPr>
            <a:xfrm rot="0">
              <a:off x="731520" y="0"/>
              <a:ext cx="4910671" cy="8568271"/>
              <a:chOff x="0" y="0"/>
              <a:chExt cx="4910671" cy="8568271"/>
            </a:xfrm>
          </p:grpSpPr>
          <p:sp>
            <p:nvSpPr>
              <p:cNvPr name="Freeform 58" id="58"/>
              <p:cNvSpPr/>
              <p:nvPr/>
            </p:nvSpPr>
            <p:spPr>
              <a:xfrm flipH="false" flipV="false" rot="0">
                <a:off x="0" y="0"/>
                <a:ext cx="4910709" cy="8568309"/>
              </a:xfrm>
              <a:custGeom>
                <a:avLst/>
                <a:gdLst/>
                <a:ahLst/>
                <a:cxnLst/>
                <a:rect r="r" b="b" t="t" l="l"/>
                <a:pathLst>
                  <a:path h="8568309" w="4910709">
                    <a:moveTo>
                      <a:pt x="571500" y="0"/>
                    </a:moveTo>
                    <a:lnTo>
                      <a:pt x="4339209" y="0"/>
                    </a:lnTo>
                    <a:cubicBezTo>
                      <a:pt x="4490781" y="0"/>
                      <a:pt x="4636144" y="60211"/>
                      <a:pt x="4743321" y="167388"/>
                    </a:cubicBezTo>
                    <a:cubicBezTo>
                      <a:pt x="4850498" y="274566"/>
                      <a:pt x="4910709" y="419929"/>
                      <a:pt x="4910709" y="571500"/>
                    </a:cubicBezTo>
                    <a:lnTo>
                      <a:pt x="4910709" y="7996809"/>
                    </a:lnTo>
                    <a:cubicBezTo>
                      <a:pt x="4910709" y="8312440"/>
                      <a:pt x="4654840" y="8568309"/>
                      <a:pt x="4339209" y="8568309"/>
                    </a:cubicBezTo>
                    <a:lnTo>
                      <a:pt x="571500" y="8568309"/>
                    </a:lnTo>
                    <a:cubicBezTo>
                      <a:pt x="419929" y="8568309"/>
                      <a:pt x="274566" y="8508098"/>
                      <a:pt x="167388" y="8400921"/>
                    </a:cubicBezTo>
                    <a:cubicBezTo>
                      <a:pt x="60211" y="8293743"/>
                      <a:pt x="0" y="8148380"/>
                      <a:pt x="0" y="7996809"/>
                    </a:cubicBezTo>
                    <a:lnTo>
                      <a:pt x="0" y="571500"/>
                    </a:lnTo>
                    <a:cubicBezTo>
                      <a:pt x="0" y="255869"/>
                      <a:pt x="255869" y="0"/>
                      <a:pt x="571500" y="0"/>
                    </a:cubicBezTo>
                    <a:close/>
                  </a:path>
                </a:pathLst>
              </a:custGeom>
              <a:solidFill>
                <a:srgbClr val="FDFAF5"/>
              </a:solidFill>
              <a:ln w="25400" cap="rnd">
                <a:solidFill>
                  <a:srgbClr val="D9CEBA"/>
                </a:solidFill>
                <a:prstDash val="solid"/>
                <a:round/>
              </a:ln>
            </p:spPr>
          </p:sp>
        </p:grpSp>
        <p:grpSp>
          <p:nvGrpSpPr>
            <p:cNvPr name="Group 59" id="59"/>
            <p:cNvGrpSpPr/>
            <p:nvPr/>
          </p:nvGrpSpPr>
          <p:grpSpPr>
            <a:xfrm rot="0">
              <a:off x="2438400" y="1354658"/>
              <a:ext cx="1496911" cy="1496911"/>
              <a:chOff x="0" y="0"/>
              <a:chExt cx="1496911" cy="1496911"/>
            </a:xfrm>
          </p:grpSpPr>
          <p:sp>
            <p:nvSpPr>
              <p:cNvPr name="Freeform 60" id="60"/>
              <p:cNvSpPr/>
              <p:nvPr/>
            </p:nvSpPr>
            <p:spPr>
              <a:xfrm flipH="false" flipV="false" rot="0">
                <a:off x="0" y="0"/>
                <a:ext cx="1496822" cy="1496822"/>
              </a:xfrm>
              <a:custGeom>
                <a:avLst/>
                <a:gdLst/>
                <a:ahLst/>
                <a:cxnLst/>
                <a:rect r="r" b="b" t="t" l="l"/>
                <a:pathLst>
                  <a:path h="1496822" w="1496822">
                    <a:moveTo>
                      <a:pt x="0" y="748411"/>
                    </a:moveTo>
                    <a:cubicBezTo>
                      <a:pt x="0" y="335153"/>
                      <a:pt x="335153" y="0"/>
                      <a:pt x="748411" y="0"/>
                    </a:cubicBezTo>
                    <a:cubicBezTo>
                      <a:pt x="1161669" y="0"/>
                      <a:pt x="1496822" y="335153"/>
                      <a:pt x="1496822" y="748411"/>
                    </a:cubicBezTo>
                    <a:cubicBezTo>
                      <a:pt x="1496822" y="1161669"/>
                      <a:pt x="1161669" y="1496822"/>
                      <a:pt x="748411" y="1496822"/>
                    </a:cubicBezTo>
                    <a:cubicBezTo>
                      <a:pt x="335153" y="1496822"/>
                      <a:pt x="0" y="1161796"/>
                      <a:pt x="0" y="748411"/>
                    </a:cubicBezTo>
                    <a:close/>
                  </a:path>
                </a:pathLst>
              </a:custGeom>
              <a:solidFill>
                <a:srgbClr val="7A9E87"/>
              </a:solidFill>
              <a:ln w="25400" cap="sq">
                <a:solidFill>
                  <a:srgbClr val="7A9E87"/>
                </a:solidFill>
                <a:prstDash val="solid"/>
                <a:miter/>
              </a:ln>
            </p:spPr>
          </p:sp>
        </p:grpSp>
        <p:grpSp>
          <p:nvGrpSpPr>
            <p:cNvPr name="Group 61" id="61"/>
            <p:cNvGrpSpPr/>
            <p:nvPr/>
          </p:nvGrpSpPr>
          <p:grpSpPr>
            <a:xfrm rot="0">
              <a:off x="2455329" y="1371587"/>
              <a:ext cx="1463040" cy="1463040"/>
              <a:chOff x="0" y="0"/>
              <a:chExt cx="1463040" cy="1463040"/>
            </a:xfrm>
          </p:grpSpPr>
          <p:sp>
            <p:nvSpPr>
              <p:cNvPr name="Freeform 62" id="62"/>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close/>
                  </a:path>
                </a:pathLst>
              </a:custGeom>
              <a:blipFill>
                <a:blip r:embed="rId3">
                  <a:alphaModFix amt="0"/>
                </a:blip>
                <a:stretch>
                  <a:fillRect l="-78303" t="0" r="-78303" b="0"/>
                </a:stretch>
              </a:blipFill>
            </p:spPr>
          </p:sp>
          <p:sp>
            <p:nvSpPr>
              <p:cNvPr name="TextBox 63" id="63"/>
              <p:cNvSpPr txBox="true"/>
              <p:nvPr/>
            </p:nvSpPr>
            <p:spPr>
              <a:xfrm>
                <a:off x="0" y="9525"/>
                <a:ext cx="1463040" cy="1453515"/>
              </a:xfrm>
              <a:prstGeom prst="rect">
                <a:avLst/>
              </a:prstGeom>
            </p:spPr>
            <p:txBody>
              <a:bodyPr anchor="ctr" rtlCol="false" tIns="0" lIns="0" bIns="0" rIns="0"/>
              <a:lstStyle/>
              <a:p>
                <a:pPr algn="ctr">
                  <a:lnSpc>
                    <a:spcPts val="3359"/>
                  </a:lnSpc>
                </a:pPr>
                <a:r>
                  <a:rPr lang="en-US" sz="2799" b="true">
                    <a:solidFill>
                      <a:srgbClr val="FDFAF5"/>
                    </a:solidFill>
                    <a:latin typeface="Montserrat Bold"/>
                    <a:ea typeface="Montserrat Bold"/>
                    <a:cs typeface="Montserrat Bold"/>
                    <a:sym typeface="Montserrat Bold"/>
                  </a:rPr>
                  <a:t>4</a:t>
                </a:r>
              </a:p>
            </p:txBody>
          </p:sp>
        </p:grpSp>
        <p:grpSp>
          <p:nvGrpSpPr>
            <p:cNvPr name="Group 64" id="64"/>
            <p:cNvGrpSpPr/>
            <p:nvPr/>
          </p:nvGrpSpPr>
          <p:grpSpPr>
            <a:xfrm rot="0">
              <a:off x="1114209" y="3064935"/>
              <a:ext cx="4145280" cy="1219200"/>
              <a:chOff x="0" y="0"/>
              <a:chExt cx="4145280" cy="1219200"/>
            </a:xfrm>
          </p:grpSpPr>
          <p:sp>
            <p:nvSpPr>
              <p:cNvPr name="Freeform 65" id="65"/>
              <p:cNvSpPr/>
              <p:nvPr/>
            </p:nvSpPr>
            <p:spPr>
              <a:xfrm flipH="false" flipV="false" rot="0">
                <a:off x="0" y="0"/>
                <a:ext cx="4145280" cy="1219200"/>
              </a:xfrm>
              <a:custGeom>
                <a:avLst/>
                <a:gdLst/>
                <a:ahLst/>
                <a:cxnLst/>
                <a:rect r="r" b="b" t="t" l="l"/>
                <a:pathLst>
                  <a:path h="1219200" w="4145280">
                    <a:moveTo>
                      <a:pt x="0" y="0"/>
                    </a:moveTo>
                    <a:lnTo>
                      <a:pt x="4145280" y="0"/>
                    </a:lnTo>
                    <a:lnTo>
                      <a:pt x="4145280" y="1219200"/>
                    </a:lnTo>
                    <a:lnTo>
                      <a:pt x="0" y="1219200"/>
                    </a:lnTo>
                    <a:close/>
                  </a:path>
                </a:pathLst>
              </a:custGeom>
              <a:blipFill>
                <a:blip r:embed="rId3">
                  <a:alphaModFix amt="0"/>
                </a:blip>
                <a:stretch>
                  <a:fillRect l="0" t="-16249" r="0" b="-16249"/>
                </a:stretch>
              </a:blipFill>
            </p:spPr>
          </p:sp>
          <p:sp>
            <p:nvSpPr>
              <p:cNvPr name="TextBox 66" id="66"/>
              <p:cNvSpPr txBox="true"/>
              <p:nvPr/>
            </p:nvSpPr>
            <p:spPr>
              <a:xfrm>
                <a:off x="0" y="9525"/>
                <a:ext cx="4145280" cy="1209675"/>
              </a:xfrm>
              <a:prstGeom prst="rect">
                <a:avLst/>
              </a:prstGeom>
            </p:spPr>
            <p:txBody>
              <a:bodyPr anchor="ctr" rtlCol="false" tIns="0" lIns="0" bIns="0" rIns="0"/>
              <a:lstStyle/>
              <a:p>
                <a:pPr algn="ctr">
                  <a:lnSpc>
                    <a:spcPts val="2879"/>
                  </a:lnSpc>
                </a:pPr>
                <a:r>
                  <a:rPr lang="en-US" sz="2400" b="true">
                    <a:solidFill>
                      <a:srgbClr val="6B4F3A"/>
                    </a:solidFill>
                    <a:latin typeface="Montserrat Bold"/>
                    <a:ea typeface="Montserrat Bold"/>
                    <a:cs typeface="Montserrat Bold"/>
                    <a:sym typeface="Montserrat Bold"/>
                  </a:rPr>
                  <a:t>MY SCOPE</a:t>
                </a:r>
              </a:p>
            </p:txBody>
          </p:sp>
        </p:grpSp>
        <p:grpSp>
          <p:nvGrpSpPr>
            <p:cNvPr name="Group 67" id="67"/>
            <p:cNvGrpSpPr/>
            <p:nvPr/>
          </p:nvGrpSpPr>
          <p:grpSpPr>
            <a:xfrm rot="0">
              <a:off x="940219" y="3976426"/>
              <a:ext cx="4493260" cy="2837786"/>
              <a:chOff x="0" y="0"/>
              <a:chExt cx="4493260" cy="2837786"/>
            </a:xfrm>
          </p:grpSpPr>
          <p:sp>
            <p:nvSpPr>
              <p:cNvPr name="Freeform 68" id="68"/>
              <p:cNvSpPr/>
              <p:nvPr/>
            </p:nvSpPr>
            <p:spPr>
              <a:xfrm flipH="false" flipV="false" rot="0">
                <a:off x="0" y="0"/>
                <a:ext cx="4493260" cy="2837786"/>
              </a:xfrm>
              <a:custGeom>
                <a:avLst/>
                <a:gdLst/>
                <a:ahLst/>
                <a:cxnLst/>
                <a:rect r="r" b="b" t="t" l="l"/>
                <a:pathLst>
                  <a:path h="2837786" w="4493260">
                    <a:moveTo>
                      <a:pt x="0" y="0"/>
                    </a:moveTo>
                    <a:lnTo>
                      <a:pt x="4493260" y="0"/>
                    </a:lnTo>
                    <a:lnTo>
                      <a:pt x="4493260" y="2837786"/>
                    </a:lnTo>
                    <a:lnTo>
                      <a:pt x="0" y="2837786"/>
                    </a:lnTo>
                    <a:close/>
                  </a:path>
                </a:pathLst>
              </a:custGeom>
              <a:blipFill>
                <a:blip r:embed="rId3">
                  <a:alphaModFix amt="0"/>
                </a:blip>
                <a:stretch>
                  <a:fillRect l="-72239" t="0" r="-64494" b="-46074"/>
                </a:stretch>
              </a:blipFill>
            </p:spPr>
          </p:sp>
          <p:sp>
            <p:nvSpPr>
              <p:cNvPr name="TextBox 69" id="69"/>
              <p:cNvSpPr txBox="true"/>
              <p:nvPr/>
            </p:nvSpPr>
            <p:spPr>
              <a:xfrm>
                <a:off x="0" y="0"/>
                <a:ext cx="4493260" cy="2837786"/>
              </a:xfrm>
              <a:prstGeom prst="rect">
                <a:avLst/>
              </a:prstGeom>
            </p:spPr>
            <p:txBody>
              <a:bodyPr anchor="ctr" rtlCol="false" tIns="0" lIns="0" bIns="0" rIns="0"/>
              <a:lstStyle/>
              <a:p>
                <a:pPr algn="l" marL="410211" indent="-205106" lvl="1">
                  <a:lnSpc>
                    <a:spcPts val="2280"/>
                  </a:lnSpc>
                  <a:buFont typeface="Arial"/>
                  <a:buChar char="•"/>
                </a:pPr>
                <a:r>
                  <a:rPr lang="en-US" sz="1900">
                    <a:solidFill>
                      <a:srgbClr val="000000"/>
                    </a:solidFill>
                    <a:latin typeface="Montserrat"/>
                    <a:ea typeface="Montserrat"/>
                    <a:cs typeface="Montserrat"/>
                    <a:sym typeface="Montserrat"/>
                  </a:rPr>
                  <a:t>Visualise the differences in Evolutionary Scale Model (ESM)-based encodings of different labelled groups of viral protein sequences</a:t>
                </a:r>
              </a:p>
            </p:txBody>
          </p:sp>
        </p:grpSp>
      </p:grpSp>
      <p:sp>
        <p:nvSpPr>
          <p:cNvPr name="TextBox 70" id="70"/>
          <p:cNvSpPr txBox="true"/>
          <p:nvPr/>
        </p:nvSpPr>
        <p:spPr>
          <a:xfrm rot="0">
            <a:off x="12456166" y="10077450"/>
            <a:ext cx="5913744" cy="209550"/>
          </a:xfrm>
          <a:prstGeom prst="rect">
            <a:avLst/>
          </a:prstGeom>
        </p:spPr>
        <p:txBody>
          <a:bodyPr anchor="t" rtlCol="false" tIns="0" lIns="0" bIns="0" rIns="0">
            <a:spAutoFit/>
          </a:bodyPr>
          <a:lstStyle/>
          <a:p>
            <a:pPr algn="ctr">
              <a:lnSpc>
                <a:spcPts val="1680"/>
              </a:lnSpc>
              <a:spcBef>
                <a:spcPct val="0"/>
              </a:spcBef>
            </a:pPr>
            <a:r>
              <a:rPr lang="en-US" sz="1400">
                <a:solidFill>
                  <a:srgbClr val="000000"/>
                </a:solidFill>
                <a:latin typeface="Montserrat"/>
                <a:ea typeface="Montserrat"/>
                <a:cs typeface="Montserrat"/>
                <a:sym typeface="Montserrat"/>
              </a:rPr>
              <a:t>Adapted from project ESCAPE Collaboration Application form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DFAF5"/>
        </a:solidFill>
      </p:bgPr>
    </p:bg>
    <p:spTree>
      <p:nvGrpSpPr>
        <p:cNvPr id="1" name=""/>
        <p:cNvGrpSpPr/>
        <p:nvPr/>
      </p:nvGrpSpPr>
      <p:grpSpPr>
        <a:xfrm>
          <a:off x="0" y="0"/>
          <a:ext cx="0" cy="0"/>
          <a:chOff x="0" y="0"/>
          <a:chExt cx="0" cy="0"/>
        </a:xfrm>
      </p:grpSpPr>
      <p:grpSp>
        <p:nvGrpSpPr>
          <p:cNvPr name="Group 2" id="2"/>
          <p:cNvGrpSpPr/>
          <p:nvPr/>
        </p:nvGrpSpPr>
        <p:grpSpPr>
          <a:xfrm rot="0">
            <a:off x="1097280" y="822960"/>
            <a:ext cx="13367662" cy="1279601"/>
            <a:chOff x="0" y="0"/>
            <a:chExt cx="17823549" cy="1706135"/>
          </a:xfrm>
        </p:grpSpPr>
        <p:sp>
          <p:nvSpPr>
            <p:cNvPr name="Freeform 3" id="3"/>
            <p:cNvSpPr/>
            <p:nvPr/>
          </p:nvSpPr>
          <p:spPr>
            <a:xfrm flipH="false" flipV="false" rot="0">
              <a:off x="0" y="0"/>
              <a:ext cx="17823549" cy="1706135"/>
            </a:xfrm>
            <a:custGeom>
              <a:avLst/>
              <a:gdLst/>
              <a:ahLst/>
              <a:cxnLst/>
              <a:rect r="r" b="b" t="t" l="l"/>
              <a:pathLst>
                <a:path h="1706135" w="17823549">
                  <a:moveTo>
                    <a:pt x="0" y="0"/>
                  </a:moveTo>
                  <a:lnTo>
                    <a:pt x="17823549" y="0"/>
                  </a:lnTo>
                  <a:lnTo>
                    <a:pt x="17823549" y="1706135"/>
                  </a:lnTo>
                  <a:lnTo>
                    <a:pt x="0" y="1706135"/>
                  </a:lnTo>
                  <a:close/>
                </a:path>
              </a:pathLst>
            </a:custGeom>
            <a:blipFill>
              <a:blip r:embed="rId3">
                <a:alphaModFix amt="0"/>
              </a:blip>
              <a:stretch>
                <a:fillRect l="0" t="-176334" r="-9446" b="-169232"/>
              </a:stretch>
            </a:blipFill>
          </p:spPr>
        </p:sp>
        <p:sp>
          <p:nvSpPr>
            <p:cNvPr name="TextBox 4" id="4"/>
            <p:cNvSpPr txBox="true"/>
            <p:nvPr/>
          </p:nvSpPr>
          <p:spPr>
            <a:xfrm>
              <a:off x="0" y="0"/>
              <a:ext cx="17823549" cy="1706135"/>
            </a:xfrm>
            <a:prstGeom prst="rect">
              <a:avLst/>
            </a:prstGeom>
          </p:spPr>
          <p:txBody>
            <a:bodyPr anchor="ctr" rtlCol="false" tIns="0" lIns="0" bIns="0" rIns="0"/>
            <a:lstStyle/>
            <a:p>
              <a:pPr algn="l">
                <a:lnSpc>
                  <a:spcPts val="7680"/>
                </a:lnSpc>
              </a:pPr>
              <a:r>
                <a:rPr lang="en-US" sz="6400" b="true">
                  <a:solidFill>
                    <a:srgbClr val="6B4F3A"/>
                  </a:solidFill>
                  <a:latin typeface="Montserrat Bold"/>
                  <a:ea typeface="Montserrat Bold"/>
                  <a:cs typeface="Montserrat Bold"/>
                  <a:sym typeface="Montserrat Bold"/>
                </a:rPr>
                <a:t>Background Information</a:t>
              </a:r>
            </a:p>
          </p:txBody>
        </p:sp>
      </p:grpSp>
      <p:grpSp>
        <p:nvGrpSpPr>
          <p:cNvPr name="Group 5" id="5"/>
          <p:cNvGrpSpPr/>
          <p:nvPr/>
        </p:nvGrpSpPr>
        <p:grpSpPr>
          <a:xfrm rot="0">
            <a:off x="1097280" y="1975104"/>
            <a:ext cx="16471906" cy="635917"/>
            <a:chOff x="0" y="0"/>
            <a:chExt cx="21962542" cy="847890"/>
          </a:xfrm>
        </p:grpSpPr>
        <p:sp>
          <p:nvSpPr>
            <p:cNvPr name="Freeform 6" id="6"/>
            <p:cNvSpPr/>
            <p:nvPr/>
          </p:nvSpPr>
          <p:spPr>
            <a:xfrm flipH="false" flipV="false" rot="0">
              <a:off x="0" y="0"/>
              <a:ext cx="21962542" cy="847890"/>
            </a:xfrm>
            <a:custGeom>
              <a:avLst/>
              <a:gdLst/>
              <a:ahLst/>
              <a:cxnLst/>
              <a:rect r="r" b="b" t="t" l="l"/>
              <a:pathLst>
                <a:path h="847890" w="21962542">
                  <a:moveTo>
                    <a:pt x="0" y="0"/>
                  </a:moveTo>
                  <a:lnTo>
                    <a:pt x="21962542" y="0"/>
                  </a:lnTo>
                  <a:lnTo>
                    <a:pt x="21962542" y="847890"/>
                  </a:lnTo>
                  <a:lnTo>
                    <a:pt x="0" y="847890"/>
                  </a:lnTo>
                  <a:close/>
                </a:path>
              </a:pathLst>
            </a:custGeom>
            <a:blipFill>
              <a:blip r:embed="rId3">
                <a:alphaModFix amt="0"/>
              </a:blip>
              <a:stretch>
                <a:fillRect l="0" t="-393646" r="11179" b="-402928"/>
              </a:stretch>
            </a:blipFill>
          </p:spPr>
        </p:sp>
        <p:sp>
          <p:nvSpPr>
            <p:cNvPr name="TextBox 7" id="7"/>
            <p:cNvSpPr txBox="true"/>
            <p:nvPr/>
          </p:nvSpPr>
          <p:spPr>
            <a:xfrm>
              <a:off x="0" y="9525"/>
              <a:ext cx="21962542" cy="838365"/>
            </a:xfrm>
            <a:prstGeom prst="rect">
              <a:avLst/>
            </a:prstGeom>
          </p:spPr>
          <p:txBody>
            <a:bodyPr anchor="ctr" rtlCol="false" tIns="0" lIns="0" bIns="0" rIns="0"/>
            <a:lstStyle/>
            <a:p>
              <a:pPr algn="l">
                <a:lnSpc>
                  <a:spcPts val="2879"/>
                </a:lnSpc>
              </a:pPr>
              <a:r>
                <a:rPr lang="en-US" sz="2400">
                  <a:solidFill>
                    <a:srgbClr val="000000"/>
                  </a:solidFill>
                  <a:latin typeface="Montserrat"/>
                  <a:ea typeface="Montserrat"/>
                  <a:cs typeface="Montserrat"/>
                  <a:sym typeface="Montserrat"/>
                </a:rPr>
                <a:t>Historical data of viral protein sequences arranged into datasets based on year it was first described</a:t>
              </a:r>
            </a:p>
          </p:txBody>
        </p:sp>
      </p:grpSp>
      <p:grpSp>
        <p:nvGrpSpPr>
          <p:cNvPr name="Group 8" id="8"/>
          <p:cNvGrpSpPr/>
          <p:nvPr/>
        </p:nvGrpSpPr>
        <p:grpSpPr>
          <a:xfrm rot="0">
            <a:off x="790664" y="3929377"/>
            <a:ext cx="2494283" cy="1159259"/>
            <a:chOff x="0" y="0"/>
            <a:chExt cx="3325711" cy="1545679"/>
          </a:xfrm>
        </p:grpSpPr>
        <p:sp>
          <p:nvSpPr>
            <p:cNvPr name="Freeform 9" id="9"/>
            <p:cNvSpPr/>
            <p:nvPr/>
          </p:nvSpPr>
          <p:spPr>
            <a:xfrm flipH="false" flipV="false" rot="0">
              <a:off x="0" y="0"/>
              <a:ext cx="3325749" cy="1545717"/>
            </a:xfrm>
            <a:custGeom>
              <a:avLst/>
              <a:gdLst/>
              <a:ahLst/>
              <a:cxnLst/>
              <a:rect r="r" b="b" t="t" l="l"/>
              <a:pathLst>
                <a:path h="1545717" w="3325749">
                  <a:moveTo>
                    <a:pt x="317500" y="0"/>
                  </a:moveTo>
                  <a:lnTo>
                    <a:pt x="3008249" y="0"/>
                  </a:lnTo>
                  <a:cubicBezTo>
                    <a:pt x="3092455" y="0"/>
                    <a:pt x="3173213" y="33451"/>
                    <a:pt x="3232755" y="92994"/>
                  </a:cubicBezTo>
                  <a:cubicBezTo>
                    <a:pt x="3292298" y="152536"/>
                    <a:pt x="3325749" y="233294"/>
                    <a:pt x="3325749" y="317500"/>
                  </a:cubicBezTo>
                  <a:lnTo>
                    <a:pt x="3325749" y="1228217"/>
                  </a:lnTo>
                  <a:cubicBezTo>
                    <a:pt x="3325749" y="1403567"/>
                    <a:pt x="3183599" y="1545717"/>
                    <a:pt x="3008249" y="1545717"/>
                  </a:cubicBezTo>
                  <a:lnTo>
                    <a:pt x="317500" y="1545717"/>
                  </a:lnTo>
                  <a:cubicBezTo>
                    <a:pt x="233294" y="1545717"/>
                    <a:pt x="152536" y="1512266"/>
                    <a:pt x="92994" y="1452723"/>
                  </a:cubicBezTo>
                  <a:cubicBezTo>
                    <a:pt x="33451" y="1393181"/>
                    <a:pt x="0" y="1312423"/>
                    <a:pt x="0" y="1228217"/>
                  </a:cubicBezTo>
                  <a:lnTo>
                    <a:pt x="0" y="317500"/>
                  </a:lnTo>
                  <a:cubicBezTo>
                    <a:pt x="0" y="142150"/>
                    <a:pt x="142150" y="0"/>
                    <a:pt x="317500" y="0"/>
                  </a:cubicBezTo>
                  <a:close/>
                </a:path>
              </a:pathLst>
            </a:custGeom>
            <a:solidFill>
              <a:srgbClr val="C0714F"/>
            </a:solidFill>
            <a:ln w="25400" cap="rnd">
              <a:solidFill>
                <a:srgbClr val="C0714F"/>
              </a:solidFill>
              <a:prstDash val="solid"/>
              <a:round/>
            </a:ln>
          </p:spPr>
        </p:sp>
      </p:grpSp>
      <p:grpSp>
        <p:nvGrpSpPr>
          <p:cNvPr name="Group 10" id="10"/>
          <p:cNvGrpSpPr/>
          <p:nvPr/>
        </p:nvGrpSpPr>
        <p:grpSpPr>
          <a:xfrm rot="0">
            <a:off x="1246169" y="3942074"/>
            <a:ext cx="1583264" cy="1133856"/>
            <a:chOff x="0" y="0"/>
            <a:chExt cx="2111018" cy="1511808"/>
          </a:xfrm>
        </p:grpSpPr>
        <p:sp>
          <p:nvSpPr>
            <p:cNvPr name="Freeform 11" id="11"/>
            <p:cNvSpPr/>
            <p:nvPr/>
          </p:nvSpPr>
          <p:spPr>
            <a:xfrm flipH="false" flipV="false" rot="0">
              <a:off x="0" y="0"/>
              <a:ext cx="2111018" cy="1511808"/>
            </a:xfrm>
            <a:custGeom>
              <a:avLst/>
              <a:gdLst/>
              <a:ahLst/>
              <a:cxnLst/>
              <a:rect r="r" b="b" t="t" l="l"/>
              <a:pathLst>
                <a:path h="1511808" w="2111018">
                  <a:moveTo>
                    <a:pt x="0" y="0"/>
                  </a:moveTo>
                  <a:lnTo>
                    <a:pt x="2111018" y="0"/>
                  </a:lnTo>
                  <a:lnTo>
                    <a:pt x="2111018" y="1511808"/>
                  </a:lnTo>
                  <a:lnTo>
                    <a:pt x="0" y="1511808"/>
                  </a:lnTo>
                  <a:close/>
                </a:path>
              </a:pathLst>
            </a:custGeom>
            <a:blipFill>
              <a:blip r:embed="rId3">
                <a:alphaModFix amt="0"/>
              </a:blip>
              <a:stretch>
                <a:fillRect l="-13916" t="0" r="-69852" b="0"/>
              </a:stretch>
            </a:blipFill>
          </p:spPr>
        </p:sp>
        <p:sp>
          <p:nvSpPr>
            <p:cNvPr name="TextBox 12" id="12"/>
            <p:cNvSpPr txBox="true"/>
            <p:nvPr/>
          </p:nvSpPr>
          <p:spPr>
            <a:xfrm>
              <a:off x="0" y="0"/>
              <a:ext cx="2111018" cy="1511808"/>
            </a:xfrm>
            <a:prstGeom prst="rect">
              <a:avLst/>
            </a:prstGeom>
          </p:spPr>
          <p:txBody>
            <a:bodyPr anchor="ctr" rtlCol="false" tIns="0" lIns="0" bIns="0" rIns="0"/>
            <a:lstStyle/>
            <a:p>
              <a:pPr algn="ctr">
                <a:lnSpc>
                  <a:spcPts val="2160"/>
                </a:lnSpc>
              </a:pPr>
              <a:r>
                <a:rPr lang="en-US" sz="1800" b="true">
                  <a:solidFill>
                    <a:srgbClr val="FDFAF5"/>
                  </a:solidFill>
                  <a:latin typeface="Montserrat Bold"/>
                  <a:ea typeface="Montserrat Bold"/>
                  <a:cs typeface="Montserrat Bold"/>
                  <a:sym typeface="Montserrat Bold"/>
                </a:rPr>
                <a:t>6-WU95</a:t>
              </a:r>
            </a:p>
          </p:txBody>
        </p:sp>
      </p:grpSp>
      <p:grpSp>
        <p:nvGrpSpPr>
          <p:cNvPr name="Group 13" id="13"/>
          <p:cNvGrpSpPr/>
          <p:nvPr/>
        </p:nvGrpSpPr>
        <p:grpSpPr>
          <a:xfrm rot="0">
            <a:off x="1522184" y="5063233"/>
            <a:ext cx="80267" cy="281435"/>
            <a:chOff x="0" y="0"/>
            <a:chExt cx="107023" cy="375247"/>
          </a:xfrm>
        </p:grpSpPr>
        <p:sp>
          <p:nvSpPr>
            <p:cNvPr name="Freeform 14" id="14"/>
            <p:cNvSpPr/>
            <p:nvPr/>
          </p:nvSpPr>
          <p:spPr>
            <a:xfrm flipH="false" flipV="false" rot="0">
              <a:off x="0" y="0"/>
              <a:ext cx="107061" cy="375285"/>
            </a:xfrm>
            <a:custGeom>
              <a:avLst/>
              <a:gdLst/>
              <a:ahLst/>
              <a:cxnLst/>
              <a:rect r="r" b="b" t="t" l="l"/>
              <a:pathLst>
                <a:path h="375285" w="107061">
                  <a:moveTo>
                    <a:pt x="0" y="0"/>
                  </a:moveTo>
                  <a:lnTo>
                    <a:pt x="107061" y="0"/>
                  </a:lnTo>
                  <a:lnTo>
                    <a:pt x="107061" y="375285"/>
                  </a:lnTo>
                  <a:lnTo>
                    <a:pt x="0" y="375285"/>
                  </a:lnTo>
                  <a:close/>
                </a:path>
              </a:pathLst>
            </a:custGeom>
            <a:solidFill>
              <a:srgbClr val="D9CEBA"/>
            </a:solidFill>
            <a:ln w="25400" cap="sq">
              <a:solidFill>
                <a:srgbClr val="D9CEBA"/>
              </a:solidFill>
              <a:prstDash val="solid"/>
              <a:miter/>
            </a:ln>
          </p:spPr>
        </p:sp>
      </p:grpSp>
      <p:grpSp>
        <p:nvGrpSpPr>
          <p:cNvPr name="Group 15" id="15"/>
          <p:cNvGrpSpPr/>
          <p:nvPr/>
        </p:nvGrpSpPr>
        <p:grpSpPr>
          <a:xfrm rot="0">
            <a:off x="3625304" y="4039105"/>
            <a:ext cx="9539517" cy="939803"/>
            <a:chOff x="0" y="0"/>
            <a:chExt cx="12719357" cy="1253071"/>
          </a:xfrm>
        </p:grpSpPr>
        <p:sp>
          <p:nvSpPr>
            <p:cNvPr name="Freeform 16" id="16"/>
            <p:cNvSpPr/>
            <p:nvPr/>
          </p:nvSpPr>
          <p:spPr>
            <a:xfrm flipH="false" flipV="false" rot="0">
              <a:off x="0" y="0"/>
              <a:ext cx="12719395" cy="1253109"/>
            </a:xfrm>
            <a:custGeom>
              <a:avLst/>
              <a:gdLst/>
              <a:ahLst/>
              <a:cxnLst/>
              <a:rect r="r" b="b" t="t" l="l"/>
              <a:pathLst>
                <a:path h="1253109" w="12719395">
                  <a:moveTo>
                    <a:pt x="457350" y="0"/>
                  </a:moveTo>
                  <a:lnTo>
                    <a:pt x="12262045" y="0"/>
                  </a:lnTo>
                  <a:cubicBezTo>
                    <a:pt x="12514632" y="0"/>
                    <a:pt x="12719395" y="204762"/>
                    <a:pt x="12719395" y="457350"/>
                  </a:cubicBezTo>
                  <a:lnTo>
                    <a:pt x="12719395" y="795759"/>
                  </a:lnTo>
                  <a:cubicBezTo>
                    <a:pt x="12719395" y="917056"/>
                    <a:pt x="12671210" y="1033385"/>
                    <a:pt x="12585440" y="1119154"/>
                  </a:cubicBezTo>
                  <a:cubicBezTo>
                    <a:pt x="12499670" y="1204924"/>
                    <a:pt x="12383342" y="1253109"/>
                    <a:pt x="12262045" y="1253109"/>
                  </a:cubicBezTo>
                  <a:lnTo>
                    <a:pt x="457350" y="1253109"/>
                  </a:lnTo>
                  <a:cubicBezTo>
                    <a:pt x="204762" y="1253109"/>
                    <a:pt x="0" y="1048347"/>
                    <a:pt x="0" y="795759"/>
                  </a:cubicBezTo>
                  <a:lnTo>
                    <a:pt x="0" y="457350"/>
                  </a:lnTo>
                  <a:cubicBezTo>
                    <a:pt x="0" y="336053"/>
                    <a:pt x="48185" y="219724"/>
                    <a:pt x="133955" y="133955"/>
                  </a:cubicBezTo>
                  <a:cubicBezTo>
                    <a:pt x="219724" y="48185"/>
                    <a:pt x="336053" y="0"/>
                    <a:pt x="457350" y="0"/>
                  </a:cubicBezTo>
                  <a:close/>
                </a:path>
              </a:pathLst>
            </a:custGeom>
            <a:solidFill>
              <a:srgbClr val="F5F0E8"/>
            </a:solidFill>
            <a:ln w="25400" cap="rnd">
              <a:solidFill>
                <a:srgbClr val="D9CEBA"/>
              </a:solidFill>
              <a:prstDash val="solid"/>
              <a:round/>
            </a:ln>
          </p:spPr>
        </p:sp>
      </p:grpSp>
      <p:grpSp>
        <p:nvGrpSpPr>
          <p:cNvPr name="Group 17" id="17"/>
          <p:cNvGrpSpPr/>
          <p:nvPr/>
        </p:nvGrpSpPr>
        <p:grpSpPr>
          <a:xfrm rot="0">
            <a:off x="3888035" y="4051802"/>
            <a:ext cx="9014048" cy="914400"/>
            <a:chOff x="0" y="0"/>
            <a:chExt cx="12018731" cy="1219200"/>
          </a:xfrm>
        </p:grpSpPr>
        <p:sp>
          <p:nvSpPr>
            <p:cNvPr name="Freeform 18" id="18"/>
            <p:cNvSpPr/>
            <p:nvPr/>
          </p:nvSpPr>
          <p:spPr>
            <a:xfrm flipH="false" flipV="false" rot="0">
              <a:off x="0" y="0"/>
              <a:ext cx="12018731" cy="1219200"/>
            </a:xfrm>
            <a:custGeom>
              <a:avLst/>
              <a:gdLst/>
              <a:ahLst/>
              <a:cxnLst/>
              <a:rect r="r" b="b" t="t" l="l"/>
              <a:pathLst>
                <a:path h="1219200" w="12018731">
                  <a:moveTo>
                    <a:pt x="0" y="0"/>
                  </a:moveTo>
                  <a:lnTo>
                    <a:pt x="12018731" y="0"/>
                  </a:lnTo>
                  <a:lnTo>
                    <a:pt x="12018731" y="1219200"/>
                  </a:lnTo>
                  <a:lnTo>
                    <a:pt x="0" y="1219200"/>
                  </a:lnTo>
                  <a:close/>
                </a:path>
              </a:pathLst>
            </a:custGeom>
            <a:blipFill>
              <a:blip r:embed="rId3">
                <a:alphaModFix amt="0"/>
              </a:blip>
              <a:stretch>
                <a:fillRect l="0" t="-166283" r="-12600" b="-166283"/>
              </a:stretch>
            </a:blipFill>
          </p:spPr>
        </p:sp>
        <p:sp>
          <p:nvSpPr>
            <p:cNvPr name="TextBox 19" id="19"/>
            <p:cNvSpPr txBox="true"/>
            <p:nvPr/>
          </p:nvSpPr>
          <p:spPr>
            <a:xfrm>
              <a:off x="0" y="0"/>
              <a:ext cx="12018731" cy="1219200"/>
            </a:xfrm>
            <a:prstGeom prst="rect">
              <a:avLst/>
            </a:prstGeom>
          </p:spPr>
          <p:txBody>
            <a:bodyPr anchor="ctr" rtlCol="false" tIns="0" lIns="0" bIns="0" rIns="0"/>
            <a:lstStyle/>
            <a:p>
              <a:pPr algn="l">
                <a:lnSpc>
                  <a:spcPts val="2520"/>
                </a:lnSpc>
              </a:pPr>
              <a:r>
                <a:rPr lang="en-US" sz="2100">
                  <a:solidFill>
                    <a:srgbClr val="000000"/>
                  </a:solidFill>
                  <a:latin typeface="Montserrat"/>
                  <a:ea typeface="Montserrat"/>
                  <a:cs typeface="Montserrat"/>
                  <a:sym typeface="Montserrat"/>
                </a:rPr>
                <a:t>BE89</a:t>
              </a:r>
              <a:r>
                <a:rPr lang="en-US" sz="2100">
                  <a:solidFill>
                    <a:srgbClr val="000000"/>
                  </a:solidFill>
                  <a:latin typeface="Montserrat"/>
                  <a:ea typeface="Montserrat"/>
                  <a:cs typeface="Montserrat"/>
                  <a:sym typeface="Montserrat"/>
                </a:rPr>
                <a:t>, BE92, BK79, EN72, HK68, SI87, TX77, VI75</a:t>
              </a:r>
            </a:p>
          </p:txBody>
        </p:sp>
      </p:grpSp>
      <p:grpSp>
        <p:nvGrpSpPr>
          <p:cNvPr name="Group 20" id="20"/>
          <p:cNvGrpSpPr/>
          <p:nvPr/>
        </p:nvGrpSpPr>
        <p:grpSpPr>
          <a:xfrm rot="0">
            <a:off x="790664" y="5319265"/>
            <a:ext cx="2494283" cy="1159259"/>
            <a:chOff x="0" y="0"/>
            <a:chExt cx="3325711" cy="1545679"/>
          </a:xfrm>
        </p:grpSpPr>
        <p:sp>
          <p:nvSpPr>
            <p:cNvPr name="Freeform 21" id="21"/>
            <p:cNvSpPr/>
            <p:nvPr/>
          </p:nvSpPr>
          <p:spPr>
            <a:xfrm flipH="false" flipV="false" rot="0">
              <a:off x="0" y="0"/>
              <a:ext cx="3325749" cy="1545717"/>
            </a:xfrm>
            <a:custGeom>
              <a:avLst/>
              <a:gdLst/>
              <a:ahLst/>
              <a:cxnLst/>
              <a:rect r="r" b="b" t="t" l="l"/>
              <a:pathLst>
                <a:path h="1545717" w="3325749">
                  <a:moveTo>
                    <a:pt x="317500" y="0"/>
                  </a:moveTo>
                  <a:lnTo>
                    <a:pt x="3008249" y="0"/>
                  </a:lnTo>
                  <a:cubicBezTo>
                    <a:pt x="3092455" y="0"/>
                    <a:pt x="3173213" y="33451"/>
                    <a:pt x="3232755" y="92994"/>
                  </a:cubicBezTo>
                  <a:cubicBezTo>
                    <a:pt x="3292298" y="152536"/>
                    <a:pt x="3325749" y="233294"/>
                    <a:pt x="3325749" y="317500"/>
                  </a:cubicBezTo>
                  <a:lnTo>
                    <a:pt x="3325749" y="1228217"/>
                  </a:lnTo>
                  <a:cubicBezTo>
                    <a:pt x="3325749" y="1403567"/>
                    <a:pt x="3183599" y="1545717"/>
                    <a:pt x="3008249" y="1545717"/>
                  </a:cubicBezTo>
                  <a:lnTo>
                    <a:pt x="317500" y="1545717"/>
                  </a:lnTo>
                  <a:cubicBezTo>
                    <a:pt x="233294" y="1545717"/>
                    <a:pt x="152536" y="1512266"/>
                    <a:pt x="92994" y="1452723"/>
                  </a:cubicBezTo>
                  <a:cubicBezTo>
                    <a:pt x="33451" y="1393181"/>
                    <a:pt x="0" y="1312423"/>
                    <a:pt x="0" y="1228217"/>
                  </a:cubicBezTo>
                  <a:lnTo>
                    <a:pt x="0" y="317500"/>
                  </a:lnTo>
                  <a:cubicBezTo>
                    <a:pt x="0" y="142150"/>
                    <a:pt x="142150" y="0"/>
                    <a:pt x="317500" y="0"/>
                  </a:cubicBezTo>
                  <a:close/>
                </a:path>
              </a:pathLst>
            </a:custGeom>
            <a:solidFill>
              <a:srgbClr val="7A9E87"/>
            </a:solidFill>
            <a:ln w="25400" cap="rnd">
              <a:solidFill>
                <a:srgbClr val="7A9E87"/>
              </a:solidFill>
              <a:prstDash val="solid"/>
              <a:round/>
            </a:ln>
          </p:spPr>
        </p:sp>
      </p:grpSp>
      <p:grpSp>
        <p:nvGrpSpPr>
          <p:cNvPr name="Group 22" id="22"/>
          <p:cNvGrpSpPr/>
          <p:nvPr/>
        </p:nvGrpSpPr>
        <p:grpSpPr>
          <a:xfrm rot="0">
            <a:off x="1157608" y="5331962"/>
            <a:ext cx="1760387" cy="1133856"/>
            <a:chOff x="0" y="0"/>
            <a:chExt cx="2347183" cy="1511808"/>
          </a:xfrm>
        </p:grpSpPr>
        <p:sp>
          <p:nvSpPr>
            <p:cNvPr name="Freeform 23" id="23"/>
            <p:cNvSpPr/>
            <p:nvPr/>
          </p:nvSpPr>
          <p:spPr>
            <a:xfrm flipH="false" flipV="false" rot="0">
              <a:off x="0" y="0"/>
              <a:ext cx="2347183" cy="1511808"/>
            </a:xfrm>
            <a:custGeom>
              <a:avLst/>
              <a:gdLst/>
              <a:ahLst/>
              <a:cxnLst/>
              <a:rect r="r" b="b" t="t" l="l"/>
              <a:pathLst>
                <a:path h="1511808" w="2347183">
                  <a:moveTo>
                    <a:pt x="0" y="0"/>
                  </a:moveTo>
                  <a:lnTo>
                    <a:pt x="2347183" y="0"/>
                  </a:lnTo>
                  <a:lnTo>
                    <a:pt x="2347183" y="1511808"/>
                  </a:lnTo>
                  <a:lnTo>
                    <a:pt x="0" y="1511808"/>
                  </a:lnTo>
                  <a:close/>
                </a:path>
              </a:pathLst>
            </a:custGeom>
            <a:blipFill>
              <a:blip r:embed="rId3">
                <a:alphaModFix amt="0"/>
              </a:blip>
              <a:stretch>
                <a:fillRect l="-12516" t="0" r="-52762" b="0"/>
              </a:stretch>
            </a:blipFill>
          </p:spPr>
        </p:sp>
        <p:sp>
          <p:nvSpPr>
            <p:cNvPr name="TextBox 24" id="24"/>
            <p:cNvSpPr txBox="true"/>
            <p:nvPr/>
          </p:nvSpPr>
          <p:spPr>
            <a:xfrm>
              <a:off x="0" y="0"/>
              <a:ext cx="2347183" cy="1511808"/>
            </a:xfrm>
            <a:prstGeom prst="rect">
              <a:avLst/>
            </a:prstGeom>
          </p:spPr>
          <p:txBody>
            <a:bodyPr anchor="ctr" rtlCol="false" tIns="0" lIns="0" bIns="0" rIns="0"/>
            <a:lstStyle/>
            <a:p>
              <a:pPr algn="ctr">
                <a:lnSpc>
                  <a:spcPts val="2160"/>
                </a:lnSpc>
              </a:pPr>
              <a:r>
                <a:rPr lang="en-US" sz="1800" b="true">
                  <a:solidFill>
                    <a:srgbClr val="FDFAF5"/>
                  </a:solidFill>
                  <a:latin typeface="Montserrat Bold"/>
                  <a:ea typeface="Montserrat Bold"/>
                  <a:cs typeface="Montserrat Bold"/>
                  <a:sym typeface="Montserrat Bold"/>
                </a:rPr>
                <a:t>7-SY97</a:t>
              </a:r>
            </a:p>
          </p:txBody>
        </p:sp>
      </p:grpSp>
      <p:grpSp>
        <p:nvGrpSpPr>
          <p:cNvPr name="Group 25" id="25"/>
          <p:cNvGrpSpPr/>
          <p:nvPr/>
        </p:nvGrpSpPr>
        <p:grpSpPr>
          <a:xfrm rot="0">
            <a:off x="1522184" y="6453121"/>
            <a:ext cx="80267" cy="281435"/>
            <a:chOff x="0" y="0"/>
            <a:chExt cx="107023" cy="375247"/>
          </a:xfrm>
        </p:grpSpPr>
        <p:sp>
          <p:nvSpPr>
            <p:cNvPr name="Freeform 26" id="26"/>
            <p:cNvSpPr/>
            <p:nvPr/>
          </p:nvSpPr>
          <p:spPr>
            <a:xfrm flipH="false" flipV="false" rot="0">
              <a:off x="0" y="0"/>
              <a:ext cx="107061" cy="375285"/>
            </a:xfrm>
            <a:custGeom>
              <a:avLst/>
              <a:gdLst/>
              <a:ahLst/>
              <a:cxnLst/>
              <a:rect r="r" b="b" t="t" l="l"/>
              <a:pathLst>
                <a:path h="375285" w="107061">
                  <a:moveTo>
                    <a:pt x="0" y="0"/>
                  </a:moveTo>
                  <a:lnTo>
                    <a:pt x="107061" y="0"/>
                  </a:lnTo>
                  <a:lnTo>
                    <a:pt x="107061" y="375285"/>
                  </a:lnTo>
                  <a:lnTo>
                    <a:pt x="0" y="375285"/>
                  </a:lnTo>
                  <a:close/>
                </a:path>
              </a:pathLst>
            </a:custGeom>
            <a:solidFill>
              <a:srgbClr val="D9CEBA"/>
            </a:solidFill>
            <a:ln w="25400" cap="sq">
              <a:solidFill>
                <a:srgbClr val="D9CEBA"/>
              </a:solidFill>
              <a:prstDash val="solid"/>
              <a:miter/>
            </a:ln>
          </p:spPr>
        </p:sp>
      </p:grpSp>
      <p:grpSp>
        <p:nvGrpSpPr>
          <p:cNvPr name="Group 27" id="27"/>
          <p:cNvGrpSpPr/>
          <p:nvPr/>
        </p:nvGrpSpPr>
        <p:grpSpPr>
          <a:xfrm rot="0">
            <a:off x="3625304" y="5428993"/>
            <a:ext cx="9539517" cy="939803"/>
            <a:chOff x="0" y="0"/>
            <a:chExt cx="12719357" cy="1253071"/>
          </a:xfrm>
        </p:grpSpPr>
        <p:sp>
          <p:nvSpPr>
            <p:cNvPr name="Freeform 28" id="28"/>
            <p:cNvSpPr/>
            <p:nvPr/>
          </p:nvSpPr>
          <p:spPr>
            <a:xfrm flipH="false" flipV="false" rot="0">
              <a:off x="0" y="0"/>
              <a:ext cx="12719395" cy="1253109"/>
            </a:xfrm>
            <a:custGeom>
              <a:avLst/>
              <a:gdLst/>
              <a:ahLst/>
              <a:cxnLst/>
              <a:rect r="r" b="b" t="t" l="l"/>
              <a:pathLst>
                <a:path h="1253109" w="12719395">
                  <a:moveTo>
                    <a:pt x="457350" y="0"/>
                  </a:moveTo>
                  <a:lnTo>
                    <a:pt x="12262045" y="0"/>
                  </a:lnTo>
                  <a:cubicBezTo>
                    <a:pt x="12514632" y="0"/>
                    <a:pt x="12719395" y="204762"/>
                    <a:pt x="12719395" y="457350"/>
                  </a:cubicBezTo>
                  <a:lnTo>
                    <a:pt x="12719395" y="795759"/>
                  </a:lnTo>
                  <a:cubicBezTo>
                    <a:pt x="12719395" y="917056"/>
                    <a:pt x="12671210" y="1033385"/>
                    <a:pt x="12585440" y="1119154"/>
                  </a:cubicBezTo>
                  <a:cubicBezTo>
                    <a:pt x="12499670" y="1204924"/>
                    <a:pt x="12383342" y="1253109"/>
                    <a:pt x="12262045" y="1253109"/>
                  </a:cubicBezTo>
                  <a:lnTo>
                    <a:pt x="457350" y="1253109"/>
                  </a:lnTo>
                  <a:cubicBezTo>
                    <a:pt x="204762" y="1253109"/>
                    <a:pt x="0" y="1048347"/>
                    <a:pt x="0" y="795759"/>
                  </a:cubicBezTo>
                  <a:lnTo>
                    <a:pt x="0" y="457350"/>
                  </a:lnTo>
                  <a:cubicBezTo>
                    <a:pt x="0" y="336053"/>
                    <a:pt x="48185" y="219724"/>
                    <a:pt x="133955" y="133955"/>
                  </a:cubicBezTo>
                  <a:cubicBezTo>
                    <a:pt x="219724" y="48185"/>
                    <a:pt x="336053" y="0"/>
                    <a:pt x="457350" y="0"/>
                  </a:cubicBezTo>
                  <a:close/>
                </a:path>
              </a:pathLst>
            </a:custGeom>
            <a:solidFill>
              <a:srgbClr val="F5F0E8"/>
            </a:solidFill>
            <a:ln w="25400" cap="rnd">
              <a:solidFill>
                <a:srgbClr val="D9CEBA"/>
              </a:solidFill>
              <a:prstDash val="solid"/>
              <a:round/>
            </a:ln>
          </p:spPr>
        </p:sp>
      </p:grpSp>
      <p:grpSp>
        <p:nvGrpSpPr>
          <p:cNvPr name="Group 29" id="29"/>
          <p:cNvGrpSpPr/>
          <p:nvPr/>
        </p:nvGrpSpPr>
        <p:grpSpPr>
          <a:xfrm rot="0">
            <a:off x="3888035" y="5441690"/>
            <a:ext cx="9014048" cy="914400"/>
            <a:chOff x="0" y="0"/>
            <a:chExt cx="12018731" cy="1219200"/>
          </a:xfrm>
        </p:grpSpPr>
        <p:sp>
          <p:nvSpPr>
            <p:cNvPr name="Freeform 30" id="30"/>
            <p:cNvSpPr/>
            <p:nvPr/>
          </p:nvSpPr>
          <p:spPr>
            <a:xfrm flipH="false" flipV="false" rot="0">
              <a:off x="0" y="0"/>
              <a:ext cx="12018731" cy="1219200"/>
            </a:xfrm>
            <a:custGeom>
              <a:avLst/>
              <a:gdLst/>
              <a:ahLst/>
              <a:cxnLst/>
              <a:rect r="r" b="b" t="t" l="l"/>
              <a:pathLst>
                <a:path h="1219200" w="12018731">
                  <a:moveTo>
                    <a:pt x="0" y="0"/>
                  </a:moveTo>
                  <a:lnTo>
                    <a:pt x="12018731" y="0"/>
                  </a:lnTo>
                  <a:lnTo>
                    <a:pt x="12018731" y="1219200"/>
                  </a:lnTo>
                  <a:lnTo>
                    <a:pt x="0" y="1219200"/>
                  </a:lnTo>
                  <a:close/>
                </a:path>
              </a:pathLst>
            </a:custGeom>
            <a:blipFill>
              <a:blip r:embed="rId3">
                <a:alphaModFix amt="0"/>
              </a:blip>
              <a:stretch>
                <a:fillRect l="0" t="-166283" r="-12600" b="-166283"/>
              </a:stretch>
            </a:blipFill>
          </p:spPr>
        </p:sp>
        <p:sp>
          <p:nvSpPr>
            <p:cNvPr name="TextBox 31" id="31"/>
            <p:cNvSpPr txBox="true"/>
            <p:nvPr/>
          </p:nvSpPr>
          <p:spPr>
            <a:xfrm>
              <a:off x="0" y="0"/>
              <a:ext cx="12018731" cy="1219200"/>
            </a:xfrm>
            <a:prstGeom prst="rect">
              <a:avLst/>
            </a:prstGeom>
          </p:spPr>
          <p:txBody>
            <a:bodyPr anchor="ctr" rtlCol="false" tIns="0" lIns="0" bIns="0" rIns="0"/>
            <a:lstStyle/>
            <a:p>
              <a:pPr algn="l">
                <a:lnSpc>
                  <a:spcPts val="2520"/>
                </a:lnSpc>
              </a:pPr>
              <a:r>
                <a:rPr lang="en-US" sz="2100">
                  <a:solidFill>
                    <a:srgbClr val="000000"/>
                  </a:solidFill>
                  <a:latin typeface="Montserrat"/>
                  <a:ea typeface="Montserrat"/>
                  <a:cs typeface="Montserrat"/>
                  <a:sym typeface="Montserrat"/>
                </a:rPr>
                <a:t>BE89</a:t>
              </a:r>
              <a:r>
                <a:rPr lang="en-US" sz="2100">
                  <a:solidFill>
                    <a:srgbClr val="000000"/>
                  </a:solidFill>
                  <a:latin typeface="Montserrat"/>
                  <a:ea typeface="Montserrat"/>
                  <a:cs typeface="Montserrat"/>
                  <a:sym typeface="Montserrat"/>
                </a:rPr>
                <a:t>, BE92, BK79, EN72, HK68, SI87, TX77, VI75, </a:t>
              </a:r>
              <a:r>
                <a:rPr lang="en-US" b="true" sz="2100">
                  <a:solidFill>
                    <a:srgbClr val="000000"/>
                  </a:solidFill>
                  <a:latin typeface="Montserrat Bold"/>
                  <a:ea typeface="Montserrat Bold"/>
                  <a:cs typeface="Montserrat Bold"/>
                  <a:sym typeface="Montserrat Bold"/>
                </a:rPr>
                <a:t>WU95</a:t>
              </a:r>
            </a:p>
          </p:txBody>
        </p:sp>
      </p:grpSp>
      <p:grpSp>
        <p:nvGrpSpPr>
          <p:cNvPr name="Group 32" id="32"/>
          <p:cNvGrpSpPr/>
          <p:nvPr/>
        </p:nvGrpSpPr>
        <p:grpSpPr>
          <a:xfrm rot="0">
            <a:off x="790664" y="6709153"/>
            <a:ext cx="2494283" cy="1159259"/>
            <a:chOff x="0" y="0"/>
            <a:chExt cx="3325711" cy="1545679"/>
          </a:xfrm>
        </p:grpSpPr>
        <p:sp>
          <p:nvSpPr>
            <p:cNvPr name="Freeform 33" id="33"/>
            <p:cNvSpPr/>
            <p:nvPr/>
          </p:nvSpPr>
          <p:spPr>
            <a:xfrm flipH="false" flipV="false" rot="0">
              <a:off x="0" y="0"/>
              <a:ext cx="3325749" cy="1545717"/>
            </a:xfrm>
            <a:custGeom>
              <a:avLst/>
              <a:gdLst/>
              <a:ahLst/>
              <a:cxnLst/>
              <a:rect r="r" b="b" t="t" l="l"/>
              <a:pathLst>
                <a:path h="1545717" w="3325749">
                  <a:moveTo>
                    <a:pt x="317500" y="0"/>
                  </a:moveTo>
                  <a:lnTo>
                    <a:pt x="3008249" y="0"/>
                  </a:lnTo>
                  <a:cubicBezTo>
                    <a:pt x="3092455" y="0"/>
                    <a:pt x="3173213" y="33451"/>
                    <a:pt x="3232755" y="92994"/>
                  </a:cubicBezTo>
                  <a:cubicBezTo>
                    <a:pt x="3292298" y="152536"/>
                    <a:pt x="3325749" y="233294"/>
                    <a:pt x="3325749" y="317500"/>
                  </a:cubicBezTo>
                  <a:lnTo>
                    <a:pt x="3325749" y="1228217"/>
                  </a:lnTo>
                  <a:cubicBezTo>
                    <a:pt x="3325749" y="1403567"/>
                    <a:pt x="3183599" y="1545717"/>
                    <a:pt x="3008249" y="1545717"/>
                  </a:cubicBezTo>
                  <a:lnTo>
                    <a:pt x="317500" y="1545717"/>
                  </a:lnTo>
                  <a:cubicBezTo>
                    <a:pt x="233294" y="1545717"/>
                    <a:pt x="152536" y="1512266"/>
                    <a:pt x="92994" y="1452723"/>
                  </a:cubicBezTo>
                  <a:cubicBezTo>
                    <a:pt x="33451" y="1393181"/>
                    <a:pt x="0" y="1312423"/>
                    <a:pt x="0" y="1228217"/>
                  </a:cubicBezTo>
                  <a:lnTo>
                    <a:pt x="0" y="317500"/>
                  </a:lnTo>
                  <a:cubicBezTo>
                    <a:pt x="0" y="142150"/>
                    <a:pt x="142150" y="0"/>
                    <a:pt x="317500" y="0"/>
                  </a:cubicBezTo>
                  <a:close/>
                </a:path>
              </a:pathLst>
            </a:custGeom>
            <a:solidFill>
              <a:srgbClr val="C0714F"/>
            </a:solidFill>
            <a:ln w="25400" cap="rnd">
              <a:solidFill>
                <a:srgbClr val="C0714F"/>
              </a:solidFill>
              <a:prstDash val="solid"/>
              <a:round/>
            </a:ln>
          </p:spPr>
        </p:sp>
      </p:grpSp>
      <p:grpSp>
        <p:nvGrpSpPr>
          <p:cNvPr name="Group 34" id="34"/>
          <p:cNvGrpSpPr/>
          <p:nvPr/>
        </p:nvGrpSpPr>
        <p:grpSpPr>
          <a:xfrm rot="0">
            <a:off x="1157608" y="6721850"/>
            <a:ext cx="1760387" cy="1133856"/>
            <a:chOff x="0" y="0"/>
            <a:chExt cx="2347183" cy="1511808"/>
          </a:xfrm>
        </p:grpSpPr>
        <p:sp>
          <p:nvSpPr>
            <p:cNvPr name="Freeform 35" id="35"/>
            <p:cNvSpPr/>
            <p:nvPr/>
          </p:nvSpPr>
          <p:spPr>
            <a:xfrm flipH="false" flipV="false" rot="0">
              <a:off x="0" y="0"/>
              <a:ext cx="2347183" cy="1511808"/>
            </a:xfrm>
            <a:custGeom>
              <a:avLst/>
              <a:gdLst/>
              <a:ahLst/>
              <a:cxnLst/>
              <a:rect r="r" b="b" t="t" l="l"/>
              <a:pathLst>
                <a:path h="1511808" w="2347183">
                  <a:moveTo>
                    <a:pt x="0" y="0"/>
                  </a:moveTo>
                  <a:lnTo>
                    <a:pt x="2347183" y="0"/>
                  </a:lnTo>
                  <a:lnTo>
                    <a:pt x="2347183" y="1511808"/>
                  </a:lnTo>
                  <a:lnTo>
                    <a:pt x="0" y="1511808"/>
                  </a:lnTo>
                  <a:close/>
                </a:path>
              </a:pathLst>
            </a:custGeom>
            <a:blipFill>
              <a:blip r:embed="rId3">
                <a:alphaModFix amt="0"/>
              </a:blip>
              <a:stretch>
                <a:fillRect l="-12516" t="0" r="-52762" b="0"/>
              </a:stretch>
            </a:blipFill>
          </p:spPr>
        </p:sp>
        <p:sp>
          <p:nvSpPr>
            <p:cNvPr name="TextBox 36" id="36"/>
            <p:cNvSpPr txBox="true"/>
            <p:nvPr/>
          </p:nvSpPr>
          <p:spPr>
            <a:xfrm>
              <a:off x="0" y="0"/>
              <a:ext cx="2347183" cy="1511808"/>
            </a:xfrm>
            <a:prstGeom prst="rect">
              <a:avLst/>
            </a:prstGeom>
          </p:spPr>
          <p:txBody>
            <a:bodyPr anchor="ctr" rtlCol="false" tIns="0" lIns="0" bIns="0" rIns="0"/>
            <a:lstStyle/>
            <a:p>
              <a:pPr algn="ctr">
                <a:lnSpc>
                  <a:spcPts val="2160"/>
                </a:lnSpc>
              </a:pPr>
              <a:r>
                <a:rPr lang="en-US" sz="1800" b="true">
                  <a:solidFill>
                    <a:srgbClr val="FDFAF5"/>
                  </a:solidFill>
                  <a:latin typeface="Montserrat Bold"/>
                  <a:ea typeface="Montserrat Bold"/>
                  <a:cs typeface="Montserrat Bold"/>
                  <a:sym typeface="Montserrat Bold"/>
                </a:rPr>
                <a:t>8-FU02</a:t>
              </a:r>
            </a:p>
          </p:txBody>
        </p:sp>
      </p:grpSp>
      <p:grpSp>
        <p:nvGrpSpPr>
          <p:cNvPr name="Group 37" id="37"/>
          <p:cNvGrpSpPr/>
          <p:nvPr/>
        </p:nvGrpSpPr>
        <p:grpSpPr>
          <a:xfrm rot="0">
            <a:off x="1522184" y="7843009"/>
            <a:ext cx="80267" cy="281435"/>
            <a:chOff x="0" y="0"/>
            <a:chExt cx="107023" cy="375247"/>
          </a:xfrm>
        </p:grpSpPr>
        <p:sp>
          <p:nvSpPr>
            <p:cNvPr name="Freeform 38" id="38"/>
            <p:cNvSpPr/>
            <p:nvPr/>
          </p:nvSpPr>
          <p:spPr>
            <a:xfrm flipH="false" flipV="false" rot="0">
              <a:off x="0" y="0"/>
              <a:ext cx="107061" cy="375285"/>
            </a:xfrm>
            <a:custGeom>
              <a:avLst/>
              <a:gdLst/>
              <a:ahLst/>
              <a:cxnLst/>
              <a:rect r="r" b="b" t="t" l="l"/>
              <a:pathLst>
                <a:path h="375285" w="107061">
                  <a:moveTo>
                    <a:pt x="0" y="0"/>
                  </a:moveTo>
                  <a:lnTo>
                    <a:pt x="107061" y="0"/>
                  </a:lnTo>
                  <a:lnTo>
                    <a:pt x="107061" y="375285"/>
                  </a:lnTo>
                  <a:lnTo>
                    <a:pt x="0" y="375285"/>
                  </a:lnTo>
                  <a:close/>
                </a:path>
              </a:pathLst>
            </a:custGeom>
            <a:solidFill>
              <a:srgbClr val="D9CEBA"/>
            </a:solidFill>
            <a:ln w="25400" cap="sq">
              <a:solidFill>
                <a:srgbClr val="D9CEBA"/>
              </a:solidFill>
              <a:prstDash val="solid"/>
              <a:miter/>
            </a:ln>
          </p:spPr>
        </p:sp>
      </p:grpSp>
      <p:grpSp>
        <p:nvGrpSpPr>
          <p:cNvPr name="Group 39" id="39"/>
          <p:cNvGrpSpPr/>
          <p:nvPr/>
        </p:nvGrpSpPr>
        <p:grpSpPr>
          <a:xfrm rot="0">
            <a:off x="3625304" y="6818881"/>
            <a:ext cx="9539517" cy="939803"/>
            <a:chOff x="0" y="0"/>
            <a:chExt cx="12719357" cy="1253071"/>
          </a:xfrm>
        </p:grpSpPr>
        <p:sp>
          <p:nvSpPr>
            <p:cNvPr name="Freeform 40" id="40"/>
            <p:cNvSpPr/>
            <p:nvPr/>
          </p:nvSpPr>
          <p:spPr>
            <a:xfrm flipH="false" flipV="false" rot="0">
              <a:off x="0" y="0"/>
              <a:ext cx="12719395" cy="1253109"/>
            </a:xfrm>
            <a:custGeom>
              <a:avLst/>
              <a:gdLst/>
              <a:ahLst/>
              <a:cxnLst/>
              <a:rect r="r" b="b" t="t" l="l"/>
              <a:pathLst>
                <a:path h="1253109" w="12719395">
                  <a:moveTo>
                    <a:pt x="457350" y="0"/>
                  </a:moveTo>
                  <a:lnTo>
                    <a:pt x="12262045" y="0"/>
                  </a:lnTo>
                  <a:cubicBezTo>
                    <a:pt x="12514632" y="0"/>
                    <a:pt x="12719395" y="204762"/>
                    <a:pt x="12719395" y="457350"/>
                  </a:cubicBezTo>
                  <a:lnTo>
                    <a:pt x="12719395" y="795759"/>
                  </a:lnTo>
                  <a:cubicBezTo>
                    <a:pt x="12719395" y="917056"/>
                    <a:pt x="12671210" y="1033385"/>
                    <a:pt x="12585440" y="1119154"/>
                  </a:cubicBezTo>
                  <a:cubicBezTo>
                    <a:pt x="12499670" y="1204924"/>
                    <a:pt x="12383342" y="1253109"/>
                    <a:pt x="12262045" y="1253109"/>
                  </a:cubicBezTo>
                  <a:lnTo>
                    <a:pt x="457350" y="1253109"/>
                  </a:lnTo>
                  <a:cubicBezTo>
                    <a:pt x="204762" y="1253109"/>
                    <a:pt x="0" y="1048347"/>
                    <a:pt x="0" y="795759"/>
                  </a:cubicBezTo>
                  <a:lnTo>
                    <a:pt x="0" y="457350"/>
                  </a:lnTo>
                  <a:cubicBezTo>
                    <a:pt x="0" y="336053"/>
                    <a:pt x="48185" y="219724"/>
                    <a:pt x="133955" y="133955"/>
                  </a:cubicBezTo>
                  <a:cubicBezTo>
                    <a:pt x="219724" y="48185"/>
                    <a:pt x="336053" y="0"/>
                    <a:pt x="457350" y="0"/>
                  </a:cubicBezTo>
                  <a:close/>
                </a:path>
              </a:pathLst>
            </a:custGeom>
            <a:solidFill>
              <a:srgbClr val="F5F0E8"/>
            </a:solidFill>
            <a:ln w="25400" cap="rnd">
              <a:solidFill>
                <a:srgbClr val="D9CEBA"/>
              </a:solidFill>
              <a:prstDash val="solid"/>
              <a:round/>
            </a:ln>
          </p:spPr>
        </p:sp>
      </p:grpSp>
      <p:grpSp>
        <p:nvGrpSpPr>
          <p:cNvPr name="Group 41" id="41"/>
          <p:cNvGrpSpPr/>
          <p:nvPr/>
        </p:nvGrpSpPr>
        <p:grpSpPr>
          <a:xfrm rot="0">
            <a:off x="3888035" y="6831578"/>
            <a:ext cx="9014048" cy="914400"/>
            <a:chOff x="0" y="0"/>
            <a:chExt cx="12018731" cy="1219200"/>
          </a:xfrm>
        </p:grpSpPr>
        <p:sp>
          <p:nvSpPr>
            <p:cNvPr name="Freeform 42" id="42"/>
            <p:cNvSpPr/>
            <p:nvPr/>
          </p:nvSpPr>
          <p:spPr>
            <a:xfrm flipH="false" flipV="false" rot="0">
              <a:off x="0" y="0"/>
              <a:ext cx="12018731" cy="1219200"/>
            </a:xfrm>
            <a:custGeom>
              <a:avLst/>
              <a:gdLst/>
              <a:ahLst/>
              <a:cxnLst/>
              <a:rect r="r" b="b" t="t" l="l"/>
              <a:pathLst>
                <a:path h="1219200" w="12018731">
                  <a:moveTo>
                    <a:pt x="0" y="0"/>
                  </a:moveTo>
                  <a:lnTo>
                    <a:pt x="12018731" y="0"/>
                  </a:lnTo>
                  <a:lnTo>
                    <a:pt x="12018731" y="1219200"/>
                  </a:lnTo>
                  <a:lnTo>
                    <a:pt x="0" y="1219200"/>
                  </a:lnTo>
                  <a:close/>
                </a:path>
              </a:pathLst>
            </a:custGeom>
            <a:blipFill>
              <a:blip r:embed="rId3">
                <a:alphaModFix amt="0"/>
              </a:blip>
              <a:stretch>
                <a:fillRect l="0" t="-166283" r="-12600" b="-166283"/>
              </a:stretch>
            </a:blipFill>
          </p:spPr>
        </p:sp>
        <p:sp>
          <p:nvSpPr>
            <p:cNvPr name="TextBox 43" id="43"/>
            <p:cNvSpPr txBox="true"/>
            <p:nvPr/>
          </p:nvSpPr>
          <p:spPr>
            <a:xfrm>
              <a:off x="0" y="0"/>
              <a:ext cx="12018731" cy="1219200"/>
            </a:xfrm>
            <a:prstGeom prst="rect">
              <a:avLst/>
            </a:prstGeom>
          </p:spPr>
          <p:txBody>
            <a:bodyPr anchor="ctr" rtlCol="false" tIns="0" lIns="0" bIns="0" rIns="0"/>
            <a:lstStyle/>
            <a:p>
              <a:pPr algn="l">
                <a:lnSpc>
                  <a:spcPts val="2520"/>
                </a:lnSpc>
              </a:pPr>
              <a:r>
                <a:rPr lang="en-US" sz="2100">
                  <a:solidFill>
                    <a:srgbClr val="000000"/>
                  </a:solidFill>
                  <a:latin typeface="Montserrat"/>
                  <a:ea typeface="Montserrat"/>
                  <a:cs typeface="Montserrat"/>
                  <a:sym typeface="Montserrat"/>
                </a:rPr>
                <a:t>BE89, BE92, BK79, EN72, HK68, SI87, </a:t>
              </a:r>
              <a:r>
                <a:rPr lang="en-US" b="true" sz="2100">
                  <a:solidFill>
                    <a:srgbClr val="000000"/>
                  </a:solidFill>
                  <a:latin typeface="Montserrat Bold"/>
                  <a:ea typeface="Montserrat Bold"/>
                  <a:cs typeface="Montserrat Bold"/>
                  <a:sym typeface="Montserrat Bold"/>
                </a:rPr>
                <a:t>SY97</a:t>
              </a:r>
              <a:r>
                <a:rPr lang="en-US" sz="2100">
                  <a:solidFill>
                    <a:srgbClr val="000000"/>
                  </a:solidFill>
                  <a:latin typeface="Montserrat"/>
                  <a:ea typeface="Montserrat"/>
                  <a:cs typeface="Montserrat"/>
                  <a:sym typeface="Montserrat"/>
                </a:rPr>
                <a:t>, TX77</a:t>
              </a:r>
              <a:r>
                <a:rPr lang="en-US" sz="2100">
                  <a:solidFill>
                    <a:srgbClr val="000000"/>
                  </a:solidFill>
                  <a:latin typeface="Montserrat"/>
                  <a:ea typeface="Montserrat"/>
                  <a:cs typeface="Montserrat"/>
                  <a:sym typeface="Montserrat"/>
                </a:rPr>
                <a:t>, VI75, WU95</a:t>
              </a:r>
            </a:p>
          </p:txBody>
        </p:sp>
      </p:grpSp>
      <p:grpSp>
        <p:nvGrpSpPr>
          <p:cNvPr name="Group 44" id="44"/>
          <p:cNvGrpSpPr/>
          <p:nvPr/>
        </p:nvGrpSpPr>
        <p:grpSpPr>
          <a:xfrm rot="0">
            <a:off x="790664" y="8099041"/>
            <a:ext cx="2494283" cy="1159259"/>
            <a:chOff x="0" y="0"/>
            <a:chExt cx="3325711" cy="1545679"/>
          </a:xfrm>
        </p:grpSpPr>
        <p:sp>
          <p:nvSpPr>
            <p:cNvPr name="Freeform 45" id="45"/>
            <p:cNvSpPr/>
            <p:nvPr/>
          </p:nvSpPr>
          <p:spPr>
            <a:xfrm flipH="false" flipV="false" rot="0">
              <a:off x="0" y="0"/>
              <a:ext cx="3325749" cy="1545717"/>
            </a:xfrm>
            <a:custGeom>
              <a:avLst/>
              <a:gdLst/>
              <a:ahLst/>
              <a:cxnLst/>
              <a:rect r="r" b="b" t="t" l="l"/>
              <a:pathLst>
                <a:path h="1545717" w="3325749">
                  <a:moveTo>
                    <a:pt x="317500" y="0"/>
                  </a:moveTo>
                  <a:lnTo>
                    <a:pt x="3008249" y="0"/>
                  </a:lnTo>
                  <a:cubicBezTo>
                    <a:pt x="3092455" y="0"/>
                    <a:pt x="3173213" y="33451"/>
                    <a:pt x="3232755" y="92994"/>
                  </a:cubicBezTo>
                  <a:cubicBezTo>
                    <a:pt x="3292298" y="152536"/>
                    <a:pt x="3325749" y="233294"/>
                    <a:pt x="3325749" y="317500"/>
                  </a:cubicBezTo>
                  <a:lnTo>
                    <a:pt x="3325749" y="1228217"/>
                  </a:lnTo>
                  <a:cubicBezTo>
                    <a:pt x="3325749" y="1403567"/>
                    <a:pt x="3183599" y="1545717"/>
                    <a:pt x="3008249" y="1545717"/>
                  </a:cubicBezTo>
                  <a:lnTo>
                    <a:pt x="317500" y="1545717"/>
                  </a:lnTo>
                  <a:cubicBezTo>
                    <a:pt x="233294" y="1545717"/>
                    <a:pt x="152536" y="1512266"/>
                    <a:pt x="92994" y="1452723"/>
                  </a:cubicBezTo>
                  <a:cubicBezTo>
                    <a:pt x="33451" y="1393181"/>
                    <a:pt x="0" y="1312423"/>
                    <a:pt x="0" y="1228217"/>
                  </a:cubicBezTo>
                  <a:lnTo>
                    <a:pt x="0" y="317500"/>
                  </a:lnTo>
                  <a:cubicBezTo>
                    <a:pt x="0" y="142150"/>
                    <a:pt x="142150" y="0"/>
                    <a:pt x="317500" y="0"/>
                  </a:cubicBezTo>
                  <a:close/>
                </a:path>
              </a:pathLst>
            </a:custGeom>
            <a:solidFill>
              <a:srgbClr val="7A9E87"/>
            </a:solidFill>
            <a:ln w="25400" cap="rnd">
              <a:solidFill>
                <a:srgbClr val="7A9E87"/>
              </a:solidFill>
              <a:prstDash val="solid"/>
              <a:round/>
            </a:ln>
          </p:spPr>
        </p:sp>
      </p:grpSp>
      <p:grpSp>
        <p:nvGrpSpPr>
          <p:cNvPr name="Group 46" id="46"/>
          <p:cNvGrpSpPr/>
          <p:nvPr/>
        </p:nvGrpSpPr>
        <p:grpSpPr>
          <a:xfrm rot="0">
            <a:off x="1024765" y="8111738"/>
            <a:ext cx="2026072" cy="1133856"/>
            <a:chOff x="0" y="0"/>
            <a:chExt cx="2701429" cy="1511808"/>
          </a:xfrm>
        </p:grpSpPr>
        <p:sp>
          <p:nvSpPr>
            <p:cNvPr name="Freeform 47" id="47"/>
            <p:cNvSpPr/>
            <p:nvPr/>
          </p:nvSpPr>
          <p:spPr>
            <a:xfrm flipH="false" flipV="false" rot="0">
              <a:off x="0" y="0"/>
              <a:ext cx="2701429" cy="1511808"/>
            </a:xfrm>
            <a:custGeom>
              <a:avLst/>
              <a:gdLst/>
              <a:ahLst/>
              <a:cxnLst/>
              <a:rect r="r" b="b" t="t" l="l"/>
              <a:pathLst>
                <a:path h="1511808" w="2701429">
                  <a:moveTo>
                    <a:pt x="0" y="0"/>
                  </a:moveTo>
                  <a:lnTo>
                    <a:pt x="2701429" y="0"/>
                  </a:lnTo>
                  <a:lnTo>
                    <a:pt x="2701429" y="1511808"/>
                  </a:lnTo>
                  <a:lnTo>
                    <a:pt x="0" y="1511808"/>
                  </a:lnTo>
                  <a:close/>
                </a:path>
              </a:pathLst>
            </a:custGeom>
            <a:blipFill>
              <a:blip r:embed="rId3">
                <a:alphaModFix amt="0"/>
              </a:blip>
              <a:stretch>
                <a:fillRect l="-10875" t="0" r="-32730" b="0"/>
              </a:stretch>
            </a:blipFill>
          </p:spPr>
        </p:sp>
        <p:sp>
          <p:nvSpPr>
            <p:cNvPr name="TextBox 48" id="48"/>
            <p:cNvSpPr txBox="true"/>
            <p:nvPr/>
          </p:nvSpPr>
          <p:spPr>
            <a:xfrm>
              <a:off x="0" y="0"/>
              <a:ext cx="2701429" cy="1511808"/>
            </a:xfrm>
            <a:prstGeom prst="rect">
              <a:avLst/>
            </a:prstGeom>
          </p:spPr>
          <p:txBody>
            <a:bodyPr anchor="ctr" rtlCol="false" tIns="0" lIns="0" bIns="0" rIns="0"/>
            <a:lstStyle/>
            <a:p>
              <a:pPr algn="ctr">
                <a:lnSpc>
                  <a:spcPts val="2160"/>
                </a:lnSpc>
              </a:pPr>
              <a:r>
                <a:rPr lang="en-US" sz="1800" b="true">
                  <a:solidFill>
                    <a:srgbClr val="FDFAF5"/>
                  </a:solidFill>
                  <a:latin typeface="Montserrat Bold"/>
                  <a:ea typeface="Montserrat Bold"/>
                  <a:cs typeface="Montserrat Bold"/>
                  <a:sym typeface="Montserrat Bold"/>
                </a:rPr>
                <a:t>9-CA04</a:t>
              </a:r>
            </a:p>
          </p:txBody>
        </p:sp>
      </p:grpSp>
      <p:grpSp>
        <p:nvGrpSpPr>
          <p:cNvPr name="Group 49" id="49"/>
          <p:cNvGrpSpPr/>
          <p:nvPr/>
        </p:nvGrpSpPr>
        <p:grpSpPr>
          <a:xfrm rot="0">
            <a:off x="3625304" y="8208769"/>
            <a:ext cx="9539517" cy="939803"/>
            <a:chOff x="0" y="0"/>
            <a:chExt cx="12719357" cy="1253071"/>
          </a:xfrm>
        </p:grpSpPr>
        <p:sp>
          <p:nvSpPr>
            <p:cNvPr name="Freeform 50" id="50"/>
            <p:cNvSpPr/>
            <p:nvPr/>
          </p:nvSpPr>
          <p:spPr>
            <a:xfrm flipH="false" flipV="false" rot="0">
              <a:off x="0" y="0"/>
              <a:ext cx="12719395" cy="1253109"/>
            </a:xfrm>
            <a:custGeom>
              <a:avLst/>
              <a:gdLst/>
              <a:ahLst/>
              <a:cxnLst/>
              <a:rect r="r" b="b" t="t" l="l"/>
              <a:pathLst>
                <a:path h="1253109" w="12719395">
                  <a:moveTo>
                    <a:pt x="457350" y="0"/>
                  </a:moveTo>
                  <a:lnTo>
                    <a:pt x="12262045" y="0"/>
                  </a:lnTo>
                  <a:cubicBezTo>
                    <a:pt x="12514632" y="0"/>
                    <a:pt x="12719395" y="204762"/>
                    <a:pt x="12719395" y="457350"/>
                  </a:cubicBezTo>
                  <a:lnTo>
                    <a:pt x="12719395" y="795759"/>
                  </a:lnTo>
                  <a:cubicBezTo>
                    <a:pt x="12719395" y="917056"/>
                    <a:pt x="12671210" y="1033385"/>
                    <a:pt x="12585440" y="1119154"/>
                  </a:cubicBezTo>
                  <a:cubicBezTo>
                    <a:pt x="12499670" y="1204924"/>
                    <a:pt x="12383342" y="1253109"/>
                    <a:pt x="12262045" y="1253109"/>
                  </a:cubicBezTo>
                  <a:lnTo>
                    <a:pt x="457350" y="1253109"/>
                  </a:lnTo>
                  <a:cubicBezTo>
                    <a:pt x="204762" y="1253109"/>
                    <a:pt x="0" y="1048347"/>
                    <a:pt x="0" y="795759"/>
                  </a:cubicBezTo>
                  <a:lnTo>
                    <a:pt x="0" y="457350"/>
                  </a:lnTo>
                  <a:cubicBezTo>
                    <a:pt x="0" y="336053"/>
                    <a:pt x="48185" y="219724"/>
                    <a:pt x="133955" y="133955"/>
                  </a:cubicBezTo>
                  <a:cubicBezTo>
                    <a:pt x="219724" y="48185"/>
                    <a:pt x="336053" y="0"/>
                    <a:pt x="457350" y="0"/>
                  </a:cubicBezTo>
                  <a:close/>
                </a:path>
              </a:pathLst>
            </a:custGeom>
            <a:solidFill>
              <a:srgbClr val="F5F0E8"/>
            </a:solidFill>
            <a:ln w="25400" cap="rnd">
              <a:solidFill>
                <a:srgbClr val="D9CEBA"/>
              </a:solidFill>
              <a:prstDash val="solid"/>
              <a:round/>
            </a:ln>
          </p:spPr>
        </p:sp>
      </p:grpSp>
      <p:grpSp>
        <p:nvGrpSpPr>
          <p:cNvPr name="Group 51" id="51"/>
          <p:cNvGrpSpPr/>
          <p:nvPr/>
        </p:nvGrpSpPr>
        <p:grpSpPr>
          <a:xfrm rot="0">
            <a:off x="3888035" y="8221466"/>
            <a:ext cx="9014048" cy="914400"/>
            <a:chOff x="0" y="0"/>
            <a:chExt cx="12018731" cy="1219200"/>
          </a:xfrm>
        </p:grpSpPr>
        <p:sp>
          <p:nvSpPr>
            <p:cNvPr name="Freeform 52" id="52"/>
            <p:cNvSpPr/>
            <p:nvPr/>
          </p:nvSpPr>
          <p:spPr>
            <a:xfrm flipH="false" flipV="false" rot="0">
              <a:off x="0" y="0"/>
              <a:ext cx="12018731" cy="1219200"/>
            </a:xfrm>
            <a:custGeom>
              <a:avLst/>
              <a:gdLst/>
              <a:ahLst/>
              <a:cxnLst/>
              <a:rect r="r" b="b" t="t" l="l"/>
              <a:pathLst>
                <a:path h="1219200" w="12018731">
                  <a:moveTo>
                    <a:pt x="0" y="0"/>
                  </a:moveTo>
                  <a:lnTo>
                    <a:pt x="12018731" y="0"/>
                  </a:lnTo>
                  <a:lnTo>
                    <a:pt x="12018731" y="1219200"/>
                  </a:lnTo>
                  <a:lnTo>
                    <a:pt x="0" y="1219200"/>
                  </a:lnTo>
                  <a:close/>
                </a:path>
              </a:pathLst>
            </a:custGeom>
            <a:blipFill>
              <a:blip r:embed="rId3">
                <a:alphaModFix amt="0"/>
              </a:blip>
              <a:stretch>
                <a:fillRect l="0" t="-166283" r="-12600" b="-166283"/>
              </a:stretch>
            </a:blipFill>
          </p:spPr>
        </p:sp>
        <p:sp>
          <p:nvSpPr>
            <p:cNvPr name="TextBox 53" id="53"/>
            <p:cNvSpPr txBox="true"/>
            <p:nvPr/>
          </p:nvSpPr>
          <p:spPr>
            <a:xfrm>
              <a:off x="0" y="0"/>
              <a:ext cx="12018731" cy="1219200"/>
            </a:xfrm>
            <a:prstGeom prst="rect">
              <a:avLst/>
            </a:prstGeom>
          </p:spPr>
          <p:txBody>
            <a:bodyPr anchor="ctr" rtlCol="false" tIns="0" lIns="0" bIns="0" rIns="0"/>
            <a:lstStyle/>
            <a:p>
              <a:pPr algn="l">
                <a:lnSpc>
                  <a:spcPts val="2520"/>
                </a:lnSpc>
              </a:pPr>
              <a:r>
                <a:rPr lang="en-US" sz="2100">
                  <a:solidFill>
                    <a:srgbClr val="000000"/>
                  </a:solidFill>
                  <a:latin typeface="Montserrat"/>
                  <a:ea typeface="Montserrat"/>
                  <a:cs typeface="Montserrat"/>
                  <a:sym typeface="Montserrat"/>
                </a:rPr>
                <a:t>BE89, BE92, BK79, EN72, </a:t>
              </a:r>
              <a:r>
                <a:rPr lang="en-US" b="true" sz="2100">
                  <a:solidFill>
                    <a:srgbClr val="000000"/>
                  </a:solidFill>
                  <a:latin typeface="Montserrat Bold"/>
                  <a:ea typeface="Montserrat Bold"/>
                  <a:cs typeface="Montserrat Bold"/>
                  <a:sym typeface="Montserrat Bold"/>
                </a:rPr>
                <a:t>FU02</a:t>
              </a:r>
              <a:r>
                <a:rPr lang="en-US" sz="2100">
                  <a:solidFill>
                    <a:srgbClr val="000000"/>
                  </a:solidFill>
                  <a:latin typeface="Montserrat"/>
                  <a:ea typeface="Montserrat"/>
                  <a:cs typeface="Montserrat"/>
                  <a:sym typeface="Montserrat"/>
                </a:rPr>
                <a:t>, HK68, SI87, SY97, TX77, VI75, </a:t>
              </a:r>
              <a:r>
                <a:rPr lang="en-US" sz="2100">
                  <a:solidFill>
                    <a:srgbClr val="000000"/>
                  </a:solidFill>
                  <a:latin typeface="Montserrat"/>
                  <a:ea typeface="Montserrat"/>
                  <a:cs typeface="Montserrat"/>
                  <a:sym typeface="Montserrat"/>
                </a:rPr>
                <a:t>WU95</a:t>
              </a:r>
            </a:p>
          </p:txBody>
        </p:sp>
      </p:grpSp>
      <p:grpSp>
        <p:nvGrpSpPr>
          <p:cNvPr name="Group 54" id="54"/>
          <p:cNvGrpSpPr/>
          <p:nvPr/>
        </p:nvGrpSpPr>
        <p:grpSpPr>
          <a:xfrm rot="0">
            <a:off x="14227983" y="4249064"/>
            <a:ext cx="3341204" cy="5165026"/>
            <a:chOff x="0" y="0"/>
            <a:chExt cx="4454938" cy="6886702"/>
          </a:xfrm>
        </p:grpSpPr>
        <p:sp>
          <p:nvSpPr>
            <p:cNvPr name="TextBox 55" id="55"/>
            <p:cNvSpPr txBox="true"/>
            <p:nvPr/>
          </p:nvSpPr>
          <p:spPr>
            <a:xfrm rot="0">
              <a:off x="53396" y="1294898"/>
              <a:ext cx="4198342" cy="463550"/>
            </a:xfrm>
            <a:prstGeom prst="rect">
              <a:avLst/>
            </a:prstGeom>
          </p:spPr>
          <p:txBody>
            <a:bodyPr anchor="t" rtlCol="false" tIns="0" lIns="0" bIns="0" rIns="0">
              <a:spAutoFit/>
            </a:bodyPr>
            <a:lstStyle/>
            <a:p>
              <a:pPr algn="ctr">
                <a:lnSpc>
                  <a:spcPts val="2639"/>
                </a:lnSpc>
                <a:spcBef>
                  <a:spcPct val="0"/>
                </a:spcBef>
              </a:pPr>
              <a:r>
                <a:rPr lang="en-US" sz="2199">
                  <a:solidFill>
                    <a:srgbClr val="000000"/>
                  </a:solidFill>
                  <a:latin typeface="Public Sans"/>
                  <a:ea typeface="Public Sans"/>
                  <a:cs typeface="Public Sans"/>
                  <a:sym typeface="Public Sans"/>
                </a:rPr>
                <a:t>QDFPGNDNSTAT..... ...... </a:t>
              </a:r>
            </a:p>
          </p:txBody>
        </p:sp>
        <p:sp>
          <p:nvSpPr>
            <p:cNvPr name="AutoShape 56" id="56"/>
            <p:cNvSpPr/>
            <p:nvPr/>
          </p:nvSpPr>
          <p:spPr>
            <a:xfrm flipH="true">
              <a:off x="1576151" y="2133613"/>
              <a:ext cx="0" cy="3108954"/>
            </a:xfrm>
            <a:prstGeom prst="line">
              <a:avLst/>
            </a:prstGeom>
            <a:ln cap="flat" w="50800">
              <a:solidFill>
                <a:srgbClr val="000000"/>
              </a:solidFill>
              <a:prstDash val="solid"/>
              <a:headEnd type="none" len="sm" w="sm"/>
              <a:tailEnd type="arrow" len="sm" w="med"/>
            </a:ln>
          </p:spPr>
        </p:sp>
        <p:grpSp>
          <p:nvGrpSpPr>
            <p:cNvPr name="Group 57" id="57"/>
            <p:cNvGrpSpPr/>
            <p:nvPr/>
          </p:nvGrpSpPr>
          <p:grpSpPr>
            <a:xfrm rot="0">
              <a:off x="53396" y="0"/>
              <a:ext cx="2961817" cy="1219200"/>
              <a:chOff x="0" y="0"/>
              <a:chExt cx="2961817" cy="1219200"/>
            </a:xfrm>
          </p:grpSpPr>
          <p:sp>
            <p:nvSpPr>
              <p:cNvPr name="Freeform 58" id="58"/>
              <p:cNvSpPr/>
              <p:nvPr/>
            </p:nvSpPr>
            <p:spPr>
              <a:xfrm flipH="false" flipV="false" rot="0">
                <a:off x="0" y="0"/>
                <a:ext cx="2961817" cy="1219200"/>
              </a:xfrm>
              <a:custGeom>
                <a:avLst/>
                <a:gdLst/>
                <a:ahLst/>
                <a:cxnLst/>
                <a:rect r="r" b="b" t="t" l="l"/>
                <a:pathLst>
                  <a:path h="1219200" w="2961817">
                    <a:moveTo>
                      <a:pt x="0" y="0"/>
                    </a:moveTo>
                    <a:lnTo>
                      <a:pt x="2961817" y="0"/>
                    </a:lnTo>
                    <a:lnTo>
                      <a:pt x="2961817" y="1219200"/>
                    </a:lnTo>
                    <a:lnTo>
                      <a:pt x="0" y="1219200"/>
                    </a:lnTo>
                    <a:close/>
                  </a:path>
                </a:pathLst>
              </a:custGeom>
              <a:blipFill>
                <a:blip r:embed="rId3">
                  <a:alphaModFix amt="0"/>
                </a:blip>
                <a:stretch>
                  <a:fillRect l="0" t="-166283" r="-356919" b="-166283"/>
                </a:stretch>
              </a:blipFill>
            </p:spPr>
          </p:sp>
          <p:sp>
            <p:nvSpPr>
              <p:cNvPr name="TextBox 59" id="59"/>
              <p:cNvSpPr txBox="true"/>
              <p:nvPr/>
            </p:nvSpPr>
            <p:spPr>
              <a:xfrm>
                <a:off x="0" y="0"/>
                <a:ext cx="2961817" cy="1219200"/>
              </a:xfrm>
              <a:prstGeom prst="rect">
                <a:avLst/>
              </a:prstGeom>
            </p:spPr>
            <p:txBody>
              <a:bodyPr anchor="ctr" rtlCol="false" tIns="0" lIns="0" bIns="0" rIns="0"/>
              <a:lstStyle/>
              <a:p>
                <a:pPr algn="l">
                  <a:lnSpc>
                    <a:spcPts val="2520"/>
                  </a:lnSpc>
                </a:pPr>
                <a:r>
                  <a:rPr lang="en-US" sz="2100" b="true">
                    <a:solidFill>
                      <a:srgbClr val="000000"/>
                    </a:solidFill>
                    <a:latin typeface="Montserrat Bold"/>
                    <a:ea typeface="Montserrat Bold"/>
                    <a:cs typeface="Montserrat Bold"/>
                    <a:sym typeface="Montserrat Bold"/>
                  </a:rPr>
                  <a:t>Viral Protein Sequence:</a:t>
                </a:r>
              </a:p>
            </p:txBody>
          </p:sp>
        </p:grpSp>
        <p:grpSp>
          <p:nvGrpSpPr>
            <p:cNvPr name="Group 60" id="60"/>
            <p:cNvGrpSpPr/>
            <p:nvPr/>
          </p:nvGrpSpPr>
          <p:grpSpPr>
            <a:xfrm rot="0">
              <a:off x="1998762" y="2967406"/>
              <a:ext cx="2032903" cy="1219200"/>
              <a:chOff x="0" y="0"/>
              <a:chExt cx="2032903" cy="1219200"/>
            </a:xfrm>
          </p:grpSpPr>
          <p:sp>
            <p:nvSpPr>
              <p:cNvPr name="Freeform 61" id="61"/>
              <p:cNvSpPr/>
              <p:nvPr/>
            </p:nvSpPr>
            <p:spPr>
              <a:xfrm flipH="false" flipV="false" rot="0">
                <a:off x="0" y="0"/>
                <a:ext cx="2032903" cy="1219200"/>
              </a:xfrm>
              <a:custGeom>
                <a:avLst/>
                <a:gdLst/>
                <a:ahLst/>
                <a:cxnLst/>
                <a:rect r="r" b="b" t="t" l="l"/>
                <a:pathLst>
                  <a:path h="1219200" w="2032903">
                    <a:moveTo>
                      <a:pt x="0" y="0"/>
                    </a:moveTo>
                    <a:lnTo>
                      <a:pt x="2032903" y="0"/>
                    </a:lnTo>
                    <a:lnTo>
                      <a:pt x="2032903" y="1219200"/>
                    </a:lnTo>
                    <a:lnTo>
                      <a:pt x="0" y="1219200"/>
                    </a:lnTo>
                    <a:close/>
                  </a:path>
                </a:pathLst>
              </a:custGeom>
              <a:blipFill>
                <a:blip r:embed="rId3">
                  <a:alphaModFix amt="0"/>
                </a:blip>
                <a:stretch>
                  <a:fillRect l="0" t="-166283" r="-565704" b="-166283"/>
                </a:stretch>
              </a:blipFill>
            </p:spPr>
          </p:sp>
          <p:sp>
            <p:nvSpPr>
              <p:cNvPr name="TextBox 62" id="62"/>
              <p:cNvSpPr txBox="true"/>
              <p:nvPr/>
            </p:nvSpPr>
            <p:spPr>
              <a:xfrm>
                <a:off x="0" y="0"/>
                <a:ext cx="2032903" cy="1219200"/>
              </a:xfrm>
              <a:prstGeom prst="rect">
                <a:avLst/>
              </a:prstGeom>
            </p:spPr>
            <p:txBody>
              <a:bodyPr anchor="ctr" rtlCol="false" tIns="0" lIns="0" bIns="0" rIns="0"/>
              <a:lstStyle/>
              <a:p>
                <a:pPr algn="l">
                  <a:lnSpc>
                    <a:spcPts val="2520"/>
                  </a:lnSpc>
                </a:pPr>
                <a:r>
                  <a:rPr lang="en-US" sz="2100" b="true">
                    <a:solidFill>
                      <a:srgbClr val="000000"/>
                    </a:solidFill>
                    <a:latin typeface="Montserrat Bold"/>
                    <a:ea typeface="Montserrat Bold"/>
                    <a:cs typeface="Montserrat Bold"/>
                    <a:sym typeface="Montserrat Bold"/>
                  </a:rPr>
                  <a:t>ESM2 Model</a:t>
                </a:r>
              </a:p>
            </p:txBody>
          </p:sp>
        </p:grpSp>
        <p:sp>
          <p:nvSpPr>
            <p:cNvPr name="TextBox 63" id="63"/>
            <p:cNvSpPr txBox="true"/>
            <p:nvPr/>
          </p:nvSpPr>
          <p:spPr>
            <a:xfrm rot="0">
              <a:off x="0" y="6423152"/>
              <a:ext cx="4454938" cy="463550"/>
            </a:xfrm>
            <a:prstGeom prst="rect">
              <a:avLst/>
            </a:prstGeom>
          </p:spPr>
          <p:txBody>
            <a:bodyPr anchor="t" rtlCol="false" tIns="0" lIns="0" bIns="0" rIns="0">
              <a:spAutoFit/>
            </a:bodyPr>
            <a:lstStyle/>
            <a:p>
              <a:pPr algn="ctr">
                <a:lnSpc>
                  <a:spcPts val="2639"/>
                </a:lnSpc>
                <a:spcBef>
                  <a:spcPct val="0"/>
                </a:spcBef>
              </a:pPr>
              <a:r>
                <a:rPr lang="en-US" sz="2199">
                  <a:solidFill>
                    <a:srgbClr val="000000"/>
                  </a:solidFill>
                  <a:latin typeface="Public Sans"/>
                  <a:ea typeface="Public Sans"/>
                  <a:cs typeface="Public Sans"/>
                  <a:sym typeface="Public Sans"/>
                </a:rPr>
                <a:t>[x, y, z, ..., ..., ..., ..., ..., ... ...]</a:t>
              </a:r>
            </a:p>
          </p:txBody>
        </p:sp>
        <p:grpSp>
          <p:nvGrpSpPr>
            <p:cNvPr name="Group 64" id="64"/>
            <p:cNvGrpSpPr/>
            <p:nvPr/>
          </p:nvGrpSpPr>
          <p:grpSpPr>
            <a:xfrm rot="0">
              <a:off x="53396" y="5584952"/>
              <a:ext cx="2961817" cy="928914"/>
              <a:chOff x="0" y="0"/>
              <a:chExt cx="2961817" cy="928914"/>
            </a:xfrm>
          </p:grpSpPr>
          <p:sp>
            <p:nvSpPr>
              <p:cNvPr name="Freeform 65" id="65"/>
              <p:cNvSpPr/>
              <p:nvPr/>
            </p:nvSpPr>
            <p:spPr>
              <a:xfrm flipH="false" flipV="false" rot="0">
                <a:off x="0" y="0"/>
                <a:ext cx="2961817" cy="928914"/>
              </a:xfrm>
              <a:custGeom>
                <a:avLst/>
                <a:gdLst/>
                <a:ahLst/>
                <a:cxnLst/>
                <a:rect r="r" b="b" t="t" l="l"/>
                <a:pathLst>
                  <a:path h="928914" w="2961817">
                    <a:moveTo>
                      <a:pt x="0" y="0"/>
                    </a:moveTo>
                    <a:lnTo>
                      <a:pt x="2961817" y="0"/>
                    </a:lnTo>
                    <a:lnTo>
                      <a:pt x="2961817" y="928914"/>
                    </a:lnTo>
                    <a:lnTo>
                      <a:pt x="0" y="928914"/>
                    </a:lnTo>
                    <a:close/>
                  </a:path>
                </a:pathLst>
              </a:custGeom>
              <a:blipFill>
                <a:blip r:embed="rId3">
                  <a:alphaModFix amt="0"/>
                </a:blip>
                <a:stretch>
                  <a:fillRect l="0" t="-218247" r="-356919" b="-249497"/>
                </a:stretch>
              </a:blipFill>
            </p:spPr>
          </p:sp>
          <p:sp>
            <p:nvSpPr>
              <p:cNvPr name="TextBox 66" id="66"/>
              <p:cNvSpPr txBox="true"/>
              <p:nvPr/>
            </p:nvSpPr>
            <p:spPr>
              <a:xfrm>
                <a:off x="0" y="0"/>
                <a:ext cx="2961817" cy="928914"/>
              </a:xfrm>
              <a:prstGeom prst="rect">
                <a:avLst/>
              </a:prstGeom>
            </p:spPr>
            <p:txBody>
              <a:bodyPr anchor="ctr" rtlCol="false" tIns="0" lIns="0" bIns="0" rIns="0"/>
              <a:lstStyle/>
              <a:p>
                <a:pPr algn="l">
                  <a:lnSpc>
                    <a:spcPts val="2520"/>
                  </a:lnSpc>
                </a:pPr>
                <a:r>
                  <a:rPr lang="en-US" sz="2100" b="true">
                    <a:solidFill>
                      <a:srgbClr val="000000"/>
                    </a:solidFill>
                    <a:latin typeface="Montserrat Bold"/>
                    <a:ea typeface="Montserrat Bold"/>
                    <a:cs typeface="Montserrat Bold"/>
                    <a:sym typeface="Montserrat Bold"/>
                  </a:rPr>
                  <a:t>Vector:</a:t>
                </a:r>
              </a:p>
            </p:txBody>
          </p:sp>
        </p:grpSp>
      </p:grpSp>
      <p:grpSp>
        <p:nvGrpSpPr>
          <p:cNvPr name="Group 67" id="67"/>
          <p:cNvGrpSpPr/>
          <p:nvPr/>
        </p:nvGrpSpPr>
        <p:grpSpPr>
          <a:xfrm rot="0">
            <a:off x="10628369" y="2970955"/>
            <a:ext cx="3599613" cy="2726874"/>
            <a:chOff x="0" y="0"/>
            <a:chExt cx="4799484" cy="3635832"/>
          </a:xfrm>
        </p:grpSpPr>
        <p:sp>
          <p:nvSpPr>
            <p:cNvPr name="AutoShape 68" id="68"/>
            <p:cNvSpPr/>
            <p:nvPr/>
          </p:nvSpPr>
          <p:spPr>
            <a:xfrm flipV="true">
              <a:off x="22033" y="31336"/>
              <a:ext cx="2058613" cy="3589008"/>
            </a:xfrm>
            <a:prstGeom prst="line">
              <a:avLst/>
            </a:prstGeom>
            <a:ln cap="flat" w="50800">
              <a:solidFill>
                <a:srgbClr val="000000"/>
              </a:solidFill>
              <a:prstDash val="sysDot"/>
              <a:headEnd type="none" len="sm" w="sm"/>
              <a:tailEnd type="none" len="sm" w="sm"/>
            </a:ln>
          </p:spPr>
        </p:sp>
        <p:sp>
          <p:nvSpPr>
            <p:cNvPr name="AutoShape 69" id="69"/>
            <p:cNvSpPr/>
            <p:nvPr/>
          </p:nvSpPr>
          <p:spPr>
            <a:xfrm flipV="true">
              <a:off x="22039" y="944289"/>
              <a:ext cx="2058607" cy="2676055"/>
            </a:xfrm>
            <a:prstGeom prst="line">
              <a:avLst/>
            </a:prstGeom>
            <a:ln cap="flat" w="50800">
              <a:solidFill>
                <a:srgbClr val="000000"/>
              </a:solidFill>
              <a:prstDash val="sysDot"/>
              <a:headEnd type="none" len="sm" w="sm"/>
              <a:tailEnd type="none" len="sm" w="sm"/>
            </a:ln>
          </p:spPr>
        </p:sp>
        <p:grpSp>
          <p:nvGrpSpPr>
            <p:cNvPr name="Group 70" id="70"/>
            <p:cNvGrpSpPr/>
            <p:nvPr/>
          </p:nvGrpSpPr>
          <p:grpSpPr>
            <a:xfrm rot="0">
              <a:off x="2080646" y="0"/>
              <a:ext cx="2718838" cy="944289"/>
              <a:chOff x="0" y="0"/>
              <a:chExt cx="4768328" cy="1656105"/>
            </a:xfrm>
          </p:grpSpPr>
          <p:sp>
            <p:nvSpPr>
              <p:cNvPr name="Freeform 71" id="71"/>
              <p:cNvSpPr/>
              <p:nvPr/>
            </p:nvSpPr>
            <p:spPr>
              <a:xfrm flipH="false" flipV="false" rot="0">
                <a:off x="0" y="0"/>
                <a:ext cx="4768328" cy="1656105"/>
              </a:xfrm>
              <a:custGeom>
                <a:avLst/>
                <a:gdLst/>
                <a:ahLst/>
                <a:cxnLst/>
                <a:rect r="r" b="b" t="t" l="l"/>
                <a:pathLst>
                  <a:path h="1656105" w="4768328">
                    <a:moveTo>
                      <a:pt x="0" y="0"/>
                    </a:moveTo>
                    <a:lnTo>
                      <a:pt x="4768328" y="0"/>
                    </a:lnTo>
                    <a:lnTo>
                      <a:pt x="4768328" y="1656105"/>
                    </a:lnTo>
                    <a:lnTo>
                      <a:pt x="0" y="1656105"/>
                    </a:lnTo>
                    <a:close/>
                  </a:path>
                </a:pathLst>
              </a:custGeom>
              <a:blipFill>
                <a:blip r:embed="rId3">
                  <a:alphaModFix amt="0"/>
                </a:blip>
                <a:stretch>
                  <a:fillRect l="0" t="-122415" r="-183812" b="-96034"/>
                </a:stretch>
              </a:blipFill>
            </p:spPr>
          </p:sp>
          <p:sp>
            <p:nvSpPr>
              <p:cNvPr name="TextBox 72" id="72"/>
              <p:cNvSpPr txBox="true"/>
              <p:nvPr/>
            </p:nvSpPr>
            <p:spPr>
              <a:xfrm>
                <a:off x="0" y="0"/>
                <a:ext cx="4768328" cy="1656105"/>
              </a:xfrm>
              <a:prstGeom prst="rect">
                <a:avLst/>
              </a:prstGeom>
            </p:spPr>
            <p:txBody>
              <a:bodyPr anchor="ctr" rtlCol="false" tIns="0" lIns="0" bIns="0" rIns="0"/>
              <a:lstStyle/>
              <a:p>
                <a:pPr algn="l">
                  <a:lnSpc>
                    <a:spcPts val="2759"/>
                  </a:lnSpc>
                </a:pPr>
                <a:r>
                  <a:rPr lang="en-US" b="true" sz="2299" u="sng">
                    <a:solidFill>
                      <a:srgbClr val="000000"/>
                    </a:solidFill>
                    <a:latin typeface="Montserrat Bold"/>
                    <a:ea typeface="Montserrat Bold"/>
                    <a:cs typeface="Montserrat Bold"/>
                    <a:sym typeface="Montserrat Bold"/>
                  </a:rPr>
                  <a:t>Wu</a:t>
                </a:r>
                <a:r>
                  <a:rPr lang="en-US" sz="2299">
                    <a:solidFill>
                      <a:srgbClr val="000000"/>
                    </a:solidFill>
                    <a:latin typeface="Montserrat"/>
                    <a:ea typeface="Montserrat"/>
                    <a:cs typeface="Montserrat"/>
                    <a:sym typeface="Montserrat"/>
                  </a:rPr>
                  <a:t>han 19</a:t>
                </a:r>
                <a:r>
                  <a:rPr lang="en-US" b="true" sz="2299" u="sng">
                    <a:solidFill>
                      <a:srgbClr val="000000"/>
                    </a:solidFill>
                    <a:latin typeface="Montserrat Bold"/>
                    <a:ea typeface="Montserrat Bold"/>
                    <a:cs typeface="Montserrat Bold"/>
                    <a:sym typeface="Montserrat Bold"/>
                  </a:rPr>
                  <a:t>95</a:t>
                </a:r>
              </a:p>
            </p:txBody>
          </p:sp>
        </p:gr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DFAF5"/>
        </a:solidFill>
      </p:bgPr>
    </p:bg>
    <p:spTree>
      <p:nvGrpSpPr>
        <p:cNvPr id="1" name=""/>
        <p:cNvGrpSpPr/>
        <p:nvPr/>
      </p:nvGrpSpPr>
      <p:grpSpPr>
        <a:xfrm>
          <a:off x="0" y="0"/>
          <a:ext cx="0" cy="0"/>
          <a:chOff x="0" y="0"/>
          <a:chExt cx="0" cy="0"/>
        </a:xfrm>
      </p:grpSpPr>
      <p:grpSp>
        <p:nvGrpSpPr>
          <p:cNvPr name="Group 2" id="2"/>
          <p:cNvGrpSpPr/>
          <p:nvPr/>
        </p:nvGrpSpPr>
        <p:grpSpPr>
          <a:xfrm rot="0">
            <a:off x="1097280" y="822960"/>
            <a:ext cx="15228626" cy="1279601"/>
            <a:chOff x="0" y="0"/>
            <a:chExt cx="20304835" cy="1706135"/>
          </a:xfrm>
        </p:grpSpPr>
        <p:sp>
          <p:nvSpPr>
            <p:cNvPr name="Freeform 3" id="3"/>
            <p:cNvSpPr/>
            <p:nvPr/>
          </p:nvSpPr>
          <p:spPr>
            <a:xfrm flipH="false" flipV="false" rot="0">
              <a:off x="0" y="0"/>
              <a:ext cx="20304835" cy="1706135"/>
            </a:xfrm>
            <a:custGeom>
              <a:avLst/>
              <a:gdLst/>
              <a:ahLst/>
              <a:cxnLst/>
              <a:rect r="r" b="b" t="t" l="l"/>
              <a:pathLst>
                <a:path h="1706135" w="20304835">
                  <a:moveTo>
                    <a:pt x="0" y="0"/>
                  </a:moveTo>
                  <a:lnTo>
                    <a:pt x="20304835" y="0"/>
                  </a:lnTo>
                  <a:lnTo>
                    <a:pt x="20304835" y="1706135"/>
                  </a:lnTo>
                  <a:lnTo>
                    <a:pt x="0" y="1706135"/>
                  </a:lnTo>
                  <a:close/>
                </a:path>
              </a:pathLst>
            </a:custGeom>
            <a:blipFill>
              <a:blip r:embed="rId3">
                <a:alphaModFix amt="0"/>
              </a:blip>
              <a:stretch>
                <a:fillRect l="0" t="-176334" r="3928" b="-169232"/>
              </a:stretch>
            </a:blipFill>
          </p:spPr>
        </p:sp>
        <p:sp>
          <p:nvSpPr>
            <p:cNvPr name="TextBox 4" id="4"/>
            <p:cNvSpPr txBox="true"/>
            <p:nvPr/>
          </p:nvSpPr>
          <p:spPr>
            <a:xfrm>
              <a:off x="0" y="0"/>
              <a:ext cx="20304835" cy="1706135"/>
            </a:xfrm>
            <a:prstGeom prst="rect">
              <a:avLst/>
            </a:prstGeom>
          </p:spPr>
          <p:txBody>
            <a:bodyPr anchor="ctr" rtlCol="false" tIns="0" lIns="0" bIns="0" rIns="0"/>
            <a:lstStyle/>
            <a:p>
              <a:pPr algn="l">
                <a:lnSpc>
                  <a:spcPts val="7680"/>
                </a:lnSpc>
              </a:pPr>
              <a:r>
                <a:rPr lang="en-US" sz="6400" b="true">
                  <a:solidFill>
                    <a:srgbClr val="6B4F3A"/>
                  </a:solidFill>
                  <a:latin typeface="Montserrat Bold"/>
                  <a:ea typeface="Montserrat Bold"/>
                  <a:cs typeface="Montserrat Bold"/>
                  <a:sym typeface="Montserrat Bold"/>
                </a:rPr>
                <a:t>PCA of ESM Embeddings</a:t>
              </a:r>
            </a:p>
          </p:txBody>
        </p:sp>
      </p:grpSp>
      <p:grpSp>
        <p:nvGrpSpPr>
          <p:cNvPr name="Group 5" id="5"/>
          <p:cNvGrpSpPr/>
          <p:nvPr/>
        </p:nvGrpSpPr>
        <p:grpSpPr>
          <a:xfrm rot="0">
            <a:off x="1097280" y="1975104"/>
            <a:ext cx="14630400" cy="730787"/>
            <a:chOff x="0" y="0"/>
            <a:chExt cx="19507200" cy="974383"/>
          </a:xfrm>
        </p:grpSpPr>
        <p:sp>
          <p:nvSpPr>
            <p:cNvPr name="Freeform 6" id="6"/>
            <p:cNvSpPr/>
            <p:nvPr/>
          </p:nvSpPr>
          <p:spPr>
            <a:xfrm flipH="false" flipV="false" rot="0">
              <a:off x="0" y="0"/>
              <a:ext cx="19507200" cy="974383"/>
            </a:xfrm>
            <a:custGeom>
              <a:avLst/>
              <a:gdLst/>
              <a:ahLst/>
              <a:cxnLst/>
              <a:rect r="r" b="b" t="t" l="l"/>
              <a:pathLst>
                <a:path h="974383" w="19507200">
                  <a:moveTo>
                    <a:pt x="0" y="0"/>
                  </a:moveTo>
                  <a:lnTo>
                    <a:pt x="19507200" y="0"/>
                  </a:lnTo>
                  <a:lnTo>
                    <a:pt x="19507200" y="974383"/>
                  </a:lnTo>
                  <a:lnTo>
                    <a:pt x="0" y="974383"/>
                  </a:lnTo>
                  <a:close/>
                </a:path>
              </a:pathLst>
            </a:custGeom>
            <a:blipFill>
              <a:blip r:embed="rId3">
                <a:alphaModFix amt="0"/>
              </a:blip>
              <a:stretch>
                <a:fillRect l="0" t="-342543" r="0" b="-337639"/>
              </a:stretch>
            </a:blipFill>
          </p:spPr>
        </p:sp>
        <p:sp>
          <p:nvSpPr>
            <p:cNvPr name="TextBox 7" id="7"/>
            <p:cNvSpPr txBox="true"/>
            <p:nvPr/>
          </p:nvSpPr>
          <p:spPr>
            <a:xfrm>
              <a:off x="0" y="9525"/>
              <a:ext cx="19507200" cy="964858"/>
            </a:xfrm>
            <a:prstGeom prst="rect">
              <a:avLst/>
            </a:prstGeom>
          </p:spPr>
          <p:txBody>
            <a:bodyPr anchor="ctr" rtlCol="false" tIns="0" lIns="0" bIns="0" rIns="0"/>
            <a:lstStyle/>
            <a:p>
              <a:pPr algn="l">
                <a:lnSpc>
                  <a:spcPts val="3599"/>
                </a:lnSpc>
              </a:pPr>
              <a:r>
                <a:rPr lang="en-US" sz="2999">
                  <a:solidFill>
                    <a:srgbClr val="000000"/>
                  </a:solidFill>
                  <a:latin typeface="Montserrat"/>
                  <a:ea typeface="Montserrat"/>
                  <a:cs typeface="Montserrat"/>
                  <a:sym typeface="Montserrat"/>
                </a:rPr>
                <a:t>ESM embeddings capture rich representations </a:t>
              </a:r>
            </a:p>
          </p:txBody>
        </p:sp>
      </p:grpSp>
      <p:sp>
        <p:nvSpPr>
          <p:cNvPr name="Freeform 8" id="8"/>
          <p:cNvSpPr/>
          <p:nvPr/>
        </p:nvSpPr>
        <p:spPr>
          <a:xfrm flipH="false" flipV="false" rot="0">
            <a:off x="1144844" y="2705891"/>
            <a:ext cx="9007044" cy="7205635"/>
          </a:xfrm>
          <a:custGeom>
            <a:avLst/>
            <a:gdLst/>
            <a:ahLst/>
            <a:cxnLst/>
            <a:rect r="r" b="b" t="t" l="l"/>
            <a:pathLst>
              <a:path h="7205635" w="9007044">
                <a:moveTo>
                  <a:pt x="0" y="0"/>
                </a:moveTo>
                <a:lnTo>
                  <a:pt x="9007044" y="0"/>
                </a:lnTo>
                <a:lnTo>
                  <a:pt x="9007044" y="7205635"/>
                </a:lnTo>
                <a:lnTo>
                  <a:pt x="0" y="7205635"/>
                </a:lnTo>
                <a:lnTo>
                  <a:pt x="0" y="0"/>
                </a:lnTo>
                <a:close/>
              </a:path>
            </a:pathLst>
          </a:custGeom>
          <a:blipFill>
            <a:blip r:embed="rId4"/>
            <a:stretch>
              <a:fillRect l="0" t="0" r="0" b="0"/>
            </a:stretch>
          </a:blipFill>
        </p:spPr>
      </p:sp>
      <p:grpSp>
        <p:nvGrpSpPr>
          <p:cNvPr name="Group 9" id="9"/>
          <p:cNvGrpSpPr/>
          <p:nvPr/>
        </p:nvGrpSpPr>
        <p:grpSpPr>
          <a:xfrm rot="0">
            <a:off x="10456387" y="2705891"/>
            <a:ext cx="7831613" cy="6516132"/>
            <a:chOff x="0" y="0"/>
            <a:chExt cx="10442151" cy="8688175"/>
          </a:xfrm>
        </p:grpSpPr>
        <p:sp>
          <p:nvSpPr>
            <p:cNvPr name="Freeform 10" id="10"/>
            <p:cNvSpPr/>
            <p:nvPr/>
          </p:nvSpPr>
          <p:spPr>
            <a:xfrm flipH="false" flipV="false" rot="0">
              <a:off x="0" y="0"/>
              <a:ext cx="10442151" cy="5221075"/>
            </a:xfrm>
            <a:custGeom>
              <a:avLst/>
              <a:gdLst/>
              <a:ahLst/>
              <a:cxnLst/>
              <a:rect r="r" b="b" t="t" l="l"/>
              <a:pathLst>
                <a:path h="5221075" w="10442151">
                  <a:moveTo>
                    <a:pt x="0" y="0"/>
                  </a:moveTo>
                  <a:lnTo>
                    <a:pt x="10442151" y="0"/>
                  </a:lnTo>
                  <a:lnTo>
                    <a:pt x="10442151" y="5221075"/>
                  </a:lnTo>
                  <a:lnTo>
                    <a:pt x="0" y="5221075"/>
                  </a:lnTo>
                  <a:lnTo>
                    <a:pt x="0" y="0"/>
                  </a:lnTo>
                  <a:close/>
                </a:path>
              </a:pathLst>
            </a:custGeom>
            <a:blipFill>
              <a:blip r:embed="rId5"/>
              <a:stretch>
                <a:fillRect l="0" t="0" r="0" b="0"/>
              </a:stretch>
            </a:blipFill>
          </p:spPr>
        </p:sp>
        <p:sp>
          <p:nvSpPr>
            <p:cNvPr name="TextBox 11" id="11"/>
            <p:cNvSpPr txBox="true"/>
            <p:nvPr/>
          </p:nvSpPr>
          <p:spPr>
            <a:xfrm rot="0">
              <a:off x="684876" y="6021175"/>
              <a:ext cx="4035285" cy="1778000"/>
            </a:xfrm>
            <a:prstGeom prst="rect">
              <a:avLst/>
            </a:prstGeom>
          </p:spPr>
          <p:txBody>
            <a:bodyPr anchor="t" rtlCol="false" tIns="0" lIns="0" bIns="0" rIns="0">
              <a:spAutoFit/>
            </a:bodyPr>
            <a:lstStyle/>
            <a:p>
              <a:pPr algn="l">
                <a:lnSpc>
                  <a:spcPts val="2639"/>
                </a:lnSpc>
                <a:spcBef>
                  <a:spcPct val="0"/>
                </a:spcBef>
              </a:pPr>
              <a:r>
                <a:rPr lang="en-US" b="true" sz="2199">
                  <a:solidFill>
                    <a:srgbClr val="000000"/>
                  </a:solidFill>
                  <a:latin typeface="Montserrat Bold"/>
                  <a:ea typeface="Montserrat Bold"/>
                  <a:cs typeface="Montserrat Bold"/>
                  <a:sym typeface="Montserrat Bold"/>
                </a:rPr>
                <a:t>Explained va</a:t>
              </a:r>
              <a:r>
                <a:rPr lang="en-US" b="true" sz="2199">
                  <a:solidFill>
                    <a:srgbClr val="000000"/>
                  </a:solidFill>
                  <a:latin typeface="Montserrat Bold"/>
                  <a:ea typeface="Montserrat Bold"/>
                  <a:cs typeface="Montserrat Bold"/>
                  <a:sym typeface="Montserrat Bold"/>
                </a:rPr>
                <a:t>riance</a:t>
              </a:r>
              <a:r>
                <a:rPr lang="en-US" sz="2199">
                  <a:solidFill>
                    <a:srgbClr val="000000"/>
                  </a:solidFill>
                  <a:latin typeface="Montserrat"/>
                  <a:ea typeface="Montserrat"/>
                  <a:cs typeface="Montserrat"/>
                  <a:sym typeface="Montserrat"/>
                </a:rPr>
                <a:t>: </a:t>
              </a:r>
            </a:p>
            <a:p>
              <a:pPr algn="l" marL="474979" indent="-237490" lvl="1">
                <a:lnSpc>
                  <a:spcPts val="2639"/>
                </a:lnSpc>
                <a:spcBef>
                  <a:spcPct val="0"/>
                </a:spcBef>
                <a:buFont typeface="Arial"/>
                <a:buChar char="•"/>
              </a:pPr>
              <a:r>
                <a:rPr lang="en-US" sz="2199">
                  <a:solidFill>
                    <a:srgbClr val="000000"/>
                  </a:solidFill>
                  <a:latin typeface="Montserrat"/>
                  <a:ea typeface="Montserrat"/>
                  <a:cs typeface="Montserrat"/>
                  <a:sym typeface="Montserrat"/>
                </a:rPr>
                <a:t>PC1: 0.3431</a:t>
              </a:r>
            </a:p>
            <a:p>
              <a:pPr algn="l" marL="474979" indent="-237490" lvl="1">
                <a:lnSpc>
                  <a:spcPts val="2639"/>
                </a:lnSpc>
                <a:spcBef>
                  <a:spcPct val="0"/>
                </a:spcBef>
                <a:buFont typeface="Arial"/>
                <a:buChar char="•"/>
              </a:pPr>
              <a:r>
                <a:rPr lang="en-US" sz="2199">
                  <a:solidFill>
                    <a:srgbClr val="000000"/>
                  </a:solidFill>
                  <a:latin typeface="Montserrat"/>
                  <a:ea typeface="Montserrat"/>
                  <a:cs typeface="Montserrat"/>
                  <a:sym typeface="Montserrat"/>
                </a:rPr>
                <a:t>PC2: 0.1503</a:t>
              </a:r>
            </a:p>
            <a:p>
              <a:pPr algn="l" marL="474979" indent="-237490" lvl="1">
                <a:lnSpc>
                  <a:spcPts val="2639"/>
                </a:lnSpc>
                <a:spcBef>
                  <a:spcPct val="0"/>
                </a:spcBef>
                <a:buFont typeface="Arial"/>
                <a:buChar char="•"/>
              </a:pPr>
              <a:r>
                <a:rPr lang="en-US" sz="2199">
                  <a:solidFill>
                    <a:srgbClr val="000000"/>
                  </a:solidFill>
                  <a:latin typeface="Montserrat"/>
                  <a:ea typeface="Montserrat"/>
                  <a:cs typeface="Montserrat"/>
                  <a:sym typeface="Montserrat"/>
                </a:rPr>
                <a:t>PC1+PC2: 0.4934</a:t>
              </a:r>
            </a:p>
          </p:txBody>
        </p:sp>
        <p:sp>
          <p:nvSpPr>
            <p:cNvPr name="TextBox 12" id="12"/>
            <p:cNvSpPr txBox="true"/>
            <p:nvPr/>
          </p:nvSpPr>
          <p:spPr>
            <a:xfrm rot="0">
              <a:off x="5811035" y="6021175"/>
              <a:ext cx="4035285" cy="2667000"/>
            </a:xfrm>
            <a:prstGeom prst="rect">
              <a:avLst/>
            </a:prstGeom>
          </p:spPr>
          <p:txBody>
            <a:bodyPr anchor="t" rtlCol="false" tIns="0" lIns="0" bIns="0" rIns="0">
              <a:spAutoFit/>
            </a:bodyPr>
            <a:lstStyle/>
            <a:p>
              <a:pPr algn="l">
                <a:lnSpc>
                  <a:spcPts val="2639"/>
                </a:lnSpc>
                <a:spcBef>
                  <a:spcPct val="0"/>
                </a:spcBef>
              </a:pPr>
              <a:r>
                <a:rPr lang="en-US" b="true" sz="2199">
                  <a:solidFill>
                    <a:srgbClr val="000000"/>
                  </a:solidFill>
                  <a:latin typeface="Montserrat Bold"/>
                  <a:ea typeface="Montserrat Bold"/>
                  <a:cs typeface="Montserrat Bold"/>
                  <a:sym typeface="Montserrat Bold"/>
                </a:rPr>
                <a:t>Cumulative variance thresholds</a:t>
              </a:r>
              <a:r>
                <a:rPr lang="en-US" sz="2199">
                  <a:solidFill>
                    <a:srgbClr val="000000"/>
                  </a:solidFill>
                  <a:latin typeface="Montserrat"/>
                  <a:ea typeface="Montserrat"/>
                  <a:cs typeface="Montserrat"/>
                  <a:sym typeface="Montserrat"/>
                </a:rPr>
                <a:t>:</a:t>
              </a:r>
            </a:p>
            <a:p>
              <a:pPr algn="l" marL="474979" indent="-237490" lvl="1">
                <a:lnSpc>
                  <a:spcPts val="2639"/>
                </a:lnSpc>
                <a:spcBef>
                  <a:spcPct val="0"/>
                </a:spcBef>
                <a:buFont typeface="Arial"/>
                <a:buChar char="•"/>
              </a:pPr>
              <a:r>
                <a:rPr lang="en-US" sz="2199">
                  <a:solidFill>
                    <a:srgbClr val="000000"/>
                  </a:solidFill>
                  <a:latin typeface="Montserrat"/>
                  <a:ea typeface="Montserrat"/>
                  <a:cs typeface="Montserrat"/>
                  <a:sym typeface="Montserrat"/>
                </a:rPr>
                <a:t>80% at PC7</a:t>
              </a:r>
            </a:p>
            <a:p>
              <a:pPr algn="l" marL="474979" indent="-237490" lvl="1">
                <a:lnSpc>
                  <a:spcPts val="2639"/>
                </a:lnSpc>
                <a:spcBef>
                  <a:spcPct val="0"/>
                </a:spcBef>
                <a:buFont typeface="Arial"/>
                <a:buChar char="•"/>
              </a:pPr>
              <a:r>
                <a:rPr lang="en-US" sz="2199">
                  <a:solidFill>
                    <a:srgbClr val="000000"/>
                  </a:solidFill>
                  <a:latin typeface="Montserrat"/>
                  <a:ea typeface="Montserrat"/>
                  <a:cs typeface="Montserrat"/>
                  <a:sym typeface="Montserrat"/>
                </a:rPr>
                <a:t>90% at PC13</a:t>
              </a:r>
            </a:p>
            <a:p>
              <a:pPr algn="l" marL="474979" indent="-237490" lvl="1">
                <a:lnSpc>
                  <a:spcPts val="2639"/>
                </a:lnSpc>
                <a:spcBef>
                  <a:spcPct val="0"/>
                </a:spcBef>
                <a:buFont typeface="Arial"/>
                <a:buChar char="•"/>
              </a:pPr>
              <a:r>
                <a:rPr lang="en-US" sz="2199">
                  <a:solidFill>
                    <a:srgbClr val="000000"/>
                  </a:solidFill>
                  <a:latin typeface="Montserrat"/>
                  <a:ea typeface="Montserrat"/>
                  <a:cs typeface="Montserrat"/>
                  <a:sym typeface="Montserrat"/>
                </a:rPr>
                <a:t>95% at </a:t>
              </a:r>
              <a:r>
                <a:rPr lang="en-US" sz="2199">
                  <a:solidFill>
                    <a:srgbClr val="000000"/>
                  </a:solidFill>
                  <a:latin typeface="Montserrat"/>
                  <a:ea typeface="Montserrat"/>
                  <a:cs typeface="Montserrat"/>
                  <a:sym typeface="Montserrat"/>
                </a:rPr>
                <a:t>PC22</a:t>
              </a:r>
            </a:p>
            <a:p>
              <a:pPr algn="l" marL="474979" indent="-237490" lvl="1">
                <a:lnSpc>
                  <a:spcPts val="2639"/>
                </a:lnSpc>
                <a:spcBef>
                  <a:spcPct val="0"/>
                </a:spcBef>
                <a:buFont typeface="Arial"/>
                <a:buChar char="•"/>
              </a:pPr>
              <a:r>
                <a:rPr lang="en-US" sz="2199">
                  <a:solidFill>
                    <a:srgbClr val="000000"/>
                  </a:solidFill>
                  <a:latin typeface="Montserrat"/>
                  <a:ea typeface="Montserrat"/>
                  <a:cs typeface="Montserrat"/>
                  <a:sym typeface="Montserrat"/>
                </a:rPr>
                <a:t>99% at PC47</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DFAF5"/>
        </a:solidFill>
      </p:bgPr>
    </p:bg>
    <p:spTree>
      <p:nvGrpSpPr>
        <p:cNvPr id="1" name=""/>
        <p:cNvGrpSpPr/>
        <p:nvPr/>
      </p:nvGrpSpPr>
      <p:grpSpPr>
        <a:xfrm>
          <a:off x="0" y="0"/>
          <a:ext cx="0" cy="0"/>
          <a:chOff x="0" y="0"/>
          <a:chExt cx="0" cy="0"/>
        </a:xfrm>
      </p:grpSpPr>
      <p:grpSp>
        <p:nvGrpSpPr>
          <p:cNvPr name="Group 2" id="2"/>
          <p:cNvGrpSpPr/>
          <p:nvPr/>
        </p:nvGrpSpPr>
        <p:grpSpPr>
          <a:xfrm rot="0">
            <a:off x="1097280" y="822960"/>
            <a:ext cx="15228626" cy="1279601"/>
            <a:chOff x="0" y="0"/>
            <a:chExt cx="20304835" cy="1706135"/>
          </a:xfrm>
        </p:grpSpPr>
        <p:sp>
          <p:nvSpPr>
            <p:cNvPr name="Freeform 3" id="3"/>
            <p:cNvSpPr/>
            <p:nvPr/>
          </p:nvSpPr>
          <p:spPr>
            <a:xfrm flipH="false" flipV="false" rot="0">
              <a:off x="0" y="0"/>
              <a:ext cx="20304835" cy="1706135"/>
            </a:xfrm>
            <a:custGeom>
              <a:avLst/>
              <a:gdLst/>
              <a:ahLst/>
              <a:cxnLst/>
              <a:rect r="r" b="b" t="t" l="l"/>
              <a:pathLst>
                <a:path h="1706135" w="20304835">
                  <a:moveTo>
                    <a:pt x="0" y="0"/>
                  </a:moveTo>
                  <a:lnTo>
                    <a:pt x="20304835" y="0"/>
                  </a:lnTo>
                  <a:lnTo>
                    <a:pt x="20304835" y="1706135"/>
                  </a:lnTo>
                  <a:lnTo>
                    <a:pt x="0" y="1706135"/>
                  </a:lnTo>
                  <a:close/>
                </a:path>
              </a:pathLst>
            </a:custGeom>
            <a:blipFill>
              <a:blip r:embed="rId3">
                <a:alphaModFix amt="0"/>
              </a:blip>
              <a:stretch>
                <a:fillRect l="0" t="-176334" r="3928" b="-169232"/>
              </a:stretch>
            </a:blipFill>
          </p:spPr>
        </p:sp>
        <p:sp>
          <p:nvSpPr>
            <p:cNvPr name="TextBox 4" id="4"/>
            <p:cNvSpPr txBox="true"/>
            <p:nvPr/>
          </p:nvSpPr>
          <p:spPr>
            <a:xfrm>
              <a:off x="0" y="0"/>
              <a:ext cx="20304835" cy="1706135"/>
            </a:xfrm>
            <a:prstGeom prst="rect">
              <a:avLst/>
            </a:prstGeom>
          </p:spPr>
          <p:txBody>
            <a:bodyPr anchor="ctr" rtlCol="false" tIns="0" lIns="0" bIns="0" rIns="0"/>
            <a:lstStyle/>
            <a:p>
              <a:pPr algn="l">
                <a:lnSpc>
                  <a:spcPts val="7680"/>
                </a:lnSpc>
              </a:pPr>
              <a:r>
                <a:rPr lang="en-US" sz="6400" b="true">
                  <a:solidFill>
                    <a:srgbClr val="6B4F3A"/>
                  </a:solidFill>
                  <a:latin typeface="Montserrat Bold"/>
                  <a:ea typeface="Montserrat Bold"/>
                  <a:cs typeface="Montserrat Bold"/>
                  <a:sym typeface="Montserrat Bold"/>
                </a:rPr>
                <a:t>UMAP of ESM Embeddings</a:t>
              </a:r>
            </a:p>
          </p:txBody>
        </p:sp>
      </p:grpSp>
      <p:grpSp>
        <p:nvGrpSpPr>
          <p:cNvPr name="Group 5" id="5"/>
          <p:cNvGrpSpPr/>
          <p:nvPr/>
        </p:nvGrpSpPr>
        <p:grpSpPr>
          <a:xfrm rot="0">
            <a:off x="1097280" y="1977109"/>
            <a:ext cx="16279199" cy="1039748"/>
            <a:chOff x="0" y="0"/>
            <a:chExt cx="21705598" cy="1386331"/>
          </a:xfrm>
        </p:grpSpPr>
        <p:sp>
          <p:nvSpPr>
            <p:cNvPr name="Freeform 6" id="6"/>
            <p:cNvSpPr/>
            <p:nvPr/>
          </p:nvSpPr>
          <p:spPr>
            <a:xfrm flipH="false" flipV="false" rot="0">
              <a:off x="0" y="0"/>
              <a:ext cx="21705598" cy="1386331"/>
            </a:xfrm>
            <a:custGeom>
              <a:avLst/>
              <a:gdLst/>
              <a:ahLst/>
              <a:cxnLst/>
              <a:rect r="r" b="b" t="t" l="l"/>
              <a:pathLst>
                <a:path h="1386331" w="21705598">
                  <a:moveTo>
                    <a:pt x="0" y="0"/>
                  </a:moveTo>
                  <a:lnTo>
                    <a:pt x="21705598" y="0"/>
                  </a:lnTo>
                  <a:lnTo>
                    <a:pt x="21705598" y="1386331"/>
                  </a:lnTo>
                  <a:lnTo>
                    <a:pt x="0" y="1386331"/>
                  </a:lnTo>
                  <a:close/>
                </a:path>
              </a:pathLst>
            </a:custGeom>
            <a:blipFill>
              <a:blip r:embed="rId3">
                <a:alphaModFix amt="0"/>
              </a:blip>
              <a:stretch>
                <a:fillRect l="0" t="-240757" r="10128" b="-207594"/>
              </a:stretch>
            </a:blipFill>
          </p:spPr>
        </p:sp>
        <p:sp>
          <p:nvSpPr>
            <p:cNvPr name="TextBox 7" id="7"/>
            <p:cNvSpPr txBox="true"/>
            <p:nvPr/>
          </p:nvSpPr>
          <p:spPr>
            <a:xfrm>
              <a:off x="0" y="9525"/>
              <a:ext cx="21705598" cy="1376806"/>
            </a:xfrm>
            <a:prstGeom prst="rect">
              <a:avLst/>
            </a:prstGeom>
          </p:spPr>
          <p:txBody>
            <a:bodyPr anchor="ctr" rtlCol="false" tIns="0" lIns="0" bIns="0" rIns="0"/>
            <a:lstStyle/>
            <a:p>
              <a:pPr algn="l">
                <a:lnSpc>
                  <a:spcPts val="3599"/>
                </a:lnSpc>
              </a:pPr>
              <a:r>
                <a:rPr lang="en-US" sz="2999">
                  <a:solidFill>
                    <a:srgbClr val="000000"/>
                  </a:solidFill>
                  <a:latin typeface="Montserrat"/>
                  <a:ea typeface="Montserrat"/>
                  <a:cs typeface="Montserrat"/>
                  <a:sym typeface="Montserrat"/>
                </a:rPr>
                <a:t>Viral-group embeddings were added incrementally to examine how new groups position within UMAP space</a:t>
              </a:r>
            </a:p>
          </p:txBody>
        </p:sp>
      </p:grpSp>
      <p:sp>
        <p:nvSpPr>
          <p:cNvPr name="Freeform 8" id="8"/>
          <p:cNvSpPr/>
          <p:nvPr/>
        </p:nvSpPr>
        <p:spPr>
          <a:xfrm flipH="false" flipV="false" rot="0">
            <a:off x="31425" y="3255181"/>
            <a:ext cx="5866902" cy="4693521"/>
          </a:xfrm>
          <a:custGeom>
            <a:avLst/>
            <a:gdLst/>
            <a:ahLst/>
            <a:cxnLst/>
            <a:rect r="r" b="b" t="t" l="l"/>
            <a:pathLst>
              <a:path h="4693521" w="5866902">
                <a:moveTo>
                  <a:pt x="0" y="0"/>
                </a:moveTo>
                <a:lnTo>
                  <a:pt x="5866902" y="0"/>
                </a:lnTo>
                <a:lnTo>
                  <a:pt x="5866902" y="4693522"/>
                </a:lnTo>
                <a:lnTo>
                  <a:pt x="0" y="4693522"/>
                </a:lnTo>
                <a:lnTo>
                  <a:pt x="0" y="0"/>
                </a:lnTo>
                <a:close/>
              </a:path>
            </a:pathLst>
          </a:custGeom>
          <a:blipFill>
            <a:blip r:embed="rId4"/>
            <a:stretch>
              <a:fillRect l="0" t="0" r="0" b="0"/>
            </a:stretch>
          </a:blipFill>
        </p:spPr>
      </p:sp>
      <p:grpSp>
        <p:nvGrpSpPr>
          <p:cNvPr name="Group 9" id="9"/>
          <p:cNvGrpSpPr/>
          <p:nvPr/>
        </p:nvGrpSpPr>
        <p:grpSpPr>
          <a:xfrm rot="0">
            <a:off x="4292383" y="3230041"/>
            <a:ext cx="7816493" cy="6128820"/>
            <a:chOff x="0" y="0"/>
            <a:chExt cx="10421991" cy="8171760"/>
          </a:xfrm>
        </p:grpSpPr>
        <p:sp>
          <p:nvSpPr>
            <p:cNvPr name="Freeform 10" id="10"/>
            <p:cNvSpPr/>
            <p:nvPr/>
          </p:nvSpPr>
          <p:spPr>
            <a:xfrm flipH="false" flipV="false" rot="0">
              <a:off x="2599455" y="0"/>
              <a:ext cx="7822536" cy="6258029"/>
            </a:xfrm>
            <a:custGeom>
              <a:avLst/>
              <a:gdLst/>
              <a:ahLst/>
              <a:cxnLst/>
              <a:rect r="r" b="b" t="t" l="l"/>
              <a:pathLst>
                <a:path h="6258029" w="7822536">
                  <a:moveTo>
                    <a:pt x="0" y="0"/>
                  </a:moveTo>
                  <a:lnTo>
                    <a:pt x="7822536" y="0"/>
                  </a:lnTo>
                  <a:lnTo>
                    <a:pt x="7822536" y="6258029"/>
                  </a:lnTo>
                  <a:lnTo>
                    <a:pt x="0" y="6258029"/>
                  </a:lnTo>
                  <a:lnTo>
                    <a:pt x="0" y="0"/>
                  </a:lnTo>
                  <a:close/>
                </a:path>
              </a:pathLst>
            </a:custGeom>
            <a:blipFill>
              <a:blip r:embed="rId5"/>
              <a:stretch>
                <a:fillRect l="0" t="0" r="0" b="0"/>
              </a:stretch>
            </a:blipFill>
          </p:spPr>
        </p:sp>
        <p:sp>
          <p:nvSpPr>
            <p:cNvPr name="Freeform 11" id="11"/>
            <p:cNvSpPr/>
            <p:nvPr/>
          </p:nvSpPr>
          <p:spPr>
            <a:xfrm flipH="false" flipV="false" rot="-6525526">
              <a:off x="1823914" y="5764122"/>
              <a:ext cx="1104080" cy="1968771"/>
            </a:xfrm>
            <a:custGeom>
              <a:avLst/>
              <a:gdLst/>
              <a:ahLst/>
              <a:cxnLst/>
              <a:rect r="r" b="b" t="t" l="l"/>
              <a:pathLst>
                <a:path h="1968771" w="1104080">
                  <a:moveTo>
                    <a:pt x="0" y="0"/>
                  </a:moveTo>
                  <a:lnTo>
                    <a:pt x="1104080" y="0"/>
                  </a:lnTo>
                  <a:lnTo>
                    <a:pt x="1104080" y="1968771"/>
                  </a:lnTo>
                  <a:lnTo>
                    <a:pt x="0" y="19687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5948786" y="659823"/>
              <a:ext cx="998173" cy="1220110"/>
              <a:chOff x="0" y="0"/>
              <a:chExt cx="392079" cy="479256"/>
            </a:xfrm>
          </p:grpSpPr>
          <p:sp>
            <p:nvSpPr>
              <p:cNvPr name="Freeform 13" id="13"/>
              <p:cNvSpPr/>
              <p:nvPr/>
            </p:nvSpPr>
            <p:spPr>
              <a:xfrm flipH="false" flipV="false" rot="0">
                <a:off x="0" y="0"/>
                <a:ext cx="392079" cy="479256"/>
              </a:xfrm>
              <a:custGeom>
                <a:avLst/>
                <a:gdLst/>
                <a:ahLst/>
                <a:cxnLst/>
                <a:rect r="r" b="b" t="t" l="l"/>
                <a:pathLst>
                  <a:path h="479256" w="392079">
                    <a:moveTo>
                      <a:pt x="196040" y="0"/>
                    </a:moveTo>
                    <a:cubicBezTo>
                      <a:pt x="87770" y="0"/>
                      <a:pt x="0" y="107285"/>
                      <a:pt x="0" y="239628"/>
                    </a:cubicBezTo>
                    <a:cubicBezTo>
                      <a:pt x="0" y="371971"/>
                      <a:pt x="87770" y="479256"/>
                      <a:pt x="196040" y="479256"/>
                    </a:cubicBezTo>
                    <a:cubicBezTo>
                      <a:pt x="304309" y="479256"/>
                      <a:pt x="392079" y="371971"/>
                      <a:pt x="392079" y="239628"/>
                    </a:cubicBezTo>
                    <a:cubicBezTo>
                      <a:pt x="392079" y="107285"/>
                      <a:pt x="304309" y="0"/>
                      <a:pt x="196040" y="0"/>
                    </a:cubicBezTo>
                    <a:close/>
                  </a:path>
                </a:pathLst>
              </a:custGeom>
              <a:ln w="19050" cap="sq">
                <a:solidFill>
                  <a:srgbClr val="328855"/>
                </a:solidFill>
                <a:prstDash val="solid"/>
                <a:miter/>
              </a:ln>
            </p:spPr>
          </p:sp>
          <p:sp>
            <p:nvSpPr>
              <p:cNvPr name="TextBox 14" id="14"/>
              <p:cNvSpPr txBox="true"/>
              <p:nvPr/>
            </p:nvSpPr>
            <p:spPr>
              <a:xfrm>
                <a:off x="36757" y="44930"/>
                <a:ext cx="318564" cy="389395"/>
              </a:xfrm>
              <a:prstGeom prst="rect">
                <a:avLst/>
              </a:prstGeom>
            </p:spPr>
            <p:txBody>
              <a:bodyPr anchor="ctr" rtlCol="false" tIns="50800" lIns="50800" bIns="50800" rIns="50800"/>
              <a:lstStyle/>
              <a:p>
                <a:pPr algn="ctr">
                  <a:lnSpc>
                    <a:spcPts val="2639"/>
                  </a:lnSpc>
                </a:pPr>
              </a:p>
            </p:txBody>
          </p:sp>
        </p:grpSp>
        <p:sp>
          <p:nvSpPr>
            <p:cNvPr name="TextBox 15" id="15"/>
            <p:cNvSpPr txBox="true"/>
            <p:nvPr/>
          </p:nvSpPr>
          <p:spPr>
            <a:xfrm rot="0">
              <a:off x="0" y="7333560"/>
              <a:ext cx="4751908" cy="838200"/>
            </a:xfrm>
            <a:prstGeom prst="rect">
              <a:avLst/>
            </a:prstGeom>
          </p:spPr>
          <p:txBody>
            <a:bodyPr anchor="t" rtlCol="false" tIns="0" lIns="0" bIns="0" rIns="0">
              <a:spAutoFit/>
            </a:bodyPr>
            <a:lstStyle/>
            <a:p>
              <a:pPr algn="ctr">
                <a:lnSpc>
                  <a:spcPts val="2520"/>
                </a:lnSpc>
                <a:spcBef>
                  <a:spcPct val="0"/>
                </a:spcBef>
              </a:pPr>
              <a:r>
                <a:rPr lang="en-US" sz="2100">
                  <a:solidFill>
                    <a:srgbClr val="000000"/>
                  </a:solidFill>
                  <a:latin typeface="Montserrat"/>
                  <a:ea typeface="Montserrat"/>
                  <a:cs typeface="Montserrat"/>
                  <a:sym typeface="Montserrat"/>
                </a:rPr>
                <a:t>Added </a:t>
              </a:r>
              <a:r>
                <a:rPr lang="en-US" b="true" sz="2100">
                  <a:solidFill>
                    <a:srgbClr val="000000"/>
                  </a:solidFill>
                  <a:latin typeface="Montserrat Bold"/>
                  <a:ea typeface="Montserrat Bold"/>
                  <a:cs typeface="Montserrat Bold"/>
                  <a:sym typeface="Montserrat Bold"/>
                </a:rPr>
                <a:t>WU95</a:t>
              </a:r>
              <a:r>
                <a:rPr lang="en-US" sz="2100">
                  <a:solidFill>
                    <a:srgbClr val="000000"/>
                  </a:solidFill>
                  <a:latin typeface="Montserrat"/>
                  <a:ea typeface="Montserrat"/>
                  <a:cs typeface="Montserrat"/>
                  <a:sym typeface="Montserrat"/>
                </a:rPr>
                <a:t> (dark green) viral group embeddings</a:t>
              </a:r>
            </a:p>
          </p:txBody>
        </p:sp>
      </p:grpSp>
      <p:grpSp>
        <p:nvGrpSpPr>
          <p:cNvPr name="Group 16" id="16"/>
          <p:cNvGrpSpPr/>
          <p:nvPr/>
        </p:nvGrpSpPr>
        <p:grpSpPr>
          <a:xfrm rot="0">
            <a:off x="10534523" y="3255181"/>
            <a:ext cx="7753477" cy="6103680"/>
            <a:chOff x="0" y="0"/>
            <a:chExt cx="10337969" cy="8138239"/>
          </a:xfrm>
        </p:grpSpPr>
        <p:sp>
          <p:nvSpPr>
            <p:cNvPr name="Freeform 17" id="17"/>
            <p:cNvSpPr/>
            <p:nvPr/>
          </p:nvSpPr>
          <p:spPr>
            <a:xfrm flipH="false" flipV="false" rot="0">
              <a:off x="2515434" y="0"/>
              <a:ext cx="7822536" cy="6258029"/>
            </a:xfrm>
            <a:custGeom>
              <a:avLst/>
              <a:gdLst/>
              <a:ahLst/>
              <a:cxnLst/>
              <a:rect r="r" b="b" t="t" l="l"/>
              <a:pathLst>
                <a:path h="6258029" w="7822536">
                  <a:moveTo>
                    <a:pt x="0" y="0"/>
                  </a:moveTo>
                  <a:lnTo>
                    <a:pt x="7822535" y="0"/>
                  </a:lnTo>
                  <a:lnTo>
                    <a:pt x="7822535" y="6258029"/>
                  </a:lnTo>
                  <a:lnTo>
                    <a:pt x="0" y="6258029"/>
                  </a:lnTo>
                  <a:lnTo>
                    <a:pt x="0" y="0"/>
                  </a:lnTo>
                  <a:close/>
                </a:path>
              </a:pathLst>
            </a:custGeom>
            <a:blipFill>
              <a:blip r:embed="rId8"/>
              <a:stretch>
                <a:fillRect l="0" t="0" r="0" b="0"/>
              </a:stretch>
            </a:blipFill>
          </p:spPr>
        </p:sp>
        <p:sp>
          <p:nvSpPr>
            <p:cNvPr name="Freeform 18" id="18"/>
            <p:cNvSpPr/>
            <p:nvPr/>
          </p:nvSpPr>
          <p:spPr>
            <a:xfrm flipH="false" flipV="false" rot="-6525526">
              <a:off x="1765293" y="5730602"/>
              <a:ext cx="1104080" cy="1968771"/>
            </a:xfrm>
            <a:custGeom>
              <a:avLst/>
              <a:gdLst/>
              <a:ahLst/>
              <a:cxnLst/>
              <a:rect r="r" b="b" t="t" l="l"/>
              <a:pathLst>
                <a:path h="1968771" w="1104080">
                  <a:moveTo>
                    <a:pt x="0" y="0"/>
                  </a:moveTo>
                  <a:lnTo>
                    <a:pt x="1104080" y="0"/>
                  </a:lnTo>
                  <a:lnTo>
                    <a:pt x="1104080" y="1968771"/>
                  </a:lnTo>
                  <a:lnTo>
                    <a:pt x="0" y="19687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9" id="19"/>
            <p:cNvGrpSpPr/>
            <p:nvPr/>
          </p:nvGrpSpPr>
          <p:grpSpPr>
            <a:xfrm rot="0">
              <a:off x="5909137" y="880794"/>
              <a:ext cx="901080" cy="608347"/>
              <a:chOff x="0" y="0"/>
              <a:chExt cx="676350" cy="456625"/>
            </a:xfrm>
          </p:grpSpPr>
          <p:sp>
            <p:nvSpPr>
              <p:cNvPr name="Freeform 20" id="20"/>
              <p:cNvSpPr/>
              <p:nvPr/>
            </p:nvSpPr>
            <p:spPr>
              <a:xfrm flipH="false" flipV="false" rot="0">
                <a:off x="0" y="0"/>
                <a:ext cx="676350" cy="456625"/>
              </a:xfrm>
              <a:custGeom>
                <a:avLst/>
                <a:gdLst/>
                <a:ahLst/>
                <a:cxnLst/>
                <a:rect r="r" b="b" t="t" l="l"/>
                <a:pathLst>
                  <a:path h="456625" w="676350">
                    <a:moveTo>
                      <a:pt x="338175" y="0"/>
                    </a:moveTo>
                    <a:cubicBezTo>
                      <a:pt x="151406" y="0"/>
                      <a:pt x="0" y="102219"/>
                      <a:pt x="0" y="228313"/>
                    </a:cubicBezTo>
                    <a:cubicBezTo>
                      <a:pt x="0" y="354406"/>
                      <a:pt x="151406" y="456625"/>
                      <a:pt x="338175" y="456625"/>
                    </a:cubicBezTo>
                    <a:cubicBezTo>
                      <a:pt x="524944" y="456625"/>
                      <a:pt x="676350" y="354406"/>
                      <a:pt x="676350" y="228313"/>
                    </a:cubicBezTo>
                    <a:cubicBezTo>
                      <a:pt x="676350" y="102219"/>
                      <a:pt x="524944" y="0"/>
                      <a:pt x="338175" y="0"/>
                    </a:cubicBezTo>
                    <a:close/>
                  </a:path>
                </a:pathLst>
              </a:custGeom>
              <a:ln w="19050" cap="sq">
                <a:solidFill>
                  <a:srgbClr val="8EC3E2"/>
                </a:solidFill>
                <a:prstDash val="solid"/>
                <a:miter/>
              </a:ln>
            </p:spPr>
          </p:sp>
          <p:sp>
            <p:nvSpPr>
              <p:cNvPr name="TextBox 21" id="21"/>
              <p:cNvSpPr txBox="true"/>
              <p:nvPr/>
            </p:nvSpPr>
            <p:spPr>
              <a:xfrm>
                <a:off x="63408" y="42809"/>
                <a:ext cx="549534" cy="371008"/>
              </a:xfrm>
              <a:prstGeom prst="rect">
                <a:avLst/>
              </a:prstGeom>
            </p:spPr>
            <p:txBody>
              <a:bodyPr anchor="ctr" rtlCol="false" tIns="50800" lIns="50800" bIns="50800" rIns="50800"/>
              <a:lstStyle/>
              <a:p>
                <a:pPr algn="ctr">
                  <a:lnSpc>
                    <a:spcPts val="2639"/>
                  </a:lnSpc>
                </a:pPr>
              </a:p>
            </p:txBody>
          </p:sp>
        </p:grpSp>
        <p:sp>
          <p:nvSpPr>
            <p:cNvPr name="TextBox 22" id="22"/>
            <p:cNvSpPr txBox="true"/>
            <p:nvPr/>
          </p:nvSpPr>
          <p:spPr>
            <a:xfrm rot="0">
              <a:off x="0" y="7300039"/>
              <a:ext cx="4448674" cy="838200"/>
            </a:xfrm>
            <a:prstGeom prst="rect">
              <a:avLst/>
            </a:prstGeom>
          </p:spPr>
          <p:txBody>
            <a:bodyPr anchor="t" rtlCol="false" tIns="0" lIns="0" bIns="0" rIns="0">
              <a:spAutoFit/>
            </a:bodyPr>
            <a:lstStyle/>
            <a:p>
              <a:pPr algn="ctr">
                <a:lnSpc>
                  <a:spcPts val="2520"/>
                </a:lnSpc>
                <a:spcBef>
                  <a:spcPct val="0"/>
                </a:spcBef>
              </a:pPr>
              <a:r>
                <a:rPr lang="en-US" sz="2100">
                  <a:solidFill>
                    <a:srgbClr val="000000"/>
                  </a:solidFill>
                  <a:latin typeface="Montserrat"/>
                  <a:ea typeface="Montserrat"/>
                  <a:cs typeface="Montserrat"/>
                  <a:sym typeface="Montserrat"/>
                </a:rPr>
                <a:t>Added </a:t>
              </a:r>
              <a:r>
                <a:rPr lang="en-US" b="true" sz="2100">
                  <a:solidFill>
                    <a:srgbClr val="000000"/>
                  </a:solidFill>
                  <a:latin typeface="Montserrat Bold"/>
                  <a:ea typeface="Montserrat Bold"/>
                  <a:cs typeface="Montserrat Bold"/>
                  <a:sym typeface="Montserrat Bold"/>
                </a:rPr>
                <a:t>SY97</a:t>
              </a:r>
              <a:r>
                <a:rPr lang="en-US" sz="2100">
                  <a:solidFill>
                    <a:srgbClr val="000000"/>
                  </a:solidFill>
                  <a:latin typeface="Montserrat"/>
                  <a:ea typeface="Montserrat"/>
                  <a:cs typeface="Montserrat"/>
                  <a:sym typeface="Montserrat"/>
                </a:rPr>
                <a:t> (light blue) viral group embeddings</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DFAF5"/>
        </a:solidFill>
      </p:bgPr>
    </p:bg>
    <p:spTree>
      <p:nvGrpSpPr>
        <p:cNvPr id="1" name=""/>
        <p:cNvGrpSpPr/>
        <p:nvPr/>
      </p:nvGrpSpPr>
      <p:grpSpPr>
        <a:xfrm>
          <a:off x="0" y="0"/>
          <a:ext cx="0" cy="0"/>
          <a:chOff x="0" y="0"/>
          <a:chExt cx="0" cy="0"/>
        </a:xfrm>
      </p:grpSpPr>
      <p:grpSp>
        <p:nvGrpSpPr>
          <p:cNvPr name="Group 2" id="2"/>
          <p:cNvGrpSpPr/>
          <p:nvPr/>
        </p:nvGrpSpPr>
        <p:grpSpPr>
          <a:xfrm rot="0">
            <a:off x="1097280" y="822960"/>
            <a:ext cx="15228626" cy="1279601"/>
            <a:chOff x="0" y="0"/>
            <a:chExt cx="20304835" cy="1706135"/>
          </a:xfrm>
        </p:grpSpPr>
        <p:sp>
          <p:nvSpPr>
            <p:cNvPr name="Freeform 3" id="3"/>
            <p:cNvSpPr/>
            <p:nvPr/>
          </p:nvSpPr>
          <p:spPr>
            <a:xfrm flipH="false" flipV="false" rot="0">
              <a:off x="0" y="0"/>
              <a:ext cx="20304835" cy="1706135"/>
            </a:xfrm>
            <a:custGeom>
              <a:avLst/>
              <a:gdLst/>
              <a:ahLst/>
              <a:cxnLst/>
              <a:rect r="r" b="b" t="t" l="l"/>
              <a:pathLst>
                <a:path h="1706135" w="20304835">
                  <a:moveTo>
                    <a:pt x="0" y="0"/>
                  </a:moveTo>
                  <a:lnTo>
                    <a:pt x="20304835" y="0"/>
                  </a:lnTo>
                  <a:lnTo>
                    <a:pt x="20304835" y="1706135"/>
                  </a:lnTo>
                  <a:lnTo>
                    <a:pt x="0" y="1706135"/>
                  </a:lnTo>
                  <a:close/>
                </a:path>
              </a:pathLst>
            </a:custGeom>
            <a:blipFill>
              <a:blip r:embed="rId3">
                <a:alphaModFix amt="0"/>
              </a:blip>
              <a:stretch>
                <a:fillRect l="0" t="-176334" r="3928" b="-169232"/>
              </a:stretch>
            </a:blipFill>
          </p:spPr>
        </p:sp>
        <p:sp>
          <p:nvSpPr>
            <p:cNvPr name="TextBox 4" id="4"/>
            <p:cNvSpPr txBox="true"/>
            <p:nvPr/>
          </p:nvSpPr>
          <p:spPr>
            <a:xfrm>
              <a:off x="0" y="0"/>
              <a:ext cx="20304835" cy="1706135"/>
            </a:xfrm>
            <a:prstGeom prst="rect">
              <a:avLst/>
            </a:prstGeom>
          </p:spPr>
          <p:txBody>
            <a:bodyPr anchor="ctr" rtlCol="false" tIns="0" lIns="0" bIns="0" rIns="0"/>
            <a:lstStyle/>
            <a:p>
              <a:pPr algn="l">
                <a:lnSpc>
                  <a:spcPts val="7680"/>
                </a:lnSpc>
              </a:pPr>
              <a:r>
                <a:rPr lang="en-US" sz="6400" b="true">
                  <a:solidFill>
                    <a:srgbClr val="6B4F3A"/>
                  </a:solidFill>
                  <a:latin typeface="Montserrat Bold"/>
                  <a:ea typeface="Montserrat Bold"/>
                  <a:cs typeface="Montserrat Bold"/>
                  <a:sym typeface="Montserrat Bold"/>
                </a:rPr>
                <a:t>Results in Context</a:t>
              </a:r>
            </a:p>
          </p:txBody>
        </p:sp>
      </p:grpSp>
      <p:grpSp>
        <p:nvGrpSpPr>
          <p:cNvPr name="Group 5" id="5"/>
          <p:cNvGrpSpPr/>
          <p:nvPr/>
        </p:nvGrpSpPr>
        <p:grpSpPr>
          <a:xfrm rot="0">
            <a:off x="1097280" y="1975104"/>
            <a:ext cx="16745917" cy="730787"/>
            <a:chOff x="0" y="0"/>
            <a:chExt cx="22327889" cy="974383"/>
          </a:xfrm>
        </p:grpSpPr>
        <p:sp>
          <p:nvSpPr>
            <p:cNvPr name="Freeform 6" id="6"/>
            <p:cNvSpPr/>
            <p:nvPr/>
          </p:nvSpPr>
          <p:spPr>
            <a:xfrm flipH="false" flipV="false" rot="0">
              <a:off x="0" y="0"/>
              <a:ext cx="22327890" cy="974383"/>
            </a:xfrm>
            <a:custGeom>
              <a:avLst/>
              <a:gdLst/>
              <a:ahLst/>
              <a:cxnLst/>
              <a:rect r="r" b="b" t="t" l="l"/>
              <a:pathLst>
                <a:path h="974383" w="22327890">
                  <a:moveTo>
                    <a:pt x="0" y="0"/>
                  </a:moveTo>
                  <a:lnTo>
                    <a:pt x="22327890" y="0"/>
                  </a:lnTo>
                  <a:lnTo>
                    <a:pt x="22327890" y="974383"/>
                  </a:lnTo>
                  <a:lnTo>
                    <a:pt x="0" y="974383"/>
                  </a:lnTo>
                  <a:close/>
                </a:path>
              </a:pathLst>
            </a:custGeom>
            <a:blipFill>
              <a:blip r:embed="rId3">
                <a:alphaModFix amt="0"/>
              </a:blip>
              <a:stretch>
                <a:fillRect l="0" t="-342543" r="12633" b="-337639"/>
              </a:stretch>
            </a:blipFill>
          </p:spPr>
        </p:sp>
        <p:sp>
          <p:nvSpPr>
            <p:cNvPr name="TextBox 7" id="7"/>
            <p:cNvSpPr txBox="true"/>
            <p:nvPr/>
          </p:nvSpPr>
          <p:spPr>
            <a:xfrm>
              <a:off x="0" y="9525"/>
              <a:ext cx="22327889" cy="964858"/>
            </a:xfrm>
            <a:prstGeom prst="rect">
              <a:avLst/>
            </a:prstGeom>
          </p:spPr>
          <p:txBody>
            <a:bodyPr anchor="ctr" rtlCol="false" tIns="0" lIns="0" bIns="0" rIns="0"/>
            <a:lstStyle/>
            <a:p>
              <a:pPr algn="l">
                <a:lnSpc>
                  <a:spcPts val="3599"/>
                </a:lnSpc>
              </a:pPr>
              <a:r>
                <a:rPr lang="en-US" sz="2999">
                  <a:solidFill>
                    <a:srgbClr val="000000"/>
                  </a:solidFill>
                  <a:latin typeface="Montserrat"/>
                  <a:ea typeface="Montserrat"/>
                  <a:cs typeface="Montserrat"/>
                  <a:sym typeface="Montserrat"/>
                </a:rPr>
                <a:t>ESM2 embeddings can reveal structure differences</a:t>
              </a:r>
            </a:p>
          </p:txBody>
        </p:sp>
      </p:grpSp>
      <p:sp>
        <p:nvSpPr>
          <p:cNvPr name="Freeform 8" id="8"/>
          <p:cNvSpPr/>
          <p:nvPr/>
        </p:nvSpPr>
        <p:spPr>
          <a:xfrm flipH="false" flipV="false" rot="0">
            <a:off x="1606303" y="2839058"/>
            <a:ext cx="4062047" cy="6074427"/>
          </a:xfrm>
          <a:custGeom>
            <a:avLst/>
            <a:gdLst/>
            <a:ahLst/>
            <a:cxnLst/>
            <a:rect r="r" b="b" t="t" l="l"/>
            <a:pathLst>
              <a:path h="6074427" w="4062047">
                <a:moveTo>
                  <a:pt x="0" y="0"/>
                </a:moveTo>
                <a:lnTo>
                  <a:pt x="4062048" y="0"/>
                </a:lnTo>
                <a:lnTo>
                  <a:pt x="4062048" y="6074427"/>
                </a:lnTo>
                <a:lnTo>
                  <a:pt x="0" y="6074427"/>
                </a:lnTo>
                <a:lnTo>
                  <a:pt x="0" y="0"/>
                </a:lnTo>
                <a:close/>
              </a:path>
            </a:pathLst>
          </a:custGeom>
          <a:blipFill>
            <a:blip r:embed="rId4"/>
            <a:stretch>
              <a:fillRect l="0" t="0" r="-178215" b="0"/>
            </a:stretch>
          </a:blipFill>
        </p:spPr>
      </p:sp>
      <p:sp>
        <p:nvSpPr>
          <p:cNvPr name="Freeform 9" id="9"/>
          <p:cNvSpPr/>
          <p:nvPr/>
        </p:nvSpPr>
        <p:spPr>
          <a:xfrm flipH="false" flipV="false" rot="0">
            <a:off x="6628387" y="2839058"/>
            <a:ext cx="8545533" cy="6836427"/>
          </a:xfrm>
          <a:custGeom>
            <a:avLst/>
            <a:gdLst/>
            <a:ahLst/>
            <a:cxnLst/>
            <a:rect r="r" b="b" t="t" l="l"/>
            <a:pathLst>
              <a:path h="6836427" w="8545533">
                <a:moveTo>
                  <a:pt x="0" y="0"/>
                </a:moveTo>
                <a:lnTo>
                  <a:pt x="8545533" y="0"/>
                </a:lnTo>
                <a:lnTo>
                  <a:pt x="8545533" y="6836427"/>
                </a:lnTo>
                <a:lnTo>
                  <a:pt x="0" y="6836427"/>
                </a:lnTo>
                <a:lnTo>
                  <a:pt x="0" y="0"/>
                </a:lnTo>
                <a:close/>
              </a:path>
            </a:pathLst>
          </a:custGeom>
          <a:blipFill>
            <a:blip r:embed="rId5"/>
            <a:stretch>
              <a:fillRect l="0" t="0" r="0" b="0"/>
            </a:stretch>
          </a:blipFill>
        </p:spPr>
      </p:sp>
      <p:sp>
        <p:nvSpPr>
          <p:cNvPr name="TextBox 10" id="10"/>
          <p:cNvSpPr txBox="true"/>
          <p:nvPr/>
        </p:nvSpPr>
        <p:spPr>
          <a:xfrm rot="0">
            <a:off x="5780652" y="10077450"/>
            <a:ext cx="12371487" cy="209550"/>
          </a:xfrm>
          <a:prstGeom prst="rect">
            <a:avLst/>
          </a:prstGeom>
        </p:spPr>
        <p:txBody>
          <a:bodyPr anchor="t" rtlCol="false" tIns="0" lIns="0" bIns="0" rIns="0">
            <a:spAutoFit/>
          </a:bodyPr>
          <a:lstStyle/>
          <a:p>
            <a:pPr algn="ctr">
              <a:lnSpc>
                <a:spcPts val="1680"/>
              </a:lnSpc>
              <a:spcBef>
                <a:spcPct val="0"/>
              </a:spcBef>
            </a:pPr>
            <a:r>
              <a:rPr lang="en-US" sz="1400">
                <a:solidFill>
                  <a:srgbClr val="000000"/>
                </a:solidFill>
                <a:latin typeface="Montserrat"/>
                <a:ea typeface="Montserrat"/>
                <a:cs typeface="Montserrat"/>
                <a:sym typeface="Montserrat"/>
              </a:rPr>
              <a:t>3- Derek J. Smith et al. ,Mapping the Antigenic and Genetic Evolution of Influenza Virus.Science305,371-376(2004).DOI:10.1126/science.1097211</a:t>
            </a:r>
          </a:p>
        </p:txBody>
      </p:sp>
      <p:sp>
        <p:nvSpPr>
          <p:cNvPr name="TextBox 11" id="11"/>
          <p:cNvSpPr txBox="true"/>
          <p:nvPr/>
        </p:nvSpPr>
        <p:spPr>
          <a:xfrm rot="0">
            <a:off x="1097280" y="9046835"/>
            <a:ext cx="5080094" cy="628650"/>
          </a:xfrm>
          <a:prstGeom prst="rect">
            <a:avLst/>
          </a:prstGeom>
        </p:spPr>
        <p:txBody>
          <a:bodyPr anchor="t" rtlCol="false" tIns="0" lIns="0" bIns="0" rIns="0">
            <a:spAutoFit/>
          </a:bodyPr>
          <a:lstStyle/>
          <a:p>
            <a:pPr algn="ctr">
              <a:lnSpc>
                <a:spcPts val="2520"/>
              </a:lnSpc>
              <a:spcBef>
                <a:spcPct val="0"/>
              </a:spcBef>
            </a:pPr>
            <a:r>
              <a:rPr lang="en-US" sz="2100">
                <a:solidFill>
                  <a:srgbClr val="000000"/>
                </a:solidFill>
                <a:latin typeface="Montserrat"/>
                <a:ea typeface="Montserrat"/>
                <a:cs typeface="Montserrat"/>
                <a:sym typeface="Montserrat"/>
              </a:rPr>
              <a:t> Phylogenetic tree depicting various clusters (antigenic) </a:t>
            </a:r>
            <a:r>
              <a:rPr lang="en-US" sz="2100">
                <a:solidFill>
                  <a:srgbClr val="000000"/>
                </a:solidFill>
                <a:latin typeface="Montserrat"/>
                <a:ea typeface="Montserrat"/>
                <a:cs typeface="Montserrat"/>
                <a:sym typeface="Montserrat"/>
              </a:rPr>
              <a:t>3</a:t>
            </a:r>
          </a:p>
        </p:txBody>
      </p:sp>
      <p:grpSp>
        <p:nvGrpSpPr>
          <p:cNvPr name="Group 12" id="12"/>
          <p:cNvGrpSpPr/>
          <p:nvPr/>
        </p:nvGrpSpPr>
        <p:grpSpPr>
          <a:xfrm rot="0">
            <a:off x="3631668" y="3839333"/>
            <a:ext cx="7725236" cy="2461179"/>
            <a:chOff x="0" y="0"/>
            <a:chExt cx="10300314" cy="3281572"/>
          </a:xfrm>
        </p:grpSpPr>
        <p:sp>
          <p:nvSpPr>
            <p:cNvPr name="AutoShape 13" id="13"/>
            <p:cNvSpPr/>
            <p:nvPr/>
          </p:nvSpPr>
          <p:spPr>
            <a:xfrm>
              <a:off x="7545" y="24253"/>
              <a:ext cx="10285224" cy="3199665"/>
            </a:xfrm>
            <a:prstGeom prst="line">
              <a:avLst/>
            </a:prstGeom>
            <a:ln cap="flat" w="50800">
              <a:solidFill>
                <a:srgbClr val="000000"/>
              </a:solidFill>
              <a:prstDash val="sysDash"/>
              <a:headEnd type="none" len="sm" w="sm"/>
              <a:tailEnd type="none" len="sm" w="sm"/>
            </a:ln>
          </p:spPr>
        </p:sp>
        <p:sp>
          <p:nvSpPr>
            <p:cNvPr name="AutoShape 14" id="14"/>
            <p:cNvSpPr/>
            <p:nvPr/>
          </p:nvSpPr>
          <p:spPr>
            <a:xfrm flipV="true">
              <a:off x="982331" y="1481694"/>
              <a:ext cx="9081820" cy="1774950"/>
            </a:xfrm>
            <a:prstGeom prst="line">
              <a:avLst/>
            </a:prstGeom>
            <a:ln cap="flat" w="50800">
              <a:solidFill>
                <a:srgbClr val="000000"/>
              </a:solidFill>
              <a:prstDash val="sysDash"/>
              <a:headEnd type="none" len="sm" w="sm"/>
              <a:tailEnd type="none" len="sm" w="sm"/>
            </a:ln>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DFAF5"/>
        </a:solidFill>
      </p:bgPr>
    </p:bg>
    <p:spTree>
      <p:nvGrpSpPr>
        <p:cNvPr id="1" name=""/>
        <p:cNvGrpSpPr/>
        <p:nvPr/>
      </p:nvGrpSpPr>
      <p:grpSpPr>
        <a:xfrm>
          <a:off x="0" y="0"/>
          <a:ext cx="0" cy="0"/>
          <a:chOff x="0" y="0"/>
          <a:chExt cx="0" cy="0"/>
        </a:xfrm>
      </p:grpSpPr>
      <p:grpSp>
        <p:nvGrpSpPr>
          <p:cNvPr name="Group 2" id="2"/>
          <p:cNvGrpSpPr/>
          <p:nvPr/>
        </p:nvGrpSpPr>
        <p:grpSpPr>
          <a:xfrm rot="0">
            <a:off x="1097280" y="822960"/>
            <a:ext cx="15228626" cy="1279601"/>
            <a:chOff x="0" y="0"/>
            <a:chExt cx="20304835" cy="1706135"/>
          </a:xfrm>
        </p:grpSpPr>
        <p:sp>
          <p:nvSpPr>
            <p:cNvPr name="Freeform 3" id="3"/>
            <p:cNvSpPr/>
            <p:nvPr/>
          </p:nvSpPr>
          <p:spPr>
            <a:xfrm flipH="false" flipV="false" rot="0">
              <a:off x="0" y="0"/>
              <a:ext cx="20304835" cy="1706135"/>
            </a:xfrm>
            <a:custGeom>
              <a:avLst/>
              <a:gdLst/>
              <a:ahLst/>
              <a:cxnLst/>
              <a:rect r="r" b="b" t="t" l="l"/>
              <a:pathLst>
                <a:path h="1706135" w="20304835">
                  <a:moveTo>
                    <a:pt x="0" y="0"/>
                  </a:moveTo>
                  <a:lnTo>
                    <a:pt x="20304835" y="0"/>
                  </a:lnTo>
                  <a:lnTo>
                    <a:pt x="20304835" y="1706135"/>
                  </a:lnTo>
                  <a:lnTo>
                    <a:pt x="0" y="1706135"/>
                  </a:lnTo>
                  <a:close/>
                </a:path>
              </a:pathLst>
            </a:custGeom>
            <a:blipFill>
              <a:blip r:embed="rId2">
                <a:alphaModFix amt="0"/>
              </a:blip>
              <a:stretch>
                <a:fillRect l="0" t="-176334" r="3928" b="-169232"/>
              </a:stretch>
            </a:blipFill>
          </p:spPr>
        </p:sp>
        <p:sp>
          <p:nvSpPr>
            <p:cNvPr name="TextBox 4" id="4"/>
            <p:cNvSpPr txBox="true"/>
            <p:nvPr/>
          </p:nvSpPr>
          <p:spPr>
            <a:xfrm>
              <a:off x="0" y="0"/>
              <a:ext cx="20304835" cy="1706135"/>
            </a:xfrm>
            <a:prstGeom prst="rect">
              <a:avLst/>
            </a:prstGeom>
          </p:spPr>
          <p:txBody>
            <a:bodyPr anchor="ctr" rtlCol="false" tIns="0" lIns="0" bIns="0" rIns="0"/>
            <a:lstStyle/>
            <a:p>
              <a:pPr algn="l">
                <a:lnSpc>
                  <a:spcPts val="7680"/>
                </a:lnSpc>
              </a:pPr>
              <a:r>
                <a:rPr lang="en-US" sz="6400" b="true">
                  <a:solidFill>
                    <a:srgbClr val="6B4F3A"/>
                  </a:solidFill>
                  <a:latin typeface="Montserrat Bold"/>
                  <a:ea typeface="Montserrat Bold"/>
                  <a:cs typeface="Montserrat Bold"/>
                  <a:sym typeface="Montserrat Bold"/>
                </a:rPr>
                <a:t>Results in Context</a:t>
              </a:r>
            </a:p>
          </p:txBody>
        </p:sp>
      </p:grpSp>
      <p:grpSp>
        <p:nvGrpSpPr>
          <p:cNvPr name="Group 5" id="5"/>
          <p:cNvGrpSpPr/>
          <p:nvPr/>
        </p:nvGrpSpPr>
        <p:grpSpPr>
          <a:xfrm rot="0">
            <a:off x="1097280" y="1975104"/>
            <a:ext cx="16745917" cy="730787"/>
            <a:chOff x="0" y="0"/>
            <a:chExt cx="22327889" cy="974383"/>
          </a:xfrm>
        </p:grpSpPr>
        <p:sp>
          <p:nvSpPr>
            <p:cNvPr name="Freeform 6" id="6"/>
            <p:cNvSpPr/>
            <p:nvPr/>
          </p:nvSpPr>
          <p:spPr>
            <a:xfrm flipH="false" flipV="false" rot="0">
              <a:off x="0" y="0"/>
              <a:ext cx="22327890" cy="974383"/>
            </a:xfrm>
            <a:custGeom>
              <a:avLst/>
              <a:gdLst/>
              <a:ahLst/>
              <a:cxnLst/>
              <a:rect r="r" b="b" t="t" l="l"/>
              <a:pathLst>
                <a:path h="974383" w="22327890">
                  <a:moveTo>
                    <a:pt x="0" y="0"/>
                  </a:moveTo>
                  <a:lnTo>
                    <a:pt x="22327890" y="0"/>
                  </a:lnTo>
                  <a:lnTo>
                    <a:pt x="22327890" y="974383"/>
                  </a:lnTo>
                  <a:lnTo>
                    <a:pt x="0" y="974383"/>
                  </a:lnTo>
                  <a:close/>
                </a:path>
              </a:pathLst>
            </a:custGeom>
            <a:blipFill>
              <a:blip r:embed="rId2">
                <a:alphaModFix amt="0"/>
              </a:blip>
              <a:stretch>
                <a:fillRect l="0" t="-342543" r="12633" b="-337639"/>
              </a:stretch>
            </a:blipFill>
          </p:spPr>
        </p:sp>
        <p:sp>
          <p:nvSpPr>
            <p:cNvPr name="TextBox 7" id="7"/>
            <p:cNvSpPr txBox="true"/>
            <p:nvPr/>
          </p:nvSpPr>
          <p:spPr>
            <a:xfrm>
              <a:off x="0" y="9525"/>
              <a:ext cx="22327889" cy="964858"/>
            </a:xfrm>
            <a:prstGeom prst="rect">
              <a:avLst/>
            </a:prstGeom>
          </p:spPr>
          <p:txBody>
            <a:bodyPr anchor="ctr" rtlCol="false" tIns="0" lIns="0" bIns="0" rIns="0"/>
            <a:lstStyle/>
            <a:p>
              <a:pPr algn="l">
                <a:lnSpc>
                  <a:spcPts val="3599"/>
                </a:lnSpc>
              </a:pPr>
              <a:r>
                <a:rPr lang="en-US" sz="2999">
                  <a:solidFill>
                    <a:srgbClr val="000000"/>
                  </a:solidFill>
                  <a:latin typeface="Montserrat"/>
                  <a:ea typeface="Montserrat"/>
                  <a:cs typeface="Montserrat"/>
                  <a:sym typeface="Montserrat"/>
                </a:rPr>
                <a:t>ESM2 embeddings can reveal structure differences </a:t>
              </a:r>
              <a:r>
                <a:rPr lang="en-US" b="true" sz="2999">
                  <a:solidFill>
                    <a:srgbClr val="000000"/>
                  </a:solidFill>
                  <a:latin typeface="Montserrat Bold"/>
                  <a:ea typeface="Montserrat Bold"/>
                  <a:cs typeface="Montserrat Bold"/>
                  <a:sym typeface="Montserrat Bold"/>
                </a:rPr>
                <a:t>but only to an extent</a:t>
              </a:r>
            </a:p>
          </p:txBody>
        </p:sp>
      </p:grpSp>
      <p:sp>
        <p:nvSpPr>
          <p:cNvPr name="Freeform 8" id="8"/>
          <p:cNvSpPr/>
          <p:nvPr/>
        </p:nvSpPr>
        <p:spPr>
          <a:xfrm flipH="false" flipV="false" rot="0">
            <a:off x="1606303" y="2839058"/>
            <a:ext cx="4062047" cy="6074427"/>
          </a:xfrm>
          <a:custGeom>
            <a:avLst/>
            <a:gdLst/>
            <a:ahLst/>
            <a:cxnLst/>
            <a:rect r="r" b="b" t="t" l="l"/>
            <a:pathLst>
              <a:path h="6074427" w="4062047">
                <a:moveTo>
                  <a:pt x="0" y="0"/>
                </a:moveTo>
                <a:lnTo>
                  <a:pt x="4062048" y="0"/>
                </a:lnTo>
                <a:lnTo>
                  <a:pt x="4062048" y="6074427"/>
                </a:lnTo>
                <a:lnTo>
                  <a:pt x="0" y="6074427"/>
                </a:lnTo>
                <a:lnTo>
                  <a:pt x="0" y="0"/>
                </a:lnTo>
                <a:close/>
              </a:path>
            </a:pathLst>
          </a:custGeom>
          <a:blipFill>
            <a:blip r:embed="rId3"/>
            <a:stretch>
              <a:fillRect l="0" t="0" r="-178215" b="0"/>
            </a:stretch>
          </a:blipFill>
        </p:spPr>
      </p:sp>
      <p:sp>
        <p:nvSpPr>
          <p:cNvPr name="TextBox 9" id="9"/>
          <p:cNvSpPr txBox="true"/>
          <p:nvPr/>
        </p:nvSpPr>
        <p:spPr>
          <a:xfrm rot="0">
            <a:off x="5780652" y="10077450"/>
            <a:ext cx="12371487" cy="209550"/>
          </a:xfrm>
          <a:prstGeom prst="rect">
            <a:avLst/>
          </a:prstGeom>
        </p:spPr>
        <p:txBody>
          <a:bodyPr anchor="t" rtlCol="false" tIns="0" lIns="0" bIns="0" rIns="0">
            <a:spAutoFit/>
          </a:bodyPr>
          <a:lstStyle/>
          <a:p>
            <a:pPr algn="ctr">
              <a:lnSpc>
                <a:spcPts val="1680"/>
              </a:lnSpc>
              <a:spcBef>
                <a:spcPct val="0"/>
              </a:spcBef>
            </a:pPr>
            <a:r>
              <a:rPr lang="en-US" sz="1400">
                <a:solidFill>
                  <a:srgbClr val="000000"/>
                </a:solidFill>
                <a:latin typeface="Montserrat"/>
                <a:ea typeface="Montserrat"/>
                <a:cs typeface="Montserrat"/>
                <a:sym typeface="Montserrat"/>
              </a:rPr>
              <a:t>3- Derek J. Smith et al. ,Mapping the Antigenic and Genetic Evolution of Influenza Virus.Science305,371-376(2004).DOI:10.1126/science.1097211</a:t>
            </a:r>
          </a:p>
        </p:txBody>
      </p:sp>
      <p:sp>
        <p:nvSpPr>
          <p:cNvPr name="TextBox 10" id="10"/>
          <p:cNvSpPr txBox="true"/>
          <p:nvPr/>
        </p:nvSpPr>
        <p:spPr>
          <a:xfrm rot="0">
            <a:off x="1097280" y="9046835"/>
            <a:ext cx="5080094" cy="628650"/>
          </a:xfrm>
          <a:prstGeom prst="rect">
            <a:avLst/>
          </a:prstGeom>
        </p:spPr>
        <p:txBody>
          <a:bodyPr anchor="t" rtlCol="false" tIns="0" lIns="0" bIns="0" rIns="0">
            <a:spAutoFit/>
          </a:bodyPr>
          <a:lstStyle/>
          <a:p>
            <a:pPr algn="ctr">
              <a:lnSpc>
                <a:spcPts val="2520"/>
              </a:lnSpc>
              <a:spcBef>
                <a:spcPct val="0"/>
              </a:spcBef>
            </a:pPr>
            <a:r>
              <a:rPr lang="en-US" sz="2100">
                <a:solidFill>
                  <a:srgbClr val="000000"/>
                </a:solidFill>
                <a:latin typeface="Montserrat"/>
                <a:ea typeface="Montserrat"/>
                <a:cs typeface="Montserrat"/>
                <a:sym typeface="Montserrat"/>
              </a:rPr>
              <a:t> Phylogenetic tree depicting various clusters (antigenic) </a:t>
            </a:r>
            <a:r>
              <a:rPr lang="en-US" sz="2100">
                <a:solidFill>
                  <a:srgbClr val="000000"/>
                </a:solidFill>
                <a:latin typeface="Montserrat"/>
                <a:ea typeface="Montserrat"/>
                <a:cs typeface="Montserrat"/>
                <a:sym typeface="Montserrat"/>
              </a:rPr>
              <a:t>3</a:t>
            </a:r>
          </a:p>
        </p:txBody>
      </p:sp>
      <p:sp>
        <p:nvSpPr>
          <p:cNvPr name="Freeform 11" id="11"/>
          <p:cNvSpPr/>
          <p:nvPr/>
        </p:nvSpPr>
        <p:spPr>
          <a:xfrm flipH="false" flipV="false" rot="0">
            <a:off x="6628387" y="2839058"/>
            <a:ext cx="8545533" cy="6836427"/>
          </a:xfrm>
          <a:custGeom>
            <a:avLst/>
            <a:gdLst/>
            <a:ahLst/>
            <a:cxnLst/>
            <a:rect r="r" b="b" t="t" l="l"/>
            <a:pathLst>
              <a:path h="6836427" w="8545533">
                <a:moveTo>
                  <a:pt x="0" y="0"/>
                </a:moveTo>
                <a:lnTo>
                  <a:pt x="8545533" y="0"/>
                </a:lnTo>
                <a:lnTo>
                  <a:pt x="8545533" y="6836427"/>
                </a:lnTo>
                <a:lnTo>
                  <a:pt x="0" y="6836427"/>
                </a:lnTo>
                <a:lnTo>
                  <a:pt x="0" y="0"/>
                </a:lnTo>
                <a:close/>
              </a:path>
            </a:pathLst>
          </a:custGeom>
          <a:blipFill>
            <a:blip r:embed="rId4"/>
            <a:stretch>
              <a:fillRect l="0" t="0" r="0" b="0"/>
            </a:stretch>
          </a:blipFill>
        </p:spPr>
      </p:sp>
      <p:sp>
        <p:nvSpPr>
          <p:cNvPr name="AutoShape 12" id="12"/>
          <p:cNvSpPr/>
          <p:nvPr/>
        </p:nvSpPr>
        <p:spPr>
          <a:xfrm flipV="true">
            <a:off x="4408913" y="3557462"/>
            <a:ext cx="6168625" cy="2721985"/>
          </a:xfrm>
          <a:prstGeom prst="line">
            <a:avLst/>
          </a:prstGeom>
          <a:ln cap="flat" w="38100">
            <a:solidFill>
              <a:srgbClr val="000000"/>
            </a:solidFill>
            <a:prstDash val="sysDash"/>
            <a:headEnd type="none" len="sm" w="sm"/>
            <a:tailEnd type="none" len="sm" w="sm"/>
          </a:ln>
        </p:spPr>
      </p:sp>
      <p:sp>
        <p:nvSpPr>
          <p:cNvPr name="AutoShape 13" id="13"/>
          <p:cNvSpPr/>
          <p:nvPr/>
        </p:nvSpPr>
        <p:spPr>
          <a:xfrm flipV="true">
            <a:off x="5668351" y="4862756"/>
            <a:ext cx="5232803" cy="4012447"/>
          </a:xfrm>
          <a:prstGeom prst="line">
            <a:avLst/>
          </a:prstGeom>
          <a:ln cap="flat" w="38100">
            <a:solidFill>
              <a:srgbClr val="000000"/>
            </a:solidFill>
            <a:prstDash val="sysDash"/>
            <a:headEnd type="none" len="sm" w="sm"/>
            <a:tailEnd type="none" len="sm" w="sm"/>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DFAF5"/>
        </a:solidFill>
      </p:bgPr>
    </p:bg>
    <p:spTree>
      <p:nvGrpSpPr>
        <p:cNvPr id="1" name=""/>
        <p:cNvGrpSpPr/>
        <p:nvPr/>
      </p:nvGrpSpPr>
      <p:grpSpPr>
        <a:xfrm>
          <a:off x="0" y="0"/>
          <a:ext cx="0" cy="0"/>
          <a:chOff x="0" y="0"/>
          <a:chExt cx="0" cy="0"/>
        </a:xfrm>
      </p:grpSpPr>
      <p:grpSp>
        <p:nvGrpSpPr>
          <p:cNvPr name="Group 2" id="2"/>
          <p:cNvGrpSpPr/>
          <p:nvPr/>
        </p:nvGrpSpPr>
        <p:grpSpPr>
          <a:xfrm rot="0">
            <a:off x="1097280" y="822960"/>
            <a:ext cx="15228626" cy="1279601"/>
            <a:chOff x="0" y="0"/>
            <a:chExt cx="20304835" cy="1706135"/>
          </a:xfrm>
        </p:grpSpPr>
        <p:sp>
          <p:nvSpPr>
            <p:cNvPr name="Freeform 3" id="3"/>
            <p:cNvSpPr/>
            <p:nvPr/>
          </p:nvSpPr>
          <p:spPr>
            <a:xfrm flipH="false" flipV="false" rot="0">
              <a:off x="0" y="0"/>
              <a:ext cx="20304835" cy="1706135"/>
            </a:xfrm>
            <a:custGeom>
              <a:avLst/>
              <a:gdLst/>
              <a:ahLst/>
              <a:cxnLst/>
              <a:rect r="r" b="b" t="t" l="l"/>
              <a:pathLst>
                <a:path h="1706135" w="20304835">
                  <a:moveTo>
                    <a:pt x="0" y="0"/>
                  </a:moveTo>
                  <a:lnTo>
                    <a:pt x="20304835" y="0"/>
                  </a:lnTo>
                  <a:lnTo>
                    <a:pt x="20304835" y="1706135"/>
                  </a:lnTo>
                  <a:lnTo>
                    <a:pt x="0" y="1706135"/>
                  </a:lnTo>
                  <a:close/>
                </a:path>
              </a:pathLst>
            </a:custGeom>
            <a:blipFill>
              <a:blip r:embed="rId2">
                <a:alphaModFix amt="0"/>
              </a:blip>
              <a:stretch>
                <a:fillRect l="0" t="-176334" r="3928" b="-169232"/>
              </a:stretch>
            </a:blipFill>
          </p:spPr>
        </p:sp>
        <p:sp>
          <p:nvSpPr>
            <p:cNvPr name="TextBox 4" id="4"/>
            <p:cNvSpPr txBox="true"/>
            <p:nvPr/>
          </p:nvSpPr>
          <p:spPr>
            <a:xfrm>
              <a:off x="0" y="0"/>
              <a:ext cx="20304835" cy="1706135"/>
            </a:xfrm>
            <a:prstGeom prst="rect">
              <a:avLst/>
            </a:prstGeom>
          </p:spPr>
          <p:txBody>
            <a:bodyPr anchor="ctr" rtlCol="false" tIns="0" lIns="0" bIns="0" rIns="0"/>
            <a:lstStyle/>
            <a:p>
              <a:pPr algn="l">
                <a:lnSpc>
                  <a:spcPts val="7680"/>
                </a:lnSpc>
              </a:pPr>
              <a:r>
                <a:rPr lang="en-US" sz="6400" b="true">
                  <a:solidFill>
                    <a:srgbClr val="6B4F3A"/>
                  </a:solidFill>
                  <a:latin typeface="Montserrat Bold"/>
                  <a:ea typeface="Montserrat Bold"/>
                  <a:cs typeface="Montserrat Bold"/>
                  <a:sym typeface="Montserrat Bold"/>
                </a:rPr>
                <a:t>Potential Next Steps</a:t>
              </a:r>
            </a:p>
          </p:txBody>
        </p:sp>
      </p:grpSp>
      <p:grpSp>
        <p:nvGrpSpPr>
          <p:cNvPr name="Group 5" id="5"/>
          <p:cNvGrpSpPr/>
          <p:nvPr/>
        </p:nvGrpSpPr>
        <p:grpSpPr>
          <a:xfrm rot="0">
            <a:off x="1097280" y="2705891"/>
            <a:ext cx="7378328" cy="6552409"/>
            <a:chOff x="0" y="0"/>
            <a:chExt cx="9837770" cy="8736545"/>
          </a:xfrm>
        </p:grpSpPr>
        <p:sp>
          <p:nvSpPr>
            <p:cNvPr name="Freeform 6" id="6"/>
            <p:cNvSpPr/>
            <p:nvPr/>
          </p:nvSpPr>
          <p:spPr>
            <a:xfrm flipH="false" flipV="false" rot="0">
              <a:off x="0" y="0"/>
              <a:ext cx="9837770" cy="8736544"/>
            </a:xfrm>
            <a:custGeom>
              <a:avLst/>
              <a:gdLst/>
              <a:ahLst/>
              <a:cxnLst/>
              <a:rect r="r" b="b" t="t" l="l"/>
              <a:pathLst>
                <a:path h="8736544" w="9837770">
                  <a:moveTo>
                    <a:pt x="0" y="0"/>
                  </a:moveTo>
                  <a:lnTo>
                    <a:pt x="9837770" y="0"/>
                  </a:lnTo>
                  <a:lnTo>
                    <a:pt x="9837770" y="8736544"/>
                  </a:lnTo>
                  <a:lnTo>
                    <a:pt x="0" y="8736544"/>
                  </a:lnTo>
                  <a:close/>
                </a:path>
              </a:pathLst>
            </a:custGeom>
            <a:blipFill>
              <a:blip r:embed="rId2">
                <a:alphaModFix amt="0"/>
              </a:blip>
              <a:stretch>
                <a:fillRect l="0" t="-38203" r="-98288" b="51190"/>
              </a:stretch>
            </a:blipFill>
          </p:spPr>
        </p:sp>
        <p:sp>
          <p:nvSpPr>
            <p:cNvPr name="TextBox 7" id="7"/>
            <p:cNvSpPr txBox="true"/>
            <p:nvPr/>
          </p:nvSpPr>
          <p:spPr>
            <a:xfrm>
              <a:off x="0" y="9525"/>
              <a:ext cx="9837770" cy="8727020"/>
            </a:xfrm>
            <a:prstGeom prst="rect">
              <a:avLst/>
            </a:prstGeom>
          </p:spPr>
          <p:txBody>
            <a:bodyPr anchor="t" rtlCol="false" tIns="0" lIns="0" bIns="0" rIns="0"/>
            <a:lstStyle/>
            <a:p>
              <a:pPr algn="just" marL="647697" indent="-323848" lvl="1">
                <a:lnSpc>
                  <a:spcPts val="3599"/>
                </a:lnSpc>
                <a:buFont typeface="Arial"/>
                <a:buChar char="•"/>
              </a:pPr>
              <a:r>
                <a:rPr lang="en-US" sz="2999">
                  <a:solidFill>
                    <a:srgbClr val="000000"/>
                  </a:solidFill>
                  <a:latin typeface="Montserrat"/>
                  <a:ea typeface="Montserrat"/>
                  <a:cs typeface="Montserrat"/>
                  <a:sym typeface="Montserrat"/>
                </a:rPr>
                <a:t>Explore other 3D UMAP</a:t>
              </a:r>
            </a:p>
            <a:p>
              <a:pPr algn="just">
                <a:lnSpc>
                  <a:spcPts val="3599"/>
                </a:lnSpc>
              </a:pPr>
            </a:p>
            <a:p>
              <a:pPr algn="just">
                <a:lnSpc>
                  <a:spcPts val="3599"/>
                </a:lnSpc>
              </a:pPr>
            </a:p>
            <a:p>
              <a:pPr algn="just" marL="647697" indent="-323848" lvl="1">
                <a:lnSpc>
                  <a:spcPts val="3599"/>
                </a:lnSpc>
                <a:buFont typeface="Arial"/>
                <a:buChar char="•"/>
              </a:pPr>
              <a:r>
                <a:rPr lang="en-US" sz="2999">
                  <a:solidFill>
                    <a:srgbClr val="000000"/>
                  </a:solidFill>
                  <a:latin typeface="Montserrat"/>
                  <a:ea typeface="Montserrat"/>
                  <a:cs typeface="Montserrat"/>
                  <a:sym typeface="Montserrat"/>
                </a:rPr>
                <a:t>Explore other approaches that can more finely tell apart viral groups</a:t>
              </a:r>
            </a:p>
            <a:p>
              <a:pPr algn="just">
                <a:lnSpc>
                  <a:spcPts val="3599"/>
                </a:lnSpc>
              </a:pPr>
              <a:r>
                <a:rPr lang="en-US" sz="2999">
                  <a:solidFill>
                    <a:srgbClr val="000000"/>
                  </a:solidFill>
                  <a:latin typeface="Montserrat"/>
                  <a:ea typeface="Montserrat"/>
                  <a:cs typeface="Montserrat"/>
                  <a:sym typeface="Montserrat"/>
                </a:rPr>
                <a:t> </a:t>
              </a:r>
            </a:p>
            <a:p>
              <a:pPr algn="just">
                <a:lnSpc>
                  <a:spcPts val="3599"/>
                </a:lnSpc>
              </a:pPr>
            </a:p>
            <a:p>
              <a:pPr algn="l" marL="647697" indent="-323848" lvl="1">
                <a:lnSpc>
                  <a:spcPts val="3599"/>
                </a:lnSpc>
                <a:buFont typeface="Arial"/>
                <a:buChar char="•"/>
              </a:pPr>
              <a:r>
                <a:rPr lang="en-US" sz="2999">
                  <a:solidFill>
                    <a:srgbClr val="000000"/>
                  </a:solidFill>
                  <a:latin typeface="Montserrat"/>
                  <a:ea typeface="Montserrat"/>
                  <a:cs typeface="Montserrat"/>
                  <a:sym typeface="Montserrat"/>
                </a:rPr>
                <a:t>Explore the significance behind the gaps between clusters in the UMAP plot</a:t>
              </a:r>
            </a:p>
          </p:txBody>
        </p:sp>
      </p:grpSp>
      <p:sp>
        <p:nvSpPr>
          <p:cNvPr name="Freeform 8" id="8"/>
          <p:cNvSpPr/>
          <p:nvPr/>
        </p:nvSpPr>
        <p:spPr>
          <a:xfrm flipH="false" flipV="false" rot="0">
            <a:off x="9144000" y="2705891"/>
            <a:ext cx="8545533" cy="6836427"/>
          </a:xfrm>
          <a:custGeom>
            <a:avLst/>
            <a:gdLst/>
            <a:ahLst/>
            <a:cxnLst/>
            <a:rect r="r" b="b" t="t" l="l"/>
            <a:pathLst>
              <a:path h="6836427" w="8545533">
                <a:moveTo>
                  <a:pt x="0" y="0"/>
                </a:moveTo>
                <a:lnTo>
                  <a:pt x="8545533" y="0"/>
                </a:lnTo>
                <a:lnTo>
                  <a:pt x="8545533" y="6836427"/>
                </a:lnTo>
                <a:lnTo>
                  <a:pt x="0" y="6836427"/>
                </a:lnTo>
                <a:lnTo>
                  <a:pt x="0" y="0"/>
                </a:lnTo>
                <a:close/>
              </a:path>
            </a:pathLst>
          </a:custGeom>
          <a:blipFill>
            <a:blip r:embed="rId3"/>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DFAF5"/>
        </a:solidFill>
      </p:bgPr>
    </p:bg>
    <p:spTree>
      <p:nvGrpSpPr>
        <p:cNvPr id="1" name=""/>
        <p:cNvGrpSpPr/>
        <p:nvPr/>
      </p:nvGrpSpPr>
      <p:grpSpPr>
        <a:xfrm>
          <a:off x="0" y="0"/>
          <a:ext cx="0" cy="0"/>
          <a:chOff x="0" y="0"/>
          <a:chExt cx="0" cy="0"/>
        </a:xfrm>
      </p:grpSpPr>
      <p:grpSp>
        <p:nvGrpSpPr>
          <p:cNvPr name="Group 2" id="2"/>
          <p:cNvGrpSpPr/>
          <p:nvPr/>
        </p:nvGrpSpPr>
        <p:grpSpPr>
          <a:xfrm rot="0">
            <a:off x="1097280" y="822960"/>
            <a:ext cx="14630400" cy="1279601"/>
            <a:chOff x="0" y="0"/>
            <a:chExt cx="19507200" cy="1706135"/>
          </a:xfrm>
        </p:grpSpPr>
        <p:sp>
          <p:nvSpPr>
            <p:cNvPr name="Freeform 3" id="3"/>
            <p:cNvSpPr/>
            <p:nvPr/>
          </p:nvSpPr>
          <p:spPr>
            <a:xfrm flipH="false" flipV="false" rot="0">
              <a:off x="0" y="0"/>
              <a:ext cx="19507200" cy="1706135"/>
            </a:xfrm>
            <a:custGeom>
              <a:avLst/>
              <a:gdLst/>
              <a:ahLst/>
              <a:cxnLst/>
              <a:rect r="r" b="b" t="t" l="l"/>
              <a:pathLst>
                <a:path h="1706135" w="19507200">
                  <a:moveTo>
                    <a:pt x="0" y="0"/>
                  </a:moveTo>
                  <a:lnTo>
                    <a:pt x="19507200" y="0"/>
                  </a:lnTo>
                  <a:lnTo>
                    <a:pt x="19507200" y="1706135"/>
                  </a:lnTo>
                  <a:lnTo>
                    <a:pt x="0" y="1706135"/>
                  </a:lnTo>
                  <a:close/>
                </a:path>
              </a:pathLst>
            </a:custGeom>
            <a:blipFill>
              <a:blip r:embed="rId2">
                <a:alphaModFix amt="0"/>
              </a:blip>
              <a:stretch>
                <a:fillRect l="0" t="-176334" r="0" b="-169232"/>
              </a:stretch>
            </a:blipFill>
          </p:spPr>
        </p:sp>
        <p:sp>
          <p:nvSpPr>
            <p:cNvPr name="TextBox 4" id="4"/>
            <p:cNvSpPr txBox="true"/>
            <p:nvPr/>
          </p:nvSpPr>
          <p:spPr>
            <a:xfrm>
              <a:off x="0" y="0"/>
              <a:ext cx="19507200" cy="1706135"/>
            </a:xfrm>
            <a:prstGeom prst="rect">
              <a:avLst/>
            </a:prstGeom>
          </p:spPr>
          <p:txBody>
            <a:bodyPr anchor="ctr" rtlCol="false" tIns="0" lIns="0" bIns="0" rIns="0"/>
            <a:lstStyle/>
            <a:p>
              <a:pPr algn="l">
                <a:lnSpc>
                  <a:spcPts val="7680"/>
                </a:lnSpc>
              </a:pPr>
              <a:r>
                <a:rPr lang="en-US" sz="6400" b="true">
                  <a:solidFill>
                    <a:srgbClr val="6B4F3A"/>
                  </a:solidFill>
                  <a:latin typeface="Montserrat Bold"/>
                  <a:ea typeface="Montserrat Bold"/>
                  <a:cs typeface="Montserrat Bold"/>
                  <a:sym typeface="Montserrat Bold"/>
                </a:rPr>
                <a:t>Internship Learnings</a:t>
              </a:r>
            </a:p>
          </p:txBody>
        </p:sp>
      </p:grpSp>
      <p:grpSp>
        <p:nvGrpSpPr>
          <p:cNvPr name="Group 5" id="5"/>
          <p:cNvGrpSpPr/>
          <p:nvPr/>
        </p:nvGrpSpPr>
        <p:grpSpPr>
          <a:xfrm rot="0">
            <a:off x="1097280" y="1975104"/>
            <a:ext cx="14630400" cy="694944"/>
            <a:chOff x="0" y="0"/>
            <a:chExt cx="19507200" cy="926592"/>
          </a:xfrm>
        </p:grpSpPr>
        <p:sp>
          <p:nvSpPr>
            <p:cNvPr name="Freeform 6" id="6"/>
            <p:cNvSpPr/>
            <p:nvPr/>
          </p:nvSpPr>
          <p:spPr>
            <a:xfrm flipH="false" flipV="false" rot="0">
              <a:off x="0" y="0"/>
              <a:ext cx="19507200" cy="926592"/>
            </a:xfrm>
            <a:custGeom>
              <a:avLst/>
              <a:gdLst/>
              <a:ahLst/>
              <a:cxnLst/>
              <a:rect r="r" b="b" t="t" l="l"/>
              <a:pathLst>
                <a:path h="926592" w="19507200">
                  <a:moveTo>
                    <a:pt x="0" y="0"/>
                  </a:moveTo>
                  <a:lnTo>
                    <a:pt x="19507200" y="0"/>
                  </a:lnTo>
                  <a:lnTo>
                    <a:pt x="19507200" y="926592"/>
                  </a:lnTo>
                  <a:lnTo>
                    <a:pt x="0" y="926592"/>
                  </a:lnTo>
                  <a:close/>
                </a:path>
              </a:pathLst>
            </a:custGeom>
            <a:blipFill>
              <a:blip r:embed="rId2">
                <a:alphaModFix amt="0"/>
              </a:blip>
              <a:stretch>
                <a:fillRect l="0" t="-360211" r="0" b="-360211"/>
              </a:stretch>
            </a:blipFill>
          </p:spPr>
        </p:sp>
        <p:sp>
          <p:nvSpPr>
            <p:cNvPr name="TextBox 7" id="7"/>
            <p:cNvSpPr txBox="true"/>
            <p:nvPr/>
          </p:nvSpPr>
          <p:spPr>
            <a:xfrm>
              <a:off x="0" y="9525"/>
              <a:ext cx="19507200" cy="917067"/>
            </a:xfrm>
            <a:prstGeom prst="rect">
              <a:avLst/>
            </a:prstGeom>
          </p:spPr>
          <p:txBody>
            <a:bodyPr anchor="ctr" rtlCol="false" tIns="0" lIns="0" bIns="0" rIns="0"/>
            <a:lstStyle/>
            <a:p>
              <a:pPr algn="l">
                <a:lnSpc>
                  <a:spcPts val="2879"/>
                </a:lnSpc>
              </a:pPr>
              <a:r>
                <a:rPr lang="en-US" sz="2400">
                  <a:solidFill>
                    <a:srgbClr val="9C7B5E"/>
                  </a:solidFill>
                  <a:latin typeface="Montserrat"/>
                  <a:ea typeface="Montserrat"/>
                  <a:cs typeface="Montserrat"/>
                  <a:sym typeface="Montserrat"/>
                </a:rPr>
                <a:t> Practical skills and experiences gained</a:t>
              </a:r>
            </a:p>
          </p:txBody>
        </p:sp>
      </p:grpSp>
      <p:grpSp>
        <p:nvGrpSpPr>
          <p:cNvPr name="Group 8" id="8"/>
          <p:cNvGrpSpPr/>
          <p:nvPr/>
        </p:nvGrpSpPr>
        <p:grpSpPr>
          <a:xfrm rot="0">
            <a:off x="993143" y="3004823"/>
            <a:ext cx="5237483" cy="3042923"/>
            <a:chOff x="0" y="0"/>
            <a:chExt cx="6983311" cy="4057231"/>
          </a:xfrm>
        </p:grpSpPr>
        <p:sp>
          <p:nvSpPr>
            <p:cNvPr name="Freeform 9" id="9"/>
            <p:cNvSpPr/>
            <p:nvPr/>
          </p:nvSpPr>
          <p:spPr>
            <a:xfrm flipH="false" flipV="false" rot="0">
              <a:off x="0" y="0"/>
              <a:ext cx="6983349" cy="4057269"/>
            </a:xfrm>
            <a:custGeom>
              <a:avLst/>
              <a:gdLst/>
              <a:ahLst/>
              <a:cxnLst/>
              <a:rect r="r" b="b" t="t" l="l"/>
              <a:pathLst>
                <a:path h="4057269" w="6983349">
                  <a:moveTo>
                    <a:pt x="571500" y="0"/>
                  </a:moveTo>
                  <a:lnTo>
                    <a:pt x="6411849" y="0"/>
                  </a:lnTo>
                  <a:cubicBezTo>
                    <a:pt x="6563420" y="0"/>
                    <a:pt x="6708784" y="60211"/>
                    <a:pt x="6815961" y="167388"/>
                  </a:cubicBezTo>
                  <a:cubicBezTo>
                    <a:pt x="6923138" y="274566"/>
                    <a:pt x="6983349" y="419929"/>
                    <a:pt x="6983349" y="571500"/>
                  </a:cubicBezTo>
                  <a:lnTo>
                    <a:pt x="6983349" y="3485769"/>
                  </a:lnTo>
                  <a:cubicBezTo>
                    <a:pt x="6983349" y="3801400"/>
                    <a:pt x="6727480" y="4057269"/>
                    <a:pt x="6411849" y="4057269"/>
                  </a:cubicBezTo>
                  <a:lnTo>
                    <a:pt x="571500" y="4057269"/>
                  </a:lnTo>
                  <a:cubicBezTo>
                    <a:pt x="419929" y="4057269"/>
                    <a:pt x="274566" y="3997058"/>
                    <a:pt x="167388" y="3889880"/>
                  </a:cubicBezTo>
                  <a:cubicBezTo>
                    <a:pt x="60211" y="3782704"/>
                    <a:pt x="0" y="3637340"/>
                    <a:pt x="0" y="3485769"/>
                  </a:cubicBezTo>
                  <a:lnTo>
                    <a:pt x="0" y="571500"/>
                  </a:lnTo>
                  <a:cubicBezTo>
                    <a:pt x="0" y="255869"/>
                    <a:pt x="255869" y="0"/>
                    <a:pt x="571500" y="0"/>
                  </a:cubicBezTo>
                  <a:close/>
                </a:path>
              </a:pathLst>
            </a:custGeom>
            <a:solidFill>
              <a:srgbClr val="F5F0E8"/>
            </a:solidFill>
            <a:ln w="25400" cap="rnd">
              <a:solidFill>
                <a:srgbClr val="D9CEBA"/>
              </a:solidFill>
              <a:prstDash val="solid"/>
              <a:round/>
            </a:ln>
          </p:spPr>
        </p:sp>
      </p:grpSp>
      <p:grpSp>
        <p:nvGrpSpPr>
          <p:cNvPr name="Group 10" id="10"/>
          <p:cNvGrpSpPr/>
          <p:nvPr/>
        </p:nvGrpSpPr>
        <p:grpSpPr>
          <a:xfrm rot="0">
            <a:off x="1280160" y="4114800"/>
            <a:ext cx="4663440" cy="768096"/>
            <a:chOff x="0" y="0"/>
            <a:chExt cx="6217920" cy="1024128"/>
          </a:xfrm>
        </p:grpSpPr>
        <p:sp>
          <p:nvSpPr>
            <p:cNvPr name="Freeform 11" id="11"/>
            <p:cNvSpPr/>
            <p:nvPr/>
          </p:nvSpPr>
          <p:spPr>
            <a:xfrm flipH="false" flipV="false" rot="0">
              <a:off x="0" y="0"/>
              <a:ext cx="6217920" cy="1024128"/>
            </a:xfrm>
            <a:custGeom>
              <a:avLst/>
              <a:gdLst/>
              <a:ahLst/>
              <a:cxnLst/>
              <a:rect r="r" b="b" t="t" l="l"/>
              <a:pathLst>
                <a:path h="1024128" w="6217920">
                  <a:moveTo>
                    <a:pt x="0" y="0"/>
                  </a:moveTo>
                  <a:lnTo>
                    <a:pt x="6217920" y="0"/>
                  </a:lnTo>
                  <a:lnTo>
                    <a:pt x="6217920" y="1024128"/>
                  </a:lnTo>
                  <a:lnTo>
                    <a:pt x="0" y="1024128"/>
                  </a:lnTo>
                  <a:close/>
                </a:path>
              </a:pathLst>
            </a:custGeom>
            <a:blipFill>
              <a:blip r:embed="rId2">
                <a:alphaModFix amt="0"/>
              </a:blip>
              <a:stretch>
                <a:fillRect l="0" t="-68302" r="0" b="-68302"/>
              </a:stretch>
            </a:blipFill>
          </p:spPr>
        </p:sp>
        <p:sp>
          <p:nvSpPr>
            <p:cNvPr name="TextBox 12" id="12"/>
            <p:cNvSpPr txBox="true"/>
            <p:nvPr/>
          </p:nvSpPr>
          <p:spPr>
            <a:xfrm>
              <a:off x="0" y="0"/>
              <a:ext cx="6217920" cy="1024128"/>
            </a:xfrm>
            <a:prstGeom prst="rect">
              <a:avLst/>
            </a:prstGeom>
          </p:spPr>
          <p:txBody>
            <a:bodyPr anchor="ctr" rtlCol="false" tIns="0" lIns="0" bIns="0" rIns="0"/>
            <a:lstStyle/>
            <a:p>
              <a:pPr algn="ctr">
                <a:lnSpc>
                  <a:spcPts val="2640"/>
                </a:lnSpc>
              </a:pPr>
              <a:r>
                <a:rPr lang="en-US" sz="2200" b="true">
                  <a:solidFill>
                    <a:srgbClr val="6B4F3A"/>
                  </a:solidFill>
                  <a:latin typeface="Montserrat Bold"/>
                  <a:ea typeface="Montserrat Bold"/>
                  <a:cs typeface="Montserrat Bold"/>
                  <a:sym typeface="Montserrat Bold"/>
                </a:rPr>
                <a:t>GitHub</a:t>
              </a:r>
            </a:p>
          </p:txBody>
        </p:sp>
      </p:grpSp>
      <p:grpSp>
        <p:nvGrpSpPr>
          <p:cNvPr name="Group 13" id="13"/>
          <p:cNvGrpSpPr/>
          <p:nvPr/>
        </p:nvGrpSpPr>
        <p:grpSpPr>
          <a:xfrm rot="0">
            <a:off x="1280160" y="4846320"/>
            <a:ext cx="4663440" cy="950976"/>
            <a:chOff x="0" y="0"/>
            <a:chExt cx="6217920" cy="1267968"/>
          </a:xfrm>
        </p:grpSpPr>
        <p:sp>
          <p:nvSpPr>
            <p:cNvPr name="Freeform 14" id="14"/>
            <p:cNvSpPr/>
            <p:nvPr/>
          </p:nvSpPr>
          <p:spPr>
            <a:xfrm flipH="false" flipV="false" rot="0">
              <a:off x="0" y="0"/>
              <a:ext cx="6217920" cy="1267968"/>
            </a:xfrm>
            <a:custGeom>
              <a:avLst/>
              <a:gdLst/>
              <a:ahLst/>
              <a:cxnLst/>
              <a:rect r="r" b="b" t="t" l="l"/>
              <a:pathLst>
                <a:path h="1267968" w="6217920">
                  <a:moveTo>
                    <a:pt x="0" y="0"/>
                  </a:moveTo>
                  <a:lnTo>
                    <a:pt x="6217920" y="0"/>
                  </a:lnTo>
                  <a:lnTo>
                    <a:pt x="6217920" y="1267968"/>
                  </a:lnTo>
                  <a:lnTo>
                    <a:pt x="0" y="1267968"/>
                  </a:lnTo>
                  <a:close/>
                </a:path>
              </a:pathLst>
            </a:custGeom>
            <a:blipFill>
              <a:blip r:embed="rId2">
                <a:alphaModFix amt="0"/>
              </a:blip>
              <a:stretch>
                <a:fillRect l="0" t="-45551" r="0" b="-45551"/>
              </a:stretch>
            </a:blipFill>
          </p:spPr>
        </p:sp>
        <p:sp>
          <p:nvSpPr>
            <p:cNvPr name="TextBox 15" id="15"/>
            <p:cNvSpPr txBox="true"/>
            <p:nvPr/>
          </p:nvSpPr>
          <p:spPr>
            <a:xfrm>
              <a:off x="0" y="0"/>
              <a:ext cx="6217920" cy="1267968"/>
            </a:xfrm>
            <a:prstGeom prst="rect">
              <a:avLst/>
            </a:prstGeom>
          </p:spPr>
          <p:txBody>
            <a:bodyPr anchor="ctr" rtlCol="false" tIns="0" lIns="0" bIns="0" rIns="0"/>
            <a:lstStyle/>
            <a:p>
              <a:pPr algn="ctr">
                <a:lnSpc>
                  <a:spcPts val="2280"/>
                </a:lnSpc>
              </a:pPr>
              <a:r>
                <a:rPr lang="en-US" sz="1900">
                  <a:solidFill>
                    <a:srgbClr val="9C7B5E"/>
                  </a:solidFill>
                  <a:latin typeface="Montserrat"/>
                  <a:ea typeface="Montserrat"/>
                  <a:cs typeface="Montserrat"/>
                  <a:sym typeface="Montserrat"/>
                </a:rPr>
                <a:t>.</a:t>
              </a:r>
            </a:p>
          </p:txBody>
        </p:sp>
      </p:grpSp>
      <p:grpSp>
        <p:nvGrpSpPr>
          <p:cNvPr name="Group 16" id="16"/>
          <p:cNvGrpSpPr/>
          <p:nvPr/>
        </p:nvGrpSpPr>
        <p:grpSpPr>
          <a:xfrm rot="0">
            <a:off x="6662423" y="3004823"/>
            <a:ext cx="5237483" cy="3042923"/>
            <a:chOff x="0" y="0"/>
            <a:chExt cx="6983311" cy="4057231"/>
          </a:xfrm>
        </p:grpSpPr>
        <p:sp>
          <p:nvSpPr>
            <p:cNvPr name="Freeform 17" id="17"/>
            <p:cNvSpPr/>
            <p:nvPr/>
          </p:nvSpPr>
          <p:spPr>
            <a:xfrm flipH="false" flipV="false" rot="0">
              <a:off x="0" y="0"/>
              <a:ext cx="6983349" cy="4057269"/>
            </a:xfrm>
            <a:custGeom>
              <a:avLst/>
              <a:gdLst/>
              <a:ahLst/>
              <a:cxnLst/>
              <a:rect r="r" b="b" t="t" l="l"/>
              <a:pathLst>
                <a:path h="4057269" w="6983349">
                  <a:moveTo>
                    <a:pt x="571500" y="0"/>
                  </a:moveTo>
                  <a:lnTo>
                    <a:pt x="6411849" y="0"/>
                  </a:lnTo>
                  <a:cubicBezTo>
                    <a:pt x="6563420" y="0"/>
                    <a:pt x="6708784" y="60211"/>
                    <a:pt x="6815961" y="167388"/>
                  </a:cubicBezTo>
                  <a:cubicBezTo>
                    <a:pt x="6923138" y="274566"/>
                    <a:pt x="6983349" y="419929"/>
                    <a:pt x="6983349" y="571500"/>
                  </a:cubicBezTo>
                  <a:lnTo>
                    <a:pt x="6983349" y="3485769"/>
                  </a:lnTo>
                  <a:cubicBezTo>
                    <a:pt x="6983349" y="3801400"/>
                    <a:pt x="6727480" y="4057269"/>
                    <a:pt x="6411849" y="4057269"/>
                  </a:cubicBezTo>
                  <a:lnTo>
                    <a:pt x="571500" y="4057269"/>
                  </a:lnTo>
                  <a:cubicBezTo>
                    <a:pt x="419929" y="4057269"/>
                    <a:pt x="274566" y="3997058"/>
                    <a:pt x="167388" y="3889880"/>
                  </a:cubicBezTo>
                  <a:cubicBezTo>
                    <a:pt x="60211" y="3782704"/>
                    <a:pt x="0" y="3637340"/>
                    <a:pt x="0" y="3485769"/>
                  </a:cubicBezTo>
                  <a:lnTo>
                    <a:pt x="0" y="571500"/>
                  </a:lnTo>
                  <a:cubicBezTo>
                    <a:pt x="0" y="255869"/>
                    <a:pt x="255869" y="0"/>
                    <a:pt x="571500" y="0"/>
                  </a:cubicBezTo>
                  <a:close/>
                </a:path>
              </a:pathLst>
            </a:custGeom>
            <a:solidFill>
              <a:srgbClr val="F5F0E8"/>
            </a:solidFill>
            <a:ln w="25400" cap="rnd">
              <a:solidFill>
                <a:srgbClr val="D9CEBA"/>
              </a:solidFill>
              <a:prstDash val="solid"/>
              <a:round/>
            </a:ln>
          </p:spPr>
        </p:sp>
      </p:grpSp>
      <p:grpSp>
        <p:nvGrpSpPr>
          <p:cNvPr name="Group 18" id="18"/>
          <p:cNvGrpSpPr/>
          <p:nvPr/>
        </p:nvGrpSpPr>
        <p:grpSpPr>
          <a:xfrm rot="0">
            <a:off x="6949440" y="4114800"/>
            <a:ext cx="4663440" cy="768096"/>
            <a:chOff x="0" y="0"/>
            <a:chExt cx="6217920" cy="1024128"/>
          </a:xfrm>
        </p:grpSpPr>
        <p:sp>
          <p:nvSpPr>
            <p:cNvPr name="Freeform 19" id="19"/>
            <p:cNvSpPr/>
            <p:nvPr/>
          </p:nvSpPr>
          <p:spPr>
            <a:xfrm flipH="false" flipV="false" rot="0">
              <a:off x="0" y="0"/>
              <a:ext cx="6217920" cy="1024128"/>
            </a:xfrm>
            <a:custGeom>
              <a:avLst/>
              <a:gdLst/>
              <a:ahLst/>
              <a:cxnLst/>
              <a:rect r="r" b="b" t="t" l="l"/>
              <a:pathLst>
                <a:path h="1024128" w="6217920">
                  <a:moveTo>
                    <a:pt x="0" y="0"/>
                  </a:moveTo>
                  <a:lnTo>
                    <a:pt x="6217920" y="0"/>
                  </a:lnTo>
                  <a:lnTo>
                    <a:pt x="6217920" y="1024128"/>
                  </a:lnTo>
                  <a:lnTo>
                    <a:pt x="0" y="1024128"/>
                  </a:lnTo>
                  <a:close/>
                </a:path>
              </a:pathLst>
            </a:custGeom>
            <a:blipFill>
              <a:blip r:embed="rId2">
                <a:alphaModFix amt="0"/>
              </a:blip>
              <a:stretch>
                <a:fillRect l="0" t="-68302" r="0" b="-68302"/>
              </a:stretch>
            </a:blipFill>
          </p:spPr>
        </p:sp>
        <p:sp>
          <p:nvSpPr>
            <p:cNvPr name="TextBox 20" id="20"/>
            <p:cNvSpPr txBox="true"/>
            <p:nvPr/>
          </p:nvSpPr>
          <p:spPr>
            <a:xfrm>
              <a:off x="0" y="0"/>
              <a:ext cx="6217920" cy="1024128"/>
            </a:xfrm>
            <a:prstGeom prst="rect">
              <a:avLst/>
            </a:prstGeom>
          </p:spPr>
          <p:txBody>
            <a:bodyPr anchor="ctr" rtlCol="false" tIns="0" lIns="0" bIns="0" rIns="0"/>
            <a:lstStyle/>
            <a:p>
              <a:pPr algn="ctr">
                <a:lnSpc>
                  <a:spcPts val="2640"/>
                </a:lnSpc>
              </a:pPr>
              <a:r>
                <a:rPr lang="en-US" sz="2200" b="true">
                  <a:solidFill>
                    <a:srgbClr val="6B4F3A"/>
                  </a:solidFill>
                  <a:latin typeface="Montserrat Bold"/>
                  <a:ea typeface="Montserrat Bold"/>
                  <a:cs typeface="Montserrat Bold"/>
                  <a:sym typeface="Montserrat Bold"/>
                </a:rPr>
                <a:t>Spartan</a:t>
              </a:r>
            </a:p>
          </p:txBody>
        </p:sp>
      </p:grpSp>
      <p:grpSp>
        <p:nvGrpSpPr>
          <p:cNvPr name="Group 21" id="21"/>
          <p:cNvGrpSpPr/>
          <p:nvPr/>
        </p:nvGrpSpPr>
        <p:grpSpPr>
          <a:xfrm rot="0">
            <a:off x="6949440" y="4846320"/>
            <a:ext cx="4663440" cy="950976"/>
            <a:chOff x="0" y="0"/>
            <a:chExt cx="6217920" cy="1267968"/>
          </a:xfrm>
        </p:grpSpPr>
        <p:sp>
          <p:nvSpPr>
            <p:cNvPr name="Freeform 22" id="22"/>
            <p:cNvSpPr/>
            <p:nvPr/>
          </p:nvSpPr>
          <p:spPr>
            <a:xfrm flipH="false" flipV="false" rot="0">
              <a:off x="0" y="0"/>
              <a:ext cx="6217920" cy="1267968"/>
            </a:xfrm>
            <a:custGeom>
              <a:avLst/>
              <a:gdLst/>
              <a:ahLst/>
              <a:cxnLst/>
              <a:rect r="r" b="b" t="t" l="l"/>
              <a:pathLst>
                <a:path h="1267968" w="6217920">
                  <a:moveTo>
                    <a:pt x="0" y="0"/>
                  </a:moveTo>
                  <a:lnTo>
                    <a:pt x="6217920" y="0"/>
                  </a:lnTo>
                  <a:lnTo>
                    <a:pt x="6217920" y="1267968"/>
                  </a:lnTo>
                  <a:lnTo>
                    <a:pt x="0" y="1267968"/>
                  </a:lnTo>
                  <a:close/>
                </a:path>
              </a:pathLst>
            </a:custGeom>
            <a:blipFill>
              <a:blip r:embed="rId2">
                <a:alphaModFix amt="0"/>
              </a:blip>
              <a:stretch>
                <a:fillRect l="0" t="-45551" r="0" b="-45551"/>
              </a:stretch>
            </a:blipFill>
          </p:spPr>
        </p:sp>
        <p:sp>
          <p:nvSpPr>
            <p:cNvPr name="TextBox 23" id="23"/>
            <p:cNvSpPr txBox="true"/>
            <p:nvPr/>
          </p:nvSpPr>
          <p:spPr>
            <a:xfrm>
              <a:off x="0" y="0"/>
              <a:ext cx="6217920" cy="1267968"/>
            </a:xfrm>
            <a:prstGeom prst="rect">
              <a:avLst/>
            </a:prstGeom>
          </p:spPr>
          <p:txBody>
            <a:bodyPr anchor="ctr" rtlCol="false" tIns="0" lIns="0" bIns="0" rIns="0"/>
            <a:lstStyle/>
            <a:p>
              <a:pPr algn="ctr">
                <a:lnSpc>
                  <a:spcPts val="2280"/>
                </a:lnSpc>
              </a:pPr>
              <a:r>
                <a:rPr lang="en-US" sz="1900">
                  <a:solidFill>
                    <a:srgbClr val="9C7B5E"/>
                  </a:solidFill>
                  <a:latin typeface="Montserrat"/>
                  <a:ea typeface="Montserrat"/>
                  <a:cs typeface="Montserrat"/>
                  <a:sym typeface="Montserrat"/>
                </a:rPr>
                <a:t>.</a:t>
              </a:r>
            </a:p>
          </p:txBody>
        </p:sp>
      </p:grpSp>
      <p:grpSp>
        <p:nvGrpSpPr>
          <p:cNvPr name="Group 24" id="24"/>
          <p:cNvGrpSpPr/>
          <p:nvPr/>
        </p:nvGrpSpPr>
        <p:grpSpPr>
          <a:xfrm rot="0">
            <a:off x="12331703" y="3004823"/>
            <a:ext cx="5237483" cy="3042923"/>
            <a:chOff x="0" y="0"/>
            <a:chExt cx="6983311" cy="4057231"/>
          </a:xfrm>
        </p:grpSpPr>
        <p:sp>
          <p:nvSpPr>
            <p:cNvPr name="Freeform 25" id="25"/>
            <p:cNvSpPr/>
            <p:nvPr/>
          </p:nvSpPr>
          <p:spPr>
            <a:xfrm flipH="false" flipV="false" rot="0">
              <a:off x="0" y="0"/>
              <a:ext cx="6983349" cy="4057269"/>
            </a:xfrm>
            <a:custGeom>
              <a:avLst/>
              <a:gdLst/>
              <a:ahLst/>
              <a:cxnLst/>
              <a:rect r="r" b="b" t="t" l="l"/>
              <a:pathLst>
                <a:path h="4057269" w="6983349">
                  <a:moveTo>
                    <a:pt x="571500" y="0"/>
                  </a:moveTo>
                  <a:lnTo>
                    <a:pt x="6411849" y="0"/>
                  </a:lnTo>
                  <a:cubicBezTo>
                    <a:pt x="6563420" y="0"/>
                    <a:pt x="6708784" y="60211"/>
                    <a:pt x="6815961" y="167388"/>
                  </a:cubicBezTo>
                  <a:cubicBezTo>
                    <a:pt x="6923138" y="274566"/>
                    <a:pt x="6983349" y="419929"/>
                    <a:pt x="6983349" y="571500"/>
                  </a:cubicBezTo>
                  <a:lnTo>
                    <a:pt x="6983349" y="3485769"/>
                  </a:lnTo>
                  <a:cubicBezTo>
                    <a:pt x="6983349" y="3801400"/>
                    <a:pt x="6727480" y="4057269"/>
                    <a:pt x="6411849" y="4057269"/>
                  </a:cubicBezTo>
                  <a:lnTo>
                    <a:pt x="571500" y="4057269"/>
                  </a:lnTo>
                  <a:cubicBezTo>
                    <a:pt x="419929" y="4057269"/>
                    <a:pt x="274566" y="3997058"/>
                    <a:pt x="167388" y="3889880"/>
                  </a:cubicBezTo>
                  <a:cubicBezTo>
                    <a:pt x="60211" y="3782704"/>
                    <a:pt x="0" y="3637340"/>
                    <a:pt x="0" y="3485769"/>
                  </a:cubicBezTo>
                  <a:lnTo>
                    <a:pt x="0" y="571500"/>
                  </a:lnTo>
                  <a:cubicBezTo>
                    <a:pt x="0" y="255869"/>
                    <a:pt x="255869" y="0"/>
                    <a:pt x="571500" y="0"/>
                  </a:cubicBezTo>
                  <a:close/>
                </a:path>
              </a:pathLst>
            </a:custGeom>
            <a:solidFill>
              <a:srgbClr val="F5F0E8"/>
            </a:solidFill>
            <a:ln w="25400" cap="rnd">
              <a:solidFill>
                <a:srgbClr val="D9CEBA"/>
              </a:solidFill>
              <a:prstDash val="solid"/>
              <a:round/>
            </a:ln>
          </p:spPr>
        </p:sp>
      </p:grpSp>
      <p:grpSp>
        <p:nvGrpSpPr>
          <p:cNvPr name="Group 26" id="26"/>
          <p:cNvGrpSpPr/>
          <p:nvPr/>
        </p:nvGrpSpPr>
        <p:grpSpPr>
          <a:xfrm rot="0">
            <a:off x="12618720" y="4114800"/>
            <a:ext cx="4663440" cy="768096"/>
            <a:chOff x="0" y="0"/>
            <a:chExt cx="6217920" cy="1024128"/>
          </a:xfrm>
        </p:grpSpPr>
        <p:sp>
          <p:nvSpPr>
            <p:cNvPr name="Freeform 27" id="27"/>
            <p:cNvSpPr/>
            <p:nvPr/>
          </p:nvSpPr>
          <p:spPr>
            <a:xfrm flipH="false" flipV="false" rot="0">
              <a:off x="0" y="0"/>
              <a:ext cx="6217920" cy="1024128"/>
            </a:xfrm>
            <a:custGeom>
              <a:avLst/>
              <a:gdLst/>
              <a:ahLst/>
              <a:cxnLst/>
              <a:rect r="r" b="b" t="t" l="l"/>
              <a:pathLst>
                <a:path h="1024128" w="6217920">
                  <a:moveTo>
                    <a:pt x="0" y="0"/>
                  </a:moveTo>
                  <a:lnTo>
                    <a:pt x="6217920" y="0"/>
                  </a:lnTo>
                  <a:lnTo>
                    <a:pt x="6217920" y="1024128"/>
                  </a:lnTo>
                  <a:lnTo>
                    <a:pt x="0" y="1024128"/>
                  </a:lnTo>
                  <a:close/>
                </a:path>
              </a:pathLst>
            </a:custGeom>
            <a:blipFill>
              <a:blip r:embed="rId2">
                <a:alphaModFix amt="0"/>
              </a:blip>
              <a:stretch>
                <a:fillRect l="0" t="-68302" r="0" b="-68302"/>
              </a:stretch>
            </a:blipFill>
          </p:spPr>
        </p:sp>
        <p:sp>
          <p:nvSpPr>
            <p:cNvPr name="TextBox 28" id="28"/>
            <p:cNvSpPr txBox="true"/>
            <p:nvPr/>
          </p:nvSpPr>
          <p:spPr>
            <a:xfrm>
              <a:off x="0" y="0"/>
              <a:ext cx="6217920" cy="1024128"/>
            </a:xfrm>
            <a:prstGeom prst="rect">
              <a:avLst/>
            </a:prstGeom>
          </p:spPr>
          <p:txBody>
            <a:bodyPr anchor="ctr" rtlCol="false" tIns="0" lIns="0" bIns="0" rIns="0"/>
            <a:lstStyle/>
            <a:p>
              <a:pPr algn="ctr">
                <a:lnSpc>
                  <a:spcPts val="2640"/>
                </a:lnSpc>
              </a:pPr>
              <a:r>
                <a:rPr lang="en-US" sz="2200" b="true">
                  <a:solidFill>
                    <a:srgbClr val="6B4F3A"/>
                  </a:solidFill>
                  <a:latin typeface="Montserrat Bold"/>
                  <a:ea typeface="Montserrat Bold"/>
                  <a:cs typeface="Montserrat Bold"/>
                  <a:sym typeface="Montserrat Bold"/>
                </a:rPr>
                <a:t>Project Management</a:t>
              </a:r>
            </a:p>
          </p:txBody>
        </p:sp>
      </p:grpSp>
      <p:grpSp>
        <p:nvGrpSpPr>
          <p:cNvPr name="Group 29" id="29"/>
          <p:cNvGrpSpPr/>
          <p:nvPr/>
        </p:nvGrpSpPr>
        <p:grpSpPr>
          <a:xfrm rot="0">
            <a:off x="12618720" y="4846320"/>
            <a:ext cx="4663440" cy="950976"/>
            <a:chOff x="0" y="0"/>
            <a:chExt cx="6217920" cy="1267968"/>
          </a:xfrm>
        </p:grpSpPr>
        <p:sp>
          <p:nvSpPr>
            <p:cNvPr name="Freeform 30" id="30"/>
            <p:cNvSpPr/>
            <p:nvPr/>
          </p:nvSpPr>
          <p:spPr>
            <a:xfrm flipH="false" flipV="false" rot="0">
              <a:off x="0" y="0"/>
              <a:ext cx="6217920" cy="1267968"/>
            </a:xfrm>
            <a:custGeom>
              <a:avLst/>
              <a:gdLst/>
              <a:ahLst/>
              <a:cxnLst/>
              <a:rect r="r" b="b" t="t" l="l"/>
              <a:pathLst>
                <a:path h="1267968" w="6217920">
                  <a:moveTo>
                    <a:pt x="0" y="0"/>
                  </a:moveTo>
                  <a:lnTo>
                    <a:pt x="6217920" y="0"/>
                  </a:lnTo>
                  <a:lnTo>
                    <a:pt x="6217920" y="1267968"/>
                  </a:lnTo>
                  <a:lnTo>
                    <a:pt x="0" y="1267968"/>
                  </a:lnTo>
                  <a:close/>
                </a:path>
              </a:pathLst>
            </a:custGeom>
            <a:blipFill>
              <a:blip r:embed="rId2">
                <a:alphaModFix amt="0"/>
              </a:blip>
              <a:stretch>
                <a:fillRect l="0" t="-45551" r="0" b="-45551"/>
              </a:stretch>
            </a:blipFill>
          </p:spPr>
        </p:sp>
        <p:sp>
          <p:nvSpPr>
            <p:cNvPr name="TextBox 31" id="31"/>
            <p:cNvSpPr txBox="true"/>
            <p:nvPr/>
          </p:nvSpPr>
          <p:spPr>
            <a:xfrm>
              <a:off x="0" y="0"/>
              <a:ext cx="6217920" cy="1267968"/>
            </a:xfrm>
            <a:prstGeom prst="rect">
              <a:avLst/>
            </a:prstGeom>
          </p:spPr>
          <p:txBody>
            <a:bodyPr anchor="ctr" rtlCol="false" tIns="0" lIns="0" bIns="0" rIns="0"/>
            <a:lstStyle/>
            <a:p>
              <a:pPr algn="ctr">
                <a:lnSpc>
                  <a:spcPts val="2280"/>
                </a:lnSpc>
              </a:pPr>
              <a:r>
                <a:rPr lang="en-US" sz="1900">
                  <a:solidFill>
                    <a:srgbClr val="9C7B5E"/>
                  </a:solidFill>
                  <a:latin typeface="Montserrat"/>
                  <a:ea typeface="Montserrat"/>
                  <a:cs typeface="Montserrat"/>
                  <a:sym typeface="Montserrat"/>
                </a:rPr>
                <a:t>.</a:t>
              </a:r>
            </a:p>
          </p:txBody>
        </p:sp>
      </p:grpSp>
      <p:grpSp>
        <p:nvGrpSpPr>
          <p:cNvPr name="Group 32" id="32"/>
          <p:cNvGrpSpPr/>
          <p:nvPr/>
        </p:nvGrpSpPr>
        <p:grpSpPr>
          <a:xfrm rot="0">
            <a:off x="993143" y="6479543"/>
            <a:ext cx="5237483" cy="3042923"/>
            <a:chOff x="0" y="0"/>
            <a:chExt cx="6983311" cy="4057231"/>
          </a:xfrm>
        </p:grpSpPr>
        <p:sp>
          <p:nvSpPr>
            <p:cNvPr name="Freeform 33" id="33"/>
            <p:cNvSpPr/>
            <p:nvPr/>
          </p:nvSpPr>
          <p:spPr>
            <a:xfrm flipH="false" flipV="false" rot="0">
              <a:off x="0" y="0"/>
              <a:ext cx="6983349" cy="4057269"/>
            </a:xfrm>
            <a:custGeom>
              <a:avLst/>
              <a:gdLst/>
              <a:ahLst/>
              <a:cxnLst/>
              <a:rect r="r" b="b" t="t" l="l"/>
              <a:pathLst>
                <a:path h="4057269" w="6983349">
                  <a:moveTo>
                    <a:pt x="571500" y="0"/>
                  </a:moveTo>
                  <a:lnTo>
                    <a:pt x="6411849" y="0"/>
                  </a:lnTo>
                  <a:cubicBezTo>
                    <a:pt x="6563420" y="0"/>
                    <a:pt x="6708784" y="60211"/>
                    <a:pt x="6815961" y="167388"/>
                  </a:cubicBezTo>
                  <a:cubicBezTo>
                    <a:pt x="6923138" y="274566"/>
                    <a:pt x="6983349" y="419929"/>
                    <a:pt x="6983349" y="571500"/>
                  </a:cubicBezTo>
                  <a:lnTo>
                    <a:pt x="6983349" y="3485769"/>
                  </a:lnTo>
                  <a:cubicBezTo>
                    <a:pt x="6983349" y="3801400"/>
                    <a:pt x="6727480" y="4057269"/>
                    <a:pt x="6411849" y="4057269"/>
                  </a:cubicBezTo>
                  <a:lnTo>
                    <a:pt x="571500" y="4057269"/>
                  </a:lnTo>
                  <a:cubicBezTo>
                    <a:pt x="419929" y="4057269"/>
                    <a:pt x="274566" y="3997058"/>
                    <a:pt x="167388" y="3889880"/>
                  </a:cubicBezTo>
                  <a:cubicBezTo>
                    <a:pt x="60211" y="3782704"/>
                    <a:pt x="0" y="3637340"/>
                    <a:pt x="0" y="3485769"/>
                  </a:cubicBezTo>
                  <a:lnTo>
                    <a:pt x="0" y="571500"/>
                  </a:lnTo>
                  <a:cubicBezTo>
                    <a:pt x="0" y="255869"/>
                    <a:pt x="255869" y="0"/>
                    <a:pt x="571500" y="0"/>
                  </a:cubicBezTo>
                  <a:close/>
                </a:path>
              </a:pathLst>
            </a:custGeom>
            <a:solidFill>
              <a:srgbClr val="F5F0E8"/>
            </a:solidFill>
            <a:ln w="25400" cap="rnd">
              <a:solidFill>
                <a:srgbClr val="D9CEBA"/>
              </a:solidFill>
              <a:prstDash val="solid"/>
              <a:round/>
            </a:ln>
          </p:spPr>
        </p:sp>
      </p:grpSp>
      <p:grpSp>
        <p:nvGrpSpPr>
          <p:cNvPr name="Group 34" id="34"/>
          <p:cNvGrpSpPr/>
          <p:nvPr/>
        </p:nvGrpSpPr>
        <p:grpSpPr>
          <a:xfrm rot="0">
            <a:off x="1280160" y="7589520"/>
            <a:ext cx="4663440" cy="768096"/>
            <a:chOff x="0" y="0"/>
            <a:chExt cx="6217920" cy="1024128"/>
          </a:xfrm>
        </p:grpSpPr>
        <p:sp>
          <p:nvSpPr>
            <p:cNvPr name="Freeform 35" id="35"/>
            <p:cNvSpPr/>
            <p:nvPr/>
          </p:nvSpPr>
          <p:spPr>
            <a:xfrm flipH="false" flipV="false" rot="0">
              <a:off x="0" y="0"/>
              <a:ext cx="6217920" cy="1024128"/>
            </a:xfrm>
            <a:custGeom>
              <a:avLst/>
              <a:gdLst/>
              <a:ahLst/>
              <a:cxnLst/>
              <a:rect r="r" b="b" t="t" l="l"/>
              <a:pathLst>
                <a:path h="1024128" w="6217920">
                  <a:moveTo>
                    <a:pt x="0" y="0"/>
                  </a:moveTo>
                  <a:lnTo>
                    <a:pt x="6217920" y="0"/>
                  </a:lnTo>
                  <a:lnTo>
                    <a:pt x="6217920" y="1024128"/>
                  </a:lnTo>
                  <a:lnTo>
                    <a:pt x="0" y="1024128"/>
                  </a:lnTo>
                  <a:close/>
                </a:path>
              </a:pathLst>
            </a:custGeom>
            <a:blipFill>
              <a:blip r:embed="rId2">
                <a:alphaModFix amt="0"/>
              </a:blip>
              <a:stretch>
                <a:fillRect l="0" t="-68302" r="0" b="-68302"/>
              </a:stretch>
            </a:blipFill>
          </p:spPr>
        </p:sp>
        <p:sp>
          <p:nvSpPr>
            <p:cNvPr name="TextBox 36" id="36"/>
            <p:cNvSpPr txBox="true"/>
            <p:nvPr/>
          </p:nvSpPr>
          <p:spPr>
            <a:xfrm>
              <a:off x="0" y="0"/>
              <a:ext cx="6217920" cy="1024128"/>
            </a:xfrm>
            <a:prstGeom prst="rect">
              <a:avLst/>
            </a:prstGeom>
          </p:spPr>
          <p:txBody>
            <a:bodyPr anchor="ctr" rtlCol="false" tIns="0" lIns="0" bIns="0" rIns="0"/>
            <a:lstStyle/>
            <a:p>
              <a:pPr algn="ctr">
                <a:lnSpc>
                  <a:spcPts val="2640"/>
                </a:lnSpc>
              </a:pPr>
              <a:r>
                <a:rPr lang="en-US" sz="2200" b="true">
                  <a:solidFill>
                    <a:srgbClr val="6B4F3A"/>
                  </a:solidFill>
                  <a:latin typeface="Montserrat Bold"/>
                  <a:ea typeface="Montserrat Bold"/>
                  <a:cs typeface="Montserrat Bold"/>
                  <a:sym typeface="Montserrat Bold"/>
                </a:rPr>
                <a:t>Workflow Pipeline Design</a:t>
              </a:r>
            </a:p>
          </p:txBody>
        </p:sp>
      </p:grpSp>
      <p:grpSp>
        <p:nvGrpSpPr>
          <p:cNvPr name="Group 37" id="37"/>
          <p:cNvGrpSpPr/>
          <p:nvPr/>
        </p:nvGrpSpPr>
        <p:grpSpPr>
          <a:xfrm rot="0">
            <a:off x="1280160" y="8321040"/>
            <a:ext cx="4663440" cy="950976"/>
            <a:chOff x="0" y="0"/>
            <a:chExt cx="6217920" cy="1267968"/>
          </a:xfrm>
        </p:grpSpPr>
        <p:sp>
          <p:nvSpPr>
            <p:cNvPr name="Freeform 38" id="38"/>
            <p:cNvSpPr/>
            <p:nvPr/>
          </p:nvSpPr>
          <p:spPr>
            <a:xfrm flipH="false" flipV="false" rot="0">
              <a:off x="0" y="0"/>
              <a:ext cx="6217920" cy="1267968"/>
            </a:xfrm>
            <a:custGeom>
              <a:avLst/>
              <a:gdLst/>
              <a:ahLst/>
              <a:cxnLst/>
              <a:rect r="r" b="b" t="t" l="l"/>
              <a:pathLst>
                <a:path h="1267968" w="6217920">
                  <a:moveTo>
                    <a:pt x="0" y="0"/>
                  </a:moveTo>
                  <a:lnTo>
                    <a:pt x="6217920" y="0"/>
                  </a:lnTo>
                  <a:lnTo>
                    <a:pt x="6217920" y="1267968"/>
                  </a:lnTo>
                  <a:lnTo>
                    <a:pt x="0" y="1267968"/>
                  </a:lnTo>
                  <a:close/>
                </a:path>
              </a:pathLst>
            </a:custGeom>
            <a:blipFill>
              <a:blip r:embed="rId2">
                <a:alphaModFix amt="0"/>
              </a:blip>
              <a:stretch>
                <a:fillRect l="0" t="-45551" r="0" b="-45551"/>
              </a:stretch>
            </a:blipFill>
          </p:spPr>
        </p:sp>
        <p:sp>
          <p:nvSpPr>
            <p:cNvPr name="TextBox 39" id="39"/>
            <p:cNvSpPr txBox="true"/>
            <p:nvPr/>
          </p:nvSpPr>
          <p:spPr>
            <a:xfrm>
              <a:off x="0" y="0"/>
              <a:ext cx="6217920" cy="1267968"/>
            </a:xfrm>
            <a:prstGeom prst="rect">
              <a:avLst/>
            </a:prstGeom>
          </p:spPr>
          <p:txBody>
            <a:bodyPr anchor="ctr" rtlCol="false" tIns="0" lIns="0" bIns="0" rIns="0"/>
            <a:lstStyle/>
            <a:p>
              <a:pPr algn="ctr">
                <a:lnSpc>
                  <a:spcPts val="2280"/>
                </a:lnSpc>
              </a:pPr>
              <a:r>
                <a:rPr lang="en-US" sz="1900">
                  <a:solidFill>
                    <a:srgbClr val="9C7B5E"/>
                  </a:solidFill>
                  <a:latin typeface="Montserrat"/>
                  <a:ea typeface="Montserrat"/>
                  <a:cs typeface="Montserrat"/>
                  <a:sym typeface="Montserrat"/>
                </a:rPr>
                <a:t>.</a:t>
              </a:r>
            </a:p>
          </p:txBody>
        </p:sp>
      </p:grpSp>
      <p:grpSp>
        <p:nvGrpSpPr>
          <p:cNvPr name="Group 40" id="40"/>
          <p:cNvGrpSpPr/>
          <p:nvPr/>
        </p:nvGrpSpPr>
        <p:grpSpPr>
          <a:xfrm rot="0">
            <a:off x="6662423" y="6479543"/>
            <a:ext cx="5237483" cy="3042923"/>
            <a:chOff x="0" y="0"/>
            <a:chExt cx="6983311" cy="4057231"/>
          </a:xfrm>
        </p:grpSpPr>
        <p:sp>
          <p:nvSpPr>
            <p:cNvPr name="Freeform 41" id="41"/>
            <p:cNvSpPr/>
            <p:nvPr/>
          </p:nvSpPr>
          <p:spPr>
            <a:xfrm flipH="false" flipV="false" rot="0">
              <a:off x="0" y="0"/>
              <a:ext cx="6983349" cy="4057269"/>
            </a:xfrm>
            <a:custGeom>
              <a:avLst/>
              <a:gdLst/>
              <a:ahLst/>
              <a:cxnLst/>
              <a:rect r="r" b="b" t="t" l="l"/>
              <a:pathLst>
                <a:path h="4057269" w="6983349">
                  <a:moveTo>
                    <a:pt x="571500" y="0"/>
                  </a:moveTo>
                  <a:lnTo>
                    <a:pt x="6411849" y="0"/>
                  </a:lnTo>
                  <a:cubicBezTo>
                    <a:pt x="6563420" y="0"/>
                    <a:pt x="6708784" y="60211"/>
                    <a:pt x="6815961" y="167388"/>
                  </a:cubicBezTo>
                  <a:cubicBezTo>
                    <a:pt x="6923138" y="274566"/>
                    <a:pt x="6983349" y="419929"/>
                    <a:pt x="6983349" y="571500"/>
                  </a:cubicBezTo>
                  <a:lnTo>
                    <a:pt x="6983349" y="3485769"/>
                  </a:lnTo>
                  <a:cubicBezTo>
                    <a:pt x="6983349" y="3801400"/>
                    <a:pt x="6727480" y="4057269"/>
                    <a:pt x="6411849" y="4057269"/>
                  </a:cubicBezTo>
                  <a:lnTo>
                    <a:pt x="571500" y="4057269"/>
                  </a:lnTo>
                  <a:cubicBezTo>
                    <a:pt x="419929" y="4057269"/>
                    <a:pt x="274566" y="3997058"/>
                    <a:pt x="167388" y="3889880"/>
                  </a:cubicBezTo>
                  <a:cubicBezTo>
                    <a:pt x="60211" y="3782704"/>
                    <a:pt x="0" y="3637340"/>
                    <a:pt x="0" y="3485769"/>
                  </a:cubicBezTo>
                  <a:lnTo>
                    <a:pt x="0" y="571500"/>
                  </a:lnTo>
                  <a:cubicBezTo>
                    <a:pt x="0" y="255869"/>
                    <a:pt x="255869" y="0"/>
                    <a:pt x="571500" y="0"/>
                  </a:cubicBezTo>
                  <a:close/>
                </a:path>
              </a:pathLst>
            </a:custGeom>
            <a:solidFill>
              <a:srgbClr val="F5F0E8"/>
            </a:solidFill>
            <a:ln w="25400" cap="rnd">
              <a:solidFill>
                <a:srgbClr val="D9CEBA"/>
              </a:solidFill>
              <a:prstDash val="solid"/>
              <a:round/>
            </a:ln>
          </p:spPr>
        </p:sp>
      </p:grpSp>
      <p:grpSp>
        <p:nvGrpSpPr>
          <p:cNvPr name="Group 42" id="42"/>
          <p:cNvGrpSpPr/>
          <p:nvPr/>
        </p:nvGrpSpPr>
        <p:grpSpPr>
          <a:xfrm rot="0">
            <a:off x="6949440" y="7589520"/>
            <a:ext cx="4663440" cy="768096"/>
            <a:chOff x="0" y="0"/>
            <a:chExt cx="6217920" cy="1024128"/>
          </a:xfrm>
        </p:grpSpPr>
        <p:sp>
          <p:nvSpPr>
            <p:cNvPr name="Freeform 43" id="43"/>
            <p:cNvSpPr/>
            <p:nvPr/>
          </p:nvSpPr>
          <p:spPr>
            <a:xfrm flipH="false" flipV="false" rot="0">
              <a:off x="0" y="0"/>
              <a:ext cx="6217920" cy="1024128"/>
            </a:xfrm>
            <a:custGeom>
              <a:avLst/>
              <a:gdLst/>
              <a:ahLst/>
              <a:cxnLst/>
              <a:rect r="r" b="b" t="t" l="l"/>
              <a:pathLst>
                <a:path h="1024128" w="6217920">
                  <a:moveTo>
                    <a:pt x="0" y="0"/>
                  </a:moveTo>
                  <a:lnTo>
                    <a:pt x="6217920" y="0"/>
                  </a:lnTo>
                  <a:lnTo>
                    <a:pt x="6217920" y="1024128"/>
                  </a:lnTo>
                  <a:lnTo>
                    <a:pt x="0" y="1024128"/>
                  </a:lnTo>
                  <a:close/>
                </a:path>
              </a:pathLst>
            </a:custGeom>
            <a:blipFill>
              <a:blip r:embed="rId2">
                <a:alphaModFix amt="0"/>
              </a:blip>
              <a:stretch>
                <a:fillRect l="0" t="-68302" r="0" b="-68302"/>
              </a:stretch>
            </a:blipFill>
          </p:spPr>
        </p:sp>
        <p:sp>
          <p:nvSpPr>
            <p:cNvPr name="TextBox 44" id="44"/>
            <p:cNvSpPr txBox="true"/>
            <p:nvPr/>
          </p:nvSpPr>
          <p:spPr>
            <a:xfrm>
              <a:off x="0" y="0"/>
              <a:ext cx="6217920" cy="1024128"/>
            </a:xfrm>
            <a:prstGeom prst="rect">
              <a:avLst/>
            </a:prstGeom>
          </p:spPr>
          <p:txBody>
            <a:bodyPr anchor="ctr" rtlCol="false" tIns="0" lIns="0" bIns="0" rIns="0"/>
            <a:lstStyle/>
            <a:p>
              <a:pPr algn="ctr">
                <a:lnSpc>
                  <a:spcPts val="2640"/>
                </a:lnSpc>
              </a:pPr>
              <a:r>
                <a:rPr lang="en-US" sz="2200" b="true">
                  <a:solidFill>
                    <a:srgbClr val="6B4F3A"/>
                  </a:solidFill>
                  <a:latin typeface="Montserrat Bold"/>
                  <a:ea typeface="Montserrat Bold"/>
                  <a:cs typeface="Montserrat Bold"/>
                  <a:sym typeface="Montserrat Bold"/>
                </a:rPr>
                <a:t>Snakemake</a:t>
              </a:r>
            </a:p>
          </p:txBody>
        </p:sp>
      </p:grpSp>
      <p:grpSp>
        <p:nvGrpSpPr>
          <p:cNvPr name="Group 45" id="45"/>
          <p:cNvGrpSpPr/>
          <p:nvPr/>
        </p:nvGrpSpPr>
        <p:grpSpPr>
          <a:xfrm rot="0">
            <a:off x="6949440" y="8321040"/>
            <a:ext cx="4663440" cy="950976"/>
            <a:chOff x="0" y="0"/>
            <a:chExt cx="6217920" cy="1267968"/>
          </a:xfrm>
        </p:grpSpPr>
        <p:sp>
          <p:nvSpPr>
            <p:cNvPr name="Freeform 46" id="46"/>
            <p:cNvSpPr/>
            <p:nvPr/>
          </p:nvSpPr>
          <p:spPr>
            <a:xfrm flipH="false" flipV="false" rot="0">
              <a:off x="0" y="0"/>
              <a:ext cx="6217920" cy="1267968"/>
            </a:xfrm>
            <a:custGeom>
              <a:avLst/>
              <a:gdLst/>
              <a:ahLst/>
              <a:cxnLst/>
              <a:rect r="r" b="b" t="t" l="l"/>
              <a:pathLst>
                <a:path h="1267968" w="6217920">
                  <a:moveTo>
                    <a:pt x="0" y="0"/>
                  </a:moveTo>
                  <a:lnTo>
                    <a:pt x="6217920" y="0"/>
                  </a:lnTo>
                  <a:lnTo>
                    <a:pt x="6217920" y="1267968"/>
                  </a:lnTo>
                  <a:lnTo>
                    <a:pt x="0" y="1267968"/>
                  </a:lnTo>
                  <a:close/>
                </a:path>
              </a:pathLst>
            </a:custGeom>
            <a:blipFill>
              <a:blip r:embed="rId2">
                <a:alphaModFix amt="0"/>
              </a:blip>
              <a:stretch>
                <a:fillRect l="0" t="-45551" r="0" b="-45551"/>
              </a:stretch>
            </a:blipFill>
          </p:spPr>
        </p:sp>
        <p:sp>
          <p:nvSpPr>
            <p:cNvPr name="TextBox 47" id="47"/>
            <p:cNvSpPr txBox="true"/>
            <p:nvPr/>
          </p:nvSpPr>
          <p:spPr>
            <a:xfrm>
              <a:off x="0" y="0"/>
              <a:ext cx="6217920" cy="1267968"/>
            </a:xfrm>
            <a:prstGeom prst="rect">
              <a:avLst/>
            </a:prstGeom>
          </p:spPr>
          <p:txBody>
            <a:bodyPr anchor="ctr" rtlCol="false" tIns="0" lIns="0" bIns="0" rIns="0"/>
            <a:lstStyle/>
            <a:p>
              <a:pPr algn="ctr">
                <a:lnSpc>
                  <a:spcPts val="2280"/>
                </a:lnSpc>
              </a:pPr>
              <a:r>
                <a:rPr lang="en-US" sz="1900">
                  <a:solidFill>
                    <a:srgbClr val="9C7B5E"/>
                  </a:solidFill>
                  <a:latin typeface="Montserrat"/>
                  <a:ea typeface="Montserrat"/>
                  <a:cs typeface="Montserrat"/>
                  <a:sym typeface="Montserrat"/>
                </a:rPr>
                <a:t>.</a:t>
              </a:r>
            </a:p>
          </p:txBody>
        </p:sp>
      </p:grpSp>
      <p:grpSp>
        <p:nvGrpSpPr>
          <p:cNvPr name="Group 48" id="48"/>
          <p:cNvGrpSpPr/>
          <p:nvPr/>
        </p:nvGrpSpPr>
        <p:grpSpPr>
          <a:xfrm rot="0">
            <a:off x="12331703" y="6479543"/>
            <a:ext cx="5237483" cy="3042923"/>
            <a:chOff x="0" y="0"/>
            <a:chExt cx="6983311" cy="4057231"/>
          </a:xfrm>
        </p:grpSpPr>
        <p:sp>
          <p:nvSpPr>
            <p:cNvPr name="Freeform 49" id="49"/>
            <p:cNvSpPr/>
            <p:nvPr/>
          </p:nvSpPr>
          <p:spPr>
            <a:xfrm flipH="false" flipV="false" rot="0">
              <a:off x="0" y="0"/>
              <a:ext cx="6983349" cy="4057269"/>
            </a:xfrm>
            <a:custGeom>
              <a:avLst/>
              <a:gdLst/>
              <a:ahLst/>
              <a:cxnLst/>
              <a:rect r="r" b="b" t="t" l="l"/>
              <a:pathLst>
                <a:path h="4057269" w="6983349">
                  <a:moveTo>
                    <a:pt x="571500" y="0"/>
                  </a:moveTo>
                  <a:lnTo>
                    <a:pt x="6411849" y="0"/>
                  </a:lnTo>
                  <a:cubicBezTo>
                    <a:pt x="6563420" y="0"/>
                    <a:pt x="6708784" y="60211"/>
                    <a:pt x="6815961" y="167388"/>
                  </a:cubicBezTo>
                  <a:cubicBezTo>
                    <a:pt x="6923138" y="274566"/>
                    <a:pt x="6983349" y="419929"/>
                    <a:pt x="6983349" y="571500"/>
                  </a:cubicBezTo>
                  <a:lnTo>
                    <a:pt x="6983349" y="3485769"/>
                  </a:lnTo>
                  <a:cubicBezTo>
                    <a:pt x="6983349" y="3801400"/>
                    <a:pt x="6727480" y="4057269"/>
                    <a:pt x="6411849" y="4057269"/>
                  </a:cubicBezTo>
                  <a:lnTo>
                    <a:pt x="571500" y="4057269"/>
                  </a:lnTo>
                  <a:cubicBezTo>
                    <a:pt x="419929" y="4057269"/>
                    <a:pt x="274566" y="3997058"/>
                    <a:pt x="167388" y="3889880"/>
                  </a:cubicBezTo>
                  <a:cubicBezTo>
                    <a:pt x="60211" y="3782704"/>
                    <a:pt x="0" y="3637340"/>
                    <a:pt x="0" y="3485769"/>
                  </a:cubicBezTo>
                  <a:lnTo>
                    <a:pt x="0" y="571500"/>
                  </a:lnTo>
                  <a:cubicBezTo>
                    <a:pt x="0" y="255869"/>
                    <a:pt x="255869" y="0"/>
                    <a:pt x="571500" y="0"/>
                  </a:cubicBezTo>
                  <a:close/>
                </a:path>
              </a:pathLst>
            </a:custGeom>
            <a:solidFill>
              <a:srgbClr val="F5F0E8"/>
            </a:solidFill>
            <a:ln w="25400" cap="rnd">
              <a:solidFill>
                <a:srgbClr val="D9CEBA"/>
              </a:solidFill>
              <a:prstDash val="solid"/>
              <a:round/>
            </a:ln>
          </p:spPr>
        </p:sp>
      </p:grpSp>
      <p:grpSp>
        <p:nvGrpSpPr>
          <p:cNvPr name="Group 50" id="50"/>
          <p:cNvGrpSpPr/>
          <p:nvPr/>
        </p:nvGrpSpPr>
        <p:grpSpPr>
          <a:xfrm rot="0">
            <a:off x="12618720" y="7589520"/>
            <a:ext cx="4663440" cy="768096"/>
            <a:chOff x="0" y="0"/>
            <a:chExt cx="6217920" cy="1024128"/>
          </a:xfrm>
        </p:grpSpPr>
        <p:sp>
          <p:nvSpPr>
            <p:cNvPr name="Freeform 51" id="51"/>
            <p:cNvSpPr/>
            <p:nvPr/>
          </p:nvSpPr>
          <p:spPr>
            <a:xfrm flipH="false" flipV="false" rot="0">
              <a:off x="0" y="0"/>
              <a:ext cx="6217920" cy="1024128"/>
            </a:xfrm>
            <a:custGeom>
              <a:avLst/>
              <a:gdLst/>
              <a:ahLst/>
              <a:cxnLst/>
              <a:rect r="r" b="b" t="t" l="l"/>
              <a:pathLst>
                <a:path h="1024128" w="6217920">
                  <a:moveTo>
                    <a:pt x="0" y="0"/>
                  </a:moveTo>
                  <a:lnTo>
                    <a:pt x="6217920" y="0"/>
                  </a:lnTo>
                  <a:lnTo>
                    <a:pt x="6217920" y="1024128"/>
                  </a:lnTo>
                  <a:lnTo>
                    <a:pt x="0" y="1024128"/>
                  </a:lnTo>
                  <a:close/>
                </a:path>
              </a:pathLst>
            </a:custGeom>
            <a:blipFill>
              <a:blip r:embed="rId2">
                <a:alphaModFix amt="0"/>
              </a:blip>
              <a:stretch>
                <a:fillRect l="0" t="-68302" r="0" b="-68302"/>
              </a:stretch>
            </a:blipFill>
          </p:spPr>
        </p:sp>
        <p:sp>
          <p:nvSpPr>
            <p:cNvPr name="TextBox 52" id="52"/>
            <p:cNvSpPr txBox="true"/>
            <p:nvPr/>
          </p:nvSpPr>
          <p:spPr>
            <a:xfrm>
              <a:off x="0" y="0"/>
              <a:ext cx="6217920" cy="1024128"/>
            </a:xfrm>
            <a:prstGeom prst="rect">
              <a:avLst/>
            </a:prstGeom>
          </p:spPr>
          <p:txBody>
            <a:bodyPr anchor="ctr" rtlCol="false" tIns="0" lIns="0" bIns="0" rIns="0"/>
            <a:lstStyle/>
            <a:p>
              <a:pPr algn="ctr">
                <a:lnSpc>
                  <a:spcPts val="2640"/>
                </a:lnSpc>
              </a:pPr>
              <a:r>
                <a:rPr lang="en-US" sz="2200" b="true">
                  <a:solidFill>
                    <a:srgbClr val="6B4F3A"/>
                  </a:solidFill>
                  <a:latin typeface="Montserrat Bold"/>
                  <a:ea typeface="Montserrat Bold"/>
                  <a:cs typeface="Montserrat Bold"/>
                  <a:sym typeface="Montserrat Bold"/>
                </a:rPr>
                <a:t>Cross-Functional Collaboration</a:t>
              </a:r>
            </a:p>
          </p:txBody>
        </p:sp>
      </p:grpSp>
      <p:grpSp>
        <p:nvGrpSpPr>
          <p:cNvPr name="Group 53" id="53"/>
          <p:cNvGrpSpPr/>
          <p:nvPr/>
        </p:nvGrpSpPr>
        <p:grpSpPr>
          <a:xfrm rot="0">
            <a:off x="12618720" y="8321040"/>
            <a:ext cx="4663440" cy="950976"/>
            <a:chOff x="0" y="0"/>
            <a:chExt cx="6217920" cy="1267968"/>
          </a:xfrm>
        </p:grpSpPr>
        <p:sp>
          <p:nvSpPr>
            <p:cNvPr name="Freeform 54" id="54"/>
            <p:cNvSpPr/>
            <p:nvPr/>
          </p:nvSpPr>
          <p:spPr>
            <a:xfrm flipH="false" flipV="false" rot="0">
              <a:off x="0" y="0"/>
              <a:ext cx="6217920" cy="1267968"/>
            </a:xfrm>
            <a:custGeom>
              <a:avLst/>
              <a:gdLst/>
              <a:ahLst/>
              <a:cxnLst/>
              <a:rect r="r" b="b" t="t" l="l"/>
              <a:pathLst>
                <a:path h="1267968" w="6217920">
                  <a:moveTo>
                    <a:pt x="0" y="0"/>
                  </a:moveTo>
                  <a:lnTo>
                    <a:pt x="6217920" y="0"/>
                  </a:lnTo>
                  <a:lnTo>
                    <a:pt x="6217920" y="1267968"/>
                  </a:lnTo>
                  <a:lnTo>
                    <a:pt x="0" y="1267968"/>
                  </a:lnTo>
                  <a:close/>
                </a:path>
              </a:pathLst>
            </a:custGeom>
            <a:blipFill>
              <a:blip r:embed="rId2">
                <a:alphaModFix amt="0"/>
              </a:blip>
              <a:stretch>
                <a:fillRect l="0" t="-45551" r="0" b="-45551"/>
              </a:stretch>
            </a:blipFill>
          </p:spPr>
        </p:sp>
        <p:sp>
          <p:nvSpPr>
            <p:cNvPr name="TextBox 55" id="55"/>
            <p:cNvSpPr txBox="true"/>
            <p:nvPr/>
          </p:nvSpPr>
          <p:spPr>
            <a:xfrm>
              <a:off x="0" y="0"/>
              <a:ext cx="6217920" cy="1267968"/>
            </a:xfrm>
            <a:prstGeom prst="rect">
              <a:avLst/>
            </a:prstGeom>
          </p:spPr>
          <p:txBody>
            <a:bodyPr anchor="ctr" rtlCol="false" tIns="0" lIns="0" bIns="0" rIns="0"/>
            <a:lstStyle/>
            <a:p>
              <a:pPr algn="ctr">
                <a:lnSpc>
                  <a:spcPts val="2280"/>
                </a:lnSpc>
              </a:pPr>
              <a:r>
                <a:rPr lang="en-US" sz="1900">
                  <a:solidFill>
                    <a:srgbClr val="9C7B5E"/>
                  </a:solidFill>
                  <a:latin typeface="Montserrat"/>
                  <a:ea typeface="Montserrat"/>
                  <a:cs typeface="Montserrat"/>
                  <a:sym typeface="Montserrat"/>
                </a:rPr>
                <a:t>.</a:t>
              </a:r>
            </a:p>
          </p:txBody>
        </p:sp>
      </p:grpSp>
      <p:grpSp>
        <p:nvGrpSpPr>
          <p:cNvPr name="Group 56" id="56"/>
          <p:cNvGrpSpPr/>
          <p:nvPr/>
        </p:nvGrpSpPr>
        <p:grpSpPr>
          <a:xfrm rot="0">
            <a:off x="3450403" y="3665541"/>
            <a:ext cx="322964" cy="375813"/>
            <a:chOff x="0" y="0"/>
            <a:chExt cx="698500" cy="812800"/>
          </a:xfrm>
        </p:grpSpPr>
        <p:sp>
          <p:nvSpPr>
            <p:cNvPr name="Freeform 57" id="57"/>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7A9E87"/>
            </a:solidFill>
          </p:spPr>
        </p:sp>
        <p:sp>
          <p:nvSpPr>
            <p:cNvPr name="TextBox 58" id="58"/>
            <p:cNvSpPr txBox="true"/>
            <p:nvPr/>
          </p:nvSpPr>
          <p:spPr>
            <a:xfrm>
              <a:off x="0" y="139700"/>
              <a:ext cx="698500" cy="533400"/>
            </a:xfrm>
            <a:prstGeom prst="rect">
              <a:avLst/>
            </a:prstGeom>
          </p:spPr>
          <p:txBody>
            <a:bodyPr anchor="ctr" rtlCol="false" tIns="50800" lIns="50800" bIns="50800" rIns="50800"/>
            <a:lstStyle/>
            <a:p>
              <a:pPr algn="ctr">
                <a:lnSpc>
                  <a:spcPts val="2400"/>
                </a:lnSpc>
              </a:pPr>
            </a:p>
          </p:txBody>
        </p:sp>
      </p:grpSp>
      <p:grpSp>
        <p:nvGrpSpPr>
          <p:cNvPr name="Group 59" id="59"/>
          <p:cNvGrpSpPr/>
          <p:nvPr/>
        </p:nvGrpSpPr>
        <p:grpSpPr>
          <a:xfrm rot="0">
            <a:off x="3450403" y="7038346"/>
            <a:ext cx="322964" cy="375813"/>
            <a:chOff x="0" y="0"/>
            <a:chExt cx="698500" cy="812800"/>
          </a:xfrm>
        </p:grpSpPr>
        <p:sp>
          <p:nvSpPr>
            <p:cNvPr name="Freeform 60" id="60"/>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7A9E87"/>
            </a:solidFill>
          </p:spPr>
        </p:sp>
        <p:sp>
          <p:nvSpPr>
            <p:cNvPr name="TextBox 61" id="61"/>
            <p:cNvSpPr txBox="true"/>
            <p:nvPr/>
          </p:nvSpPr>
          <p:spPr>
            <a:xfrm>
              <a:off x="0" y="139700"/>
              <a:ext cx="698500" cy="533400"/>
            </a:xfrm>
            <a:prstGeom prst="rect">
              <a:avLst/>
            </a:prstGeom>
          </p:spPr>
          <p:txBody>
            <a:bodyPr anchor="ctr" rtlCol="false" tIns="50800" lIns="50800" bIns="50800" rIns="50800"/>
            <a:lstStyle/>
            <a:p>
              <a:pPr algn="ctr">
                <a:lnSpc>
                  <a:spcPts val="2400"/>
                </a:lnSpc>
              </a:pPr>
            </a:p>
          </p:txBody>
        </p:sp>
      </p:grpSp>
      <p:grpSp>
        <p:nvGrpSpPr>
          <p:cNvPr name="Group 62" id="62"/>
          <p:cNvGrpSpPr/>
          <p:nvPr/>
        </p:nvGrpSpPr>
        <p:grpSpPr>
          <a:xfrm rot="0">
            <a:off x="9119678" y="3665541"/>
            <a:ext cx="322964" cy="375813"/>
            <a:chOff x="0" y="0"/>
            <a:chExt cx="698500" cy="812800"/>
          </a:xfrm>
        </p:grpSpPr>
        <p:sp>
          <p:nvSpPr>
            <p:cNvPr name="Freeform 63" id="63"/>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7A9E87"/>
            </a:solidFill>
          </p:spPr>
        </p:sp>
        <p:sp>
          <p:nvSpPr>
            <p:cNvPr name="TextBox 64" id="64"/>
            <p:cNvSpPr txBox="true"/>
            <p:nvPr/>
          </p:nvSpPr>
          <p:spPr>
            <a:xfrm>
              <a:off x="0" y="139700"/>
              <a:ext cx="698500" cy="533400"/>
            </a:xfrm>
            <a:prstGeom prst="rect">
              <a:avLst/>
            </a:prstGeom>
          </p:spPr>
          <p:txBody>
            <a:bodyPr anchor="ctr" rtlCol="false" tIns="50800" lIns="50800" bIns="50800" rIns="50800"/>
            <a:lstStyle/>
            <a:p>
              <a:pPr algn="ctr">
                <a:lnSpc>
                  <a:spcPts val="2400"/>
                </a:lnSpc>
              </a:pPr>
            </a:p>
          </p:txBody>
        </p:sp>
      </p:grpSp>
      <p:grpSp>
        <p:nvGrpSpPr>
          <p:cNvPr name="Group 65" id="65"/>
          <p:cNvGrpSpPr/>
          <p:nvPr/>
        </p:nvGrpSpPr>
        <p:grpSpPr>
          <a:xfrm rot="0">
            <a:off x="9119678" y="7038346"/>
            <a:ext cx="322964" cy="375813"/>
            <a:chOff x="0" y="0"/>
            <a:chExt cx="698500" cy="812800"/>
          </a:xfrm>
        </p:grpSpPr>
        <p:sp>
          <p:nvSpPr>
            <p:cNvPr name="Freeform 66" id="66"/>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7A9E87"/>
            </a:solidFill>
          </p:spPr>
        </p:sp>
        <p:sp>
          <p:nvSpPr>
            <p:cNvPr name="TextBox 67" id="67"/>
            <p:cNvSpPr txBox="true"/>
            <p:nvPr/>
          </p:nvSpPr>
          <p:spPr>
            <a:xfrm>
              <a:off x="0" y="139700"/>
              <a:ext cx="698500" cy="533400"/>
            </a:xfrm>
            <a:prstGeom prst="rect">
              <a:avLst/>
            </a:prstGeom>
          </p:spPr>
          <p:txBody>
            <a:bodyPr anchor="ctr" rtlCol="false" tIns="50800" lIns="50800" bIns="50800" rIns="50800"/>
            <a:lstStyle/>
            <a:p>
              <a:pPr algn="ctr">
                <a:lnSpc>
                  <a:spcPts val="2400"/>
                </a:lnSpc>
              </a:pPr>
            </a:p>
          </p:txBody>
        </p:sp>
      </p:grpSp>
      <p:grpSp>
        <p:nvGrpSpPr>
          <p:cNvPr name="Group 68" id="68"/>
          <p:cNvGrpSpPr/>
          <p:nvPr/>
        </p:nvGrpSpPr>
        <p:grpSpPr>
          <a:xfrm rot="0">
            <a:off x="14788963" y="3665541"/>
            <a:ext cx="322964" cy="375813"/>
            <a:chOff x="0" y="0"/>
            <a:chExt cx="698500" cy="812800"/>
          </a:xfrm>
        </p:grpSpPr>
        <p:sp>
          <p:nvSpPr>
            <p:cNvPr name="Freeform 69" id="69"/>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C0714F"/>
            </a:solidFill>
          </p:spPr>
        </p:sp>
        <p:sp>
          <p:nvSpPr>
            <p:cNvPr name="TextBox 70" id="70"/>
            <p:cNvSpPr txBox="true"/>
            <p:nvPr/>
          </p:nvSpPr>
          <p:spPr>
            <a:xfrm>
              <a:off x="0" y="139700"/>
              <a:ext cx="698500" cy="533400"/>
            </a:xfrm>
            <a:prstGeom prst="rect">
              <a:avLst/>
            </a:prstGeom>
          </p:spPr>
          <p:txBody>
            <a:bodyPr anchor="ctr" rtlCol="false" tIns="50800" lIns="50800" bIns="50800" rIns="50800"/>
            <a:lstStyle/>
            <a:p>
              <a:pPr algn="ctr">
                <a:lnSpc>
                  <a:spcPts val="2400"/>
                </a:lnSpc>
              </a:pPr>
            </a:p>
          </p:txBody>
        </p:sp>
      </p:grpSp>
      <p:grpSp>
        <p:nvGrpSpPr>
          <p:cNvPr name="Group 71" id="71"/>
          <p:cNvGrpSpPr/>
          <p:nvPr/>
        </p:nvGrpSpPr>
        <p:grpSpPr>
          <a:xfrm rot="0">
            <a:off x="14788963" y="7038346"/>
            <a:ext cx="322964" cy="375813"/>
            <a:chOff x="0" y="0"/>
            <a:chExt cx="698500" cy="812800"/>
          </a:xfrm>
        </p:grpSpPr>
        <p:sp>
          <p:nvSpPr>
            <p:cNvPr name="Freeform 72" id="72"/>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C0714F"/>
            </a:solidFill>
          </p:spPr>
        </p:sp>
        <p:sp>
          <p:nvSpPr>
            <p:cNvPr name="TextBox 73" id="73"/>
            <p:cNvSpPr txBox="true"/>
            <p:nvPr/>
          </p:nvSpPr>
          <p:spPr>
            <a:xfrm>
              <a:off x="0" y="139700"/>
              <a:ext cx="698500" cy="533400"/>
            </a:xfrm>
            <a:prstGeom prst="rect">
              <a:avLst/>
            </a:prstGeom>
          </p:spPr>
          <p:txBody>
            <a:bodyPr anchor="ctr" rtlCol="false" tIns="50800" lIns="50800" bIns="50800" rIns="50800"/>
            <a:lstStyle/>
            <a:p>
              <a:pPr algn="ctr">
                <a:lnSpc>
                  <a:spcPts val="2400"/>
                </a:lnSpc>
              </a:pP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5F0E8"/>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0083803" cy="10312403"/>
            <a:chOff x="0" y="0"/>
            <a:chExt cx="13445071" cy="13749871"/>
          </a:xfrm>
        </p:grpSpPr>
        <p:sp>
          <p:nvSpPr>
            <p:cNvPr name="Freeform 3" id="3"/>
            <p:cNvSpPr/>
            <p:nvPr/>
          </p:nvSpPr>
          <p:spPr>
            <a:xfrm flipH="false" flipV="false" rot="0">
              <a:off x="0" y="0"/>
              <a:ext cx="13445110" cy="13749910"/>
            </a:xfrm>
            <a:custGeom>
              <a:avLst/>
              <a:gdLst/>
              <a:ahLst/>
              <a:cxnLst/>
              <a:rect r="r" b="b" t="t" l="l"/>
              <a:pathLst>
                <a:path h="13749910" w="13445110">
                  <a:moveTo>
                    <a:pt x="0" y="0"/>
                  </a:moveTo>
                  <a:lnTo>
                    <a:pt x="13445110" y="0"/>
                  </a:lnTo>
                  <a:lnTo>
                    <a:pt x="13445110" y="13749910"/>
                  </a:lnTo>
                  <a:lnTo>
                    <a:pt x="0" y="13749910"/>
                  </a:lnTo>
                  <a:close/>
                </a:path>
              </a:pathLst>
            </a:custGeom>
            <a:solidFill>
              <a:srgbClr val="C0714F"/>
            </a:solidFill>
            <a:ln w="25400" cap="sq">
              <a:solidFill>
                <a:srgbClr val="C0714F"/>
              </a:solidFill>
              <a:prstDash val="solid"/>
              <a:miter/>
            </a:ln>
          </p:spPr>
        </p:sp>
      </p:grpSp>
      <p:grpSp>
        <p:nvGrpSpPr>
          <p:cNvPr name="Group 4" id="4"/>
          <p:cNvGrpSpPr/>
          <p:nvPr/>
        </p:nvGrpSpPr>
        <p:grpSpPr>
          <a:xfrm rot="0">
            <a:off x="914400" y="1828800"/>
            <a:ext cx="8595360" cy="4023360"/>
            <a:chOff x="0" y="0"/>
            <a:chExt cx="11460480" cy="5364480"/>
          </a:xfrm>
        </p:grpSpPr>
        <p:sp>
          <p:nvSpPr>
            <p:cNvPr name="Freeform 5" id="5"/>
            <p:cNvSpPr/>
            <p:nvPr/>
          </p:nvSpPr>
          <p:spPr>
            <a:xfrm flipH="false" flipV="false" rot="0">
              <a:off x="0" y="0"/>
              <a:ext cx="11460480" cy="5364480"/>
            </a:xfrm>
            <a:custGeom>
              <a:avLst/>
              <a:gdLst/>
              <a:ahLst/>
              <a:cxnLst/>
              <a:rect r="r" b="b" t="t" l="l"/>
              <a:pathLst>
                <a:path h="5364480" w="11460480">
                  <a:moveTo>
                    <a:pt x="0" y="0"/>
                  </a:moveTo>
                  <a:lnTo>
                    <a:pt x="11460480" y="0"/>
                  </a:lnTo>
                  <a:lnTo>
                    <a:pt x="11460480" y="5364480"/>
                  </a:lnTo>
                  <a:lnTo>
                    <a:pt x="0" y="5364480"/>
                  </a:lnTo>
                  <a:close/>
                </a:path>
              </a:pathLst>
            </a:custGeom>
            <a:blipFill>
              <a:blip r:embed="rId2">
                <a:alphaModFix amt="0"/>
              </a:blip>
              <a:stretch>
                <a:fillRect l="-10056" t="0" r="-10056" b="0"/>
              </a:stretch>
            </a:blipFill>
          </p:spPr>
        </p:sp>
        <p:sp>
          <p:nvSpPr>
            <p:cNvPr name="TextBox 6" id="6"/>
            <p:cNvSpPr txBox="true"/>
            <p:nvPr/>
          </p:nvSpPr>
          <p:spPr>
            <a:xfrm>
              <a:off x="0" y="9525"/>
              <a:ext cx="11460480" cy="5354955"/>
            </a:xfrm>
            <a:prstGeom prst="rect">
              <a:avLst/>
            </a:prstGeom>
          </p:spPr>
          <p:txBody>
            <a:bodyPr anchor="ctr" rtlCol="false" tIns="0" lIns="0" bIns="0" rIns="0"/>
            <a:lstStyle/>
            <a:p>
              <a:pPr algn="l">
                <a:lnSpc>
                  <a:spcPts val="10080"/>
                </a:lnSpc>
              </a:pPr>
              <a:r>
                <a:rPr lang="en-US" sz="8400" b="true">
                  <a:solidFill>
                    <a:srgbClr val="FDFAF5"/>
                  </a:solidFill>
                  <a:latin typeface="Montserrat Bold"/>
                  <a:ea typeface="Montserrat Bold"/>
                  <a:cs typeface="Montserrat Bold"/>
                  <a:sym typeface="Montserrat Bold"/>
                </a:rPr>
                <a:t>Thank You</a:t>
              </a:r>
            </a:p>
          </p:txBody>
        </p:sp>
      </p:grpSp>
      <p:sp>
        <p:nvSpPr>
          <p:cNvPr name="TextBox 7" id="7"/>
          <p:cNvSpPr txBox="true"/>
          <p:nvPr/>
        </p:nvSpPr>
        <p:spPr>
          <a:xfrm rot="0">
            <a:off x="12168753" y="4318275"/>
            <a:ext cx="5090547" cy="2072640"/>
          </a:xfrm>
          <a:prstGeom prst="rect">
            <a:avLst/>
          </a:prstGeom>
        </p:spPr>
        <p:txBody>
          <a:bodyPr anchor="t" rtlCol="false" tIns="0" lIns="0" bIns="0" rIns="0">
            <a:spAutoFit/>
          </a:bodyPr>
          <a:lstStyle/>
          <a:p>
            <a:pPr algn="l">
              <a:lnSpc>
                <a:spcPts val="4079"/>
              </a:lnSpc>
            </a:pPr>
            <a:r>
              <a:rPr lang="en-US" sz="3999" spc="-191" b="true">
                <a:solidFill>
                  <a:srgbClr val="6B4F3A"/>
                </a:solidFill>
                <a:latin typeface="Montserrat Bold"/>
                <a:ea typeface="Montserrat Bold"/>
                <a:cs typeface="Montserrat Bold"/>
                <a:sym typeface="Montserrat Bold"/>
              </a:rPr>
              <a:t>"Tell me and I forget, teach me and I may remember, involve me and I learn."</a:t>
            </a:r>
          </a:p>
        </p:txBody>
      </p:sp>
      <p:sp>
        <p:nvSpPr>
          <p:cNvPr name="TextBox 8" id="8"/>
          <p:cNvSpPr txBox="true"/>
          <p:nvPr/>
        </p:nvSpPr>
        <p:spPr>
          <a:xfrm rot="0">
            <a:off x="13783810" y="6510612"/>
            <a:ext cx="3475490" cy="455295"/>
          </a:xfrm>
          <a:prstGeom prst="rect">
            <a:avLst/>
          </a:prstGeom>
        </p:spPr>
        <p:txBody>
          <a:bodyPr anchor="t" rtlCol="false" tIns="0" lIns="0" bIns="0" rIns="0">
            <a:spAutoFit/>
          </a:bodyPr>
          <a:lstStyle/>
          <a:p>
            <a:pPr algn="l">
              <a:lnSpc>
                <a:spcPts val="3779"/>
              </a:lnSpc>
            </a:pPr>
            <a:r>
              <a:rPr lang="en-US" sz="2699">
                <a:solidFill>
                  <a:srgbClr val="6B4F3A"/>
                </a:solidFill>
                <a:latin typeface="Montserrat"/>
                <a:ea typeface="Montserrat"/>
                <a:cs typeface="Montserrat"/>
                <a:sym typeface="Montserrat"/>
              </a:rPr>
              <a:t>- Benjamin Franklin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DAHLTzVmcSY</dc:identifier>
  <dcterms:modified xsi:type="dcterms:W3CDTF">2011-08-01T06:04:30Z</dcterms:modified>
  <cp:revision>1</cp:revision>
  <dc:title>MDAP Prezo</dc:title>
</cp:coreProperties>
</file>