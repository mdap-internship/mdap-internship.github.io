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2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melbmdap.github.io/suburban_futur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melbmdap.github.io/suburban_futur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41492"/>
            <a:ext cx="4754880" cy="4754880"/>
          </a:xfrm>
          <a:prstGeom prst="ellipse">
            <a:avLst/>
          </a:prstGeom>
          <a:solidFill>
            <a:srgbClr val="2E6B61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4023360" cy="4023360"/>
          </a:xfrm>
          <a:prstGeom prst="ellipse">
            <a:avLst/>
          </a:prstGeom>
          <a:solidFill>
            <a:srgbClr val="C2A06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MDAP  ·  UNIVERSITY OF MELBOURNE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Melbourne,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BB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Emotions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projects. Maps for Melbourne's suburbs, and search for a </a:t>
            </a:r>
            <a:r>
              <a:rPr lang="en-US" sz="160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</a:t>
            </a:r>
            <a:r>
              <a:rPr lang="en-US" sz="1500" dirty="0">
                <a:solidFill>
                  <a:srgbClr val="9F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Data Science Intern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projects, two very different audiences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running at the same time. One for ABP, one for FEEL lab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57600" cy="3383280"/>
          </a:xfrm>
          <a:prstGeom prst="rect">
            <a:avLst/>
          </a:prstGeom>
          <a:solidFill>
            <a:srgbClr val="1C40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78608"/>
            <a:ext cx="731520" cy="731520"/>
          </a:xfrm>
          <a:prstGeom prst="ellipse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7523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Suburban Futures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6DFDA"/>
                </a:solidFill>
                <a:latin typeface="Calibri" pitchFamily="34" charset="0"/>
                <a:cs typeface="Calibri" pitchFamily="34" charset="-120"/>
              </a:rPr>
              <a:t>Faculty of Architecture, Building and Planning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6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of Melbourne's suburbs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6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Belton, Emily Fitzgerald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2286000"/>
            <a:ext cx="3657600" cy="3383280"/>
          </a:xfrm>
          <a:prstGeom prst="rect">
            <a:avLst/>
          </a:prstGeom>
          <a:solidFill>
            <a:srgbClr val="2E6B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2578608"/>
            <a:ext cx="731520" cy="731520"/>
          </a:xfrm>
          <a:prstGeom prst="ellipse">
            <a:avLst/>
          </a:prstGeom>
          <a:solidFill>
            <a:srgbClr val="1C4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7523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92040" y="35661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6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researchers (FEEL Lab)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6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research database by meaning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6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A024D3-F1AC-5AFC-0F46-657DCF8C9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451" y="2282360"/>
            <a:ext cx="2333149" cy="3527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· MAP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infrastructure thin today?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73368" y="1344168"/>
            <a:ext cx="52212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map1_current_infrastructure_pov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5074920" cy="3145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4645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Infrastructure Poverty. Facilities per 1,000 residents, 361 SA2s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Growth-corridor suburbs are adding residents far faster than local facilities can keep pace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82296" cy="1234440"/>
          </a:xfrm>
          <a:prstGeom prst="rect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2962656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6B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+375K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9536" y="3529584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added across Greater Melbourne, 2021 to 2024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28346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29000" y="2834640"/>
            <a:ext cx="82296" cy="1234440"/>
          </a:xfrm>
          <a:prstGeom prst="rect">
            <a:avLst/>
          </a:prstGeom>
          <a:solidFill>
            <a:srgbClr val="C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48456" y="296265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2A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SA2s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48456" y="3529584"/>
            <a:ext cx="2313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&gt;20% yet sit below the metro median for facilities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206240"/>
            <a:ext cx="82296" cy="1234440"/>
          </a:xfrm>
          <a:prstGeom prst="rect">
            <a:avLst/>
          </a:prstGeom>
          <a:solidFill>
            <a:srgbClr val="A8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6112" y="42062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450592" y="4297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per 1,000 in Fraser Rise-Plumpton, which more than doubled in population (+102%)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· MAP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it catch up? Partly, unevenly.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73368" y="1344168"/>
            <a:ext cx="52212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map2_infrastructure_povert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5074920" cy="3145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4645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Poverty Timeline. Facility growth vs population, 2010 to 2024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added 10,494 facilities over 14 years. But in the fastest growing suburbs, people arrived so quickly the gap never really closed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82296" cy="1234440"/>
          </a:xfrm>
          <a:prstGeom prst="rect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6B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+1.24M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9536" y="3712464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added city-wide, 2010 to 2024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301752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29000" y="3017520"/>
            <a:ext cx="82296" cy="1234440"/>
          </a:xfrm>
          <a:prstGeom prst="rect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48456" y="314553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6B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+10,494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48456" y="3712464"/>
            <a:ext cx="2313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added over the same window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389120"/>
            <a:ext cx="82296" cy="1234440"/>
          </a:xfrm>
          <a:prstGeom prst="rect">
            <a:avLst/>
          </a:prstGeom>
          <a:solidFill>
            <a:srgbClr val="C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6112" y="4389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2A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per ~119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273552" y="44805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facility for every 119 new residents over 14 years. Catch-up was real, but never fast enough.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· MAP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industry is driving the corridor surge?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73368" y="1344168"/>
            <a:ext cx="52212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map3_self_employed_business_density.png">
            <a:hlinkClick r:id="rId3" tooltip="Open live interactive dem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17320"/>
            <a:ext cx="5074920" cy="3145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4645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Business Density, 2019 to 2024   </a:t>
            </a:r>
            <a:r>
              <a:rPr lang="en-US" sz="1050" b="1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click image for live demo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332F"/>
                </a:solidFill>
                <a:latin typeface="Calibri" pitchFamily="34" charset="0"/>
                <a:cs typeface="Calibri" pitchFamily="34" charset="-120"/>
              </a:rPr>
              <a:t>Which industries are dominating which Melbourne suburbs in self employed businesses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driver: Transport, Postal &amp; Warehousing. Mostly gig and delivery work.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401568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3401568"/>
            <a:ext cx="82296" cy="1280160"/>
          </a:xfrm>
          <a:prstGeom prst="rect">
            <a:avLst/>
          </a:prstGeom>
          <a:solidFill>
            <a:srgbClr val="C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9536" y="3529584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2A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59536" y="409651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metro Transport/delivery self-employed growth is in corridor LGAs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3401568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429000" y="3401568"/>
            <a:ext cx="82296" cy="1280160"/>
          </a:xfrm>
          <a:prstGeom prst="rect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48456" y="352958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6B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 /1k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648456" y="409651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Tarneit-North leads on delivery businesses per 1,000 working age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828032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828032"/>
            <a:ext cx="82296" cy="960120"/>
          </a:xfrm>
          <a:prstGeom prst="rect">
            <a:avLst/>
          </a:prstGeom>
          <a:solidFill>
            <a:srgbClr val="A8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96112" y="482803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A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overlap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182112" y="491947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top transport SA2s and the top construction SA2s. Two different corridor economies.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· MAP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these workers?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73368" y="1344168"/>
            <a:ext cx="52212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map4_occupation_industry_geography.png">
            <a:hlinkClick r:id="rId3" tooltip="Open live interactive dem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17320"/>
            <a:ext cx="5074920" cy="3145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4645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by Industry Geography, 2021 Census   </a:t>
            </a:r>
            <a:r>
              <a:rPr lang="en-US" sz="1050" b="1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click image for live demo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3 could not say who the workers actually were. So I built Map 4 from Census data to answer that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82296" cy="1188720"/>
          </a:xfrm>
          <a:prstGeom prst="rect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96112" y="27432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6B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79192" y="2834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Tarneit-North's transport workers are Machinery Operators &amp; Drivers (379 of 552). The proof behind the delivery story.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1148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82296" cy="1371600"/>
          </a:xfrm>
          <a:prstGeom prst="rect">
            <a:avLst/>
          </a:prstGeom>
          <a:solidFill>
            <a:srgbClr val="C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9536" y="4242816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2A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59536" y="4809744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Care &amp; Social Assistance workers are women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4114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429000" y="4114800"/>
            <a:ext cx="82296" cy="1371600"/>
          </a:xfrm>
          <a:prstGeom prst="rect">
            <a:avLst/>
          </a:prstGeom>
          <a:solidFill>
            <a:srgbClr val="A8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48456" y="424281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48456" y="480974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share among Machinery Operators &amp; Drivers, a sharp gender split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B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 ·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 fails the moment the words don't match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searches "social isolation” and nothing matches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709928" y="2395728"/>
            <a:ext cx="8741664" cy="290909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urren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468880"/>
            <a:ext cx="8595360" cy="27627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3722" y="5074920"/>
            <a:ext cx="10641205" cy="873704"/>
          </a:xfrm>
          <a:prstGeom prst="rect">
            <a:avLst/>
          </a:prstGeom>
          <a:solidFill>
            <a:srgbClr val="A85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results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931920" y="5074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1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the data is right there. Keyword search just can't reach it.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 · 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query. Now it finds meaning, not just 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10528" y="1435608"/>
            <a:ext cx="5084064" cy="3370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Hybrid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08760"/>
            <a:ext cx="4937760" cy="32246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48431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"social isolation" now finds the UCLA loneliness items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semantic + hybrid search layer alongside the existing keyword search. "Social isolation" now returns the right variables instantly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4672" y="3017520"/>
            <a:ext cx="502920" cy="502920"/>
          </a:xfrm>
          <a:prstGeom prst="ellipse">
            <a:avLst/>
          </a:prstGeom>
          <a:solidFill>
            <a:srgbClr val="1C4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272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80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search   </a:t>
            </a:r>
            <a:r>
              <a:rPr lang="en-US" sz="13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meaning, by keyword, or both blended together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4672" y="3931920"/>
            <a:ext cx="502920" cy="502920"/>
          </a:xfrm>
          <a:prstGeom prst="ellipse">
            <a:avLst/>
          </a:prstGeom>
          <a:solidFill>
            <a:srgbClr val="1C4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4164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meaning search works   </a:t>
            </a:r>
            <a:r>
              <a:rPr lang="en-US" sz="13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turned into number vectors, matched by closeness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7091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4672" y="4846320"/>
            <a:ext cx="502920" cy="502920"/>
          </a:xfrm>
          <a:prstGeom prst="ellipse">
            <a:avLst/>
          </a:prstGeom>
          <a:solidFill>
            <a:srgbClr val="1C4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56048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three tabs   </a:t>
            </a:r>
            <a:r>
              <a:rPr lang="en-US" sz="13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Variables, and Constructs, like EMOTE today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 · WHAT ACTUALLY WORKED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it needed was richer context, not a fancier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a variable name is too thin for the search to place well. So I wrapped each one in the context around it: the study, the question, who took part. That is what made the ranking click.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8986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variable on its own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"feeling lonely at university"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generic loneliness items above the ones that actually fit a student setting.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7480"/>
            <a:ext cx="5257800" cy="2468880"/>
          </a:xfrm>
          <a:prstGeom prst="rect">
            <a:avLst/>
          </a:prstGeom>
          <a:solidFill>
            <a:srgbClr val="1C40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28986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plus its study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"feeling lonely at university"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749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6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the first-year student study to the top, where it belongs.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15000" y="3639312"/>
            <a:ext cx="585216" cy="585216"/>
          </a:xfrm>
          <a:prstGeom prst="ellipse">
            <a:avLst/>
          </a:prstGeom>
          <a:solidFill>
            <a:srgbClr val="C2A06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3639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 · MODEL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paid API to a model we can run ourselves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it working fast with OpenAI's API, then tested a model we could run in-house. It held up, and it takes the running cost to zero.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999232"/>
            <a:ext cx="640080" cy="640080"/>
          </a:xfrm>
          <a:prstGeom prst="ellipse">
            <a:avLst/>
          </a:prstGeom>
          <a:solidFill>
            <a:srgbClr val="C2A0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1546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Started with OpenAI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set up and a solid baseline. But it bills on every query, and that adds up over time.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35040" y="2743200"/>
            <a:ext cx="5029200" cy="2423160"/>
          </a:xfrm>
          <a:prstGeom prst="rect">
            <a:avLst/>
          </a:prstGeom>
          <a:solidFill>
            <a:srgbClr val="1C40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63640" y="2999232"/>
            <a:ext cx="640080" cy="640080"/>
          </a:xfrm>
          <a:prstGeom prst="ellipse">
            <a:avLst/>
          </a:prstGeom>
          <a:solidFill>
            <a:srgbClr val="5FB0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1546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Chose local Qwen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263640" y="37947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Qwen3-Embedding-4B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D6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its own in my tests, with no per-query cost once it is running. Deployment is the next step.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573268" y="3680460"/>
            <a:ext cx="548640" cy="548640"/>
          </a:xfrm>
          <a:prstGeom prst="ellipse">
            <a:avLst/>
          </a:prstGeom>
          <a:solidFill>
            <a:srgbClr val="2E6B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591556" y="3680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 Shekhar  ·  MDAP Internship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xmlns:p="http://schemas.openxmlformats.org/presentationml/2006/main" xmlns:p14="http://schemas.microsoft.com/office/powerpoint/2010/main" spd="med" p14:dur="8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B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ACTUALLY WENT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work is mostly trying things until one works.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demos hide a lot of dead ends. That is where I learned the most.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02152" cy="2788920"/>
          </a:xfrm>
          <a:prstGeom prst="rect">
            <a:avLst/>
          </a:prstGeom>
          <a:solidFill>
            <a:srgbClr val="21463F"/>
          </a:solidFill>
          <a:ln w="12700">
            <a:solidFill>
              <a:srgbClr val="3561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70048"/>
            <a:ext cx="731520" cy="731520"/>
          </a:xfrm>
          <a:prstGeom prst="ellipse">
            <a:avLst/>
          </a:prstGeom>
          <a:solidFill>
            <a:srgbClr val="2C5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529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7355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3A6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Brainstormed widely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EMOTE projects, and several ways to frame the business map before one held up.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2377440"/>
            <a:ext cx="3502152" cy="2788920"/>
          </a:xfrm>
          <a:prstGeom prst="rect">
            <a:avLst/>
          </a:prstGeom>
          <a:solidFill>
            <a:srgbClr val="21463F"/>
          </a:solidFill>
          <a:ln w="12700">
            <a:solidFill>
              <a:srgbClr val="3561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90872" y="2670048"/>
            <a:ext cx="731520" cy="731520"/>
          </a:xfrm>
          <a:prstGeom prst="ellipse">
            <a:avLst/>
          </a:prstGeom>
          <a:solidFill>
            <a:srgbClr val="2C5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529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0024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3A6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690872" y="35661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Failed, then diagnosed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90872" y="4069080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would not even load.  Map visualization was breaking when loading data.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2377440"/>
            <a:ext cx="3502152" cy="2788920"/>
          </a:xfrm>
          <a:prstGeom prst="rect">
            <a:avLst/>
          </a:prstGeom>
          <a:solidFill>
            <a:srgbClr val="21463F"/>
          </a:solidFill>
          <a:ln w="12700">
            <a:solidFill>
              <a:srgbClr val="3561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467344" y="2670048"/>
            <a:ext cx="731520" cy="731520"/>
          </a:xfrm>
          <a:prstGeom prst="ellipse">
            <a:avLst/>
          </a:prstGeom>
          <a:solidFill>
            <a:srgbClr val="2E6B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28529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26496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3A6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467344" y="35661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it worked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67344" y="4069080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reusable tooling to test models early. 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937760" cy="4937760"/>
          </a:xfrm>
          <a:prstGeom prst="ellipse">
            <a:avLst/>
          </a:prstGeom>
          <a:solidFill>
            <a:srgbClr val="2E6B6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326880" y="-1531620"/>
            <a:ext cx="4572000" cy="4572000"/>
          </a:xfrm>
          <a:prstGeom prst="ellipse">
            <a:avLst/>
          </a:prstGeom>
          <a:solidFill>
            <a:srgbClr val="C2A06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TOOK FROM THE INTERNSHIP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am taking away</a:t>
            </a:r>
            <a:endParaRPr lang="en-US" sz="3200" dirty="0"/>
          </a:p>
        </p:txBody>
      </p:sp>
      <p:sp>
        <p:nvSpPr>
          <p:cNvPr id="8" name="Reflections"/>
          <p:cNvSpPr/>
          <p:nvPr/>
        </p:nvSpPr>
        <p:spPr>
          <a:xfrm>
            <a:off x="822960" y="2331720"/>
            <a:ext cx="10515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0050" indent="-40005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C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here was new to me. I can pick up an unfamiliar stack and still ship something that works</a:t>
            </a:r>
            <a:endParaRPr lang="en-US" sz="1800" dirty="0"/>
          </a:p>
          <a:p>
            <a:pPr marL="400050" indent="-40005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C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to let the data set the story</a:t>
            </a:r>
            <a:endParaRPr lang="en-US" sz="1800" dirty="0"/>
          </a:p>
          <a:p>
            <a:pPr marL="400050" indent="-40005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C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two very different teams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Neil Shekhar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995</Words>
  <Application>Microsoft Macintosh PowerPoint</Application>
  <PresentationFormat>Widescreen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Melbourne, Searching Emotions</dc:title>
  <dc:subject>PptxGenJS Presentation</dc:subject>
  <dc:creator>Neil Shekhar</dc:creator>
  <cp:lastModifiedBy>Neil Shekhar</cp:lastModifiedBy>
  <cp:revision>27</cp:revision>
  <dcterms:created xsi:type="dcterms:W3CDTF">2026-06-06T12:40:58Z</dcterms:created>
  <dcterms:modified xsi:type="dcterms:W3CDTF">2026-06-11T02:50:42Z</dcterms:modified>
</cp:coreProperties>
</file>